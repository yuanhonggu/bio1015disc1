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handoutMasterIdLst>
    <p:handoutMasterId r:id="rId34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4" r:id="rId12"/>
    <p:sldId id="286" r:id="rId13"/>
    <p:sldId id="287" r:id="rId14"/>
    <p:sldId id="288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9" r:id="rId31"/>
    <p:sldId id="290" r:id="rId33"/>
  </p:sldIdLst>
  <p:sldSz cx="12192000" cy="6858000"/>
  <p:notesSz cx="7103745" cy="10234295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7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097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gs" Target="tags/tag510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600" b="0" i="0" u="none" strike="noStrike" kern="1200" spc="0" baseline="0">
                <a:solidFill>
                  <a:scrgbClr r="1229" g="4817" b="11193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  <a:r>
              <a:t>参考序列 vs 替代序列 预测表达信号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预测表达信号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1229" g="4817" b="11193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参考序列 ref</c:v>
                </c:pt>
                <c:pt idx="1">
                  <c:v>替代序列 alt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</c:v>
                </c:pt>
                <c:pt idx="1">
                  <c:v>0.45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overlap val="-30"/>
        <c:axId val="427068962"/>
        <c:axId val="361815077"/>
      </c:barChart>
      <c:catAx>
        <c:axId val="42706896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accent1">
                <a:lumMod val="38990"/>
                <a:lumOff val="6101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6848" g="15593" b="27050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361815077"/>
        <c:crosses val="autoZero"/>
        <c:auto val="1"/>
        <c:lblAlgn val="ctr"/>
        <c:lblOffset val="100"/>
        <c:noMultiLvlLbl val="0"/>
      </c:catAx>
      <c:valAx>
        <c:axId val="361815077"/>
        <c:scaling>
          <c:orientation val="minMax"/>
          <c:max val="1"/>
          <c:min val="0"/>
        </c:scaling>
        <c:delete val="0"/>
        <c:axPos val="l"/>
        <c:majorGridlines>
          <c:spPr>
            <a:ln w="12700" cap="flat" cmpd="sng" algn="ctr">
              <a:solidFill>
                <a:schemeClr val="accent5">
                  <a:lumMod val="3306"/>
                  <a:lumOff val="96694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6848" g="15593" b="27050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427068962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9d94d57-244c-4cc4-8065-0ea3a6d49d12}"/>
      </c:ext>
    </c:extLst>
  </c:chart>
  <c:spPr>
    <a:solidFill>
      <a:scrgbClr r="0" g="0" b="0">
        <a:alpha val="0"/>
      </a:scrgb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1.xml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35.xml"/><Relationship Id="rId26" Type="http://schemas.openxmlformats.org/officeDocument/2006/relationships/tags" Target="../tags/tag34.xml"/><Relationship Id="rId25" Type="http://schemas.openxmlformats.org/officeDocument/2006/relationships/tags" Target="../tags/tag33.xml"/><Relationship Id="rId24" Type="http://schemas.openxmlformats.org/officeDocument/2006/relationships/tags" Target="../tags/tag32.xml"/><Relationship Id="rId23" Type="http://schemas.openxmlformats.org/officeDocument/2006/relationships/tags" Target="../tags/tag31.xml"/><Relationship Id="rId22" Type="http://schemas.openxmlformats.org/officeDocument/2006/relationships/tags" Target="../tags/tag30.xml"/><Relationship Id="rId21" Type="http://schemas.openxmlformats.org/officeDocument/2006/relationships/tags" Target="../tags/tag29.xml"/><Relationship Id="rId20" Type="http://schemas.openxmlformats.org/officeDocument/2006/relationships/tags" Target="../tags/tag28.xml"/><Relationship Id="rId2" Type="http://schemas.openxmlformats.org/officeDocument/2006/relationships/tags" Target="../tags/tag10.xml"/><Relationship Id="rId19" Type="http://schemas.openxmlformats.org/officeDocument/2006/relationships/tags" Target="../tags/tag27.xml"/><Relationship Id="rId18" Type="http://schemas.openxmlformats.org/officeDocument/2006/relationships/tags" Target="../tags/tag26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image" Target="../media/image4.jpeg"/><Relationship Id="rId3" Type="http://schemas.openxmlformats.org/officeDocument/2006/relationships/tags" Target="../tags/tag48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66.xml"/><Relationship Id="rId21" Type="http://schemas.openxmlformats.org/officeDocument/2006/relationships/tags" Target="../tags/tag65.xml"/><Relationship Id="rId20" Type="http://schemas.openxmlformats.org/officeDocument/2006/relationships/tags" Target="../tags/tag64.xml"/><Relationship Id="rId2" Type="http://schemas.openxmlformats.org/officeDocument/2006/relationships/tags" Target="../tags/tag47.xml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tags" Target="../tags/tag4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0" Type="http://schemas.openxmlformats.org/officeDocument/2006/relationships/slideLayout" Target="../slideLayouts/slideLayout7.xml"/><Relationship Id="rId3" Type="http://schemas.openxmlformats.org/officeDocument/2006/relationships/tags" Target="../tags/tag69.xml"/><Relationship Id="rId29" Type="http://schemas.openxmlformats.org/officeDocument/2006/relationships/tags" Target="../tags/tag91.xml"/><Relationship Id="rId28" Type="http://schemas.openxmlformats.org/officeDocument/2006/relationships/tags" Target="../tags/tag90.xml"/><Relationship Id="rId27" Type="http://schemas.openxmlformats.org/officeDocument/2006/relationships/tags" Target="../tags/tag89.xml"/><Relationship Id="rId26" Type="http://schemas.openxmlformats.org/officeDocument/2006/relationships/tags" Target="../tags/tag88.xml"/><Relationship Id="rId25" Type="http://schemas.openxmlformats.org/officeDocument/2006/relationships/tags" Target="../tags/tag87.xml"/><Relationship Id="rId24" Type="http://schemas.openxmlformats.org/officeDocument/2006/relationships/image" Target="../media/image8.svg"/><Relationship Id="rId23" Type="http://schemas.openxmlformats.org/officeDocument/2006/relationships/image" Target="../media/image7.png"/><Relationship Id="rId22" Type="http://schemas.openxmlformats.org/officeDocument/2006/relationships/tags" Target="../tags/tag86.xml"/><Relationship Id="rId21" Type="http://schemas.openxmlformats.org/officeDocument/2006/relationships/tags" Target="../tags/tag85.xml"/><Relationship Id="rId20" Type="http://schemas.openxmlformats.org/officeDocument/2006/relationships/tags" Target="../tags/tag84.xml"/><Relationship Id="rId2" Type="http://schemas.openxmlformats.org/officeDocument/2006/relationships/tags" Target="../tags/tag68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image" Target="../media/image6.svg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7" Type="http://schemas.openxmlformats.org/officeDocument/2006/relationships/slideLayout" Target="../slideLayouts/slideLayout7.xml"/><Relationship Id="rId36" Type="http://schemas.openxmlformats.org/officeDocument/2006/relationships/tags" Target="../tags/tag127.xml"/><Relationship Id="rId35" Type="http://schemas.openxmlformats.org/officeDocument/2006/relationships/tags" Target="../tags/tag126.xml"/><Relationship Id="rId34" Type="http://schemas.openxmlformats.org/officeDocument/2006/relationships/tags" Target="../tags/tag125.xml"/><Relationship Id="rId33" Type="http://schemas.openxmlformats.org/officeDocument/2006/relationships/tags" Target="../tags/tag124.xml"/><Relationship Id="rId32" Type="http://schemas.openxmlformats.org/officeDocument/2006/relationships/tags" Target="../tags/tag123.xml"/><Relationship Id="rId31" Type="http://schemas.openxmlformats.org/officeDocument/2006/relationships/tags" Target="../tags/tag122.xml"/><Relationship Id="rId30" Type="http://schemas.openxmlformats.org/officeDocument/2006/relationships/tags" Target="../tags/tag121.xml"/><Relationship Id="rId3" Type="http://schemas.openxmlformats.org/officeDocument/2006/relationships/tags" Target="../tags/tag94.xml"/><Relationship Id="rId29" Type="http://schemas.openxmlformats.org/officeDocument/2006/relationships/tags" Target="../tags/tag120.xml"/><Relationship Id="rId28" Type="http://schemas.openxmlformats.org/officeDocument/2006/relationships/tags" Target="../tags/tag119.xml"/><Relationship Id="rId27" Type="http://schemas.openxmlformats.org/officeDocument/2006/relationships/tags" Target="../tags/tag118.xml"/><Relationship Id="rId26" Type="http://schemas.openxmlformats.org/officeDocument/2006/relationships/tags" Target="../tags/tag117.xml"/><Relationship Id="rId25" Type="http://schemas.openxmlformats.org/officeDocument/2006/relationships/tags" Target="../tags/tag116.xml"/><Relationship Id="rId24" Type="http://schemas.openxmlformats.org/officeDocument/2006/relationships/tags" Target="../tags/tag115.xml"/><Relationship Id="rId23" Type="http://schemas.openxmlformats.org/officeDocument/2006/relationships/tags" Target="../tags/tag114.xml"/><Relationship Id="rId22" Type="http://schemas.openxmlformats.org/officeDocument/2006/relationships/tags" Target="../tags/tag113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3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tags" Target="../tags/tag9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0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9" Type="http://schemas.openxmlformats.org/officeDocument/2006/relationships/slideLayout" Target="../slideLayouts/slideLayout7.xml"/><Relationship Id="rId38" Type="http://schemas.openxmlformats.org/officeDocument/2006/relationships/tags" Target="../tags/tag171.xml"/><Relationship Id="rId37" Type="http://schemas.openxmlformats.org/officeDocument/2006/relationships/tags" Target="../tags/tag170.xml"/><Relationship Id="rId36" Type="http://schemas.openxmlformats.org/officeDocument/2006/relationships/tags" Target="../tags/tag169.xml"/><Relationship Id="rId35" Type="http://schemas.openxmlformats.org/officeDocument/2006/relationships/tags" Target="../tags/tag168.xml"/><Relationship Id="rId34" Type="http://schemas.openxmlformats.org/officeDocument/2006/relationships/tags" Target="../tags/tag167.xml"/><Relationship Id="rId33" Type="http://schemas.openxmlformats.org/officeDocument/2006/relationships/tags" Target="../tags/tag166.xml"/><Relationship Id="rId32" Type="http://schemas.openxmlformats.org/officeDocument/2006/relationships/tags" Target="../tags/tag165.xml"/><Relationship Id="rId31" Type="http://schemas.openxmlformats.org/officeDocument/2006/relationships/tags" Target="../tags/tag164.xml"/><Relationship Id="rId30" Type="http://schemas.openxmlformats.org/officeDocument/2006/relationships/tags" Target="../tags/tag163.xml"/><Relationship Id="rId3" Type="http://schemas.openxmlformats.org/officeDocument/2006/relationships/tags" Target="../tags/tag138.xml"/><Relationship Id="rId29" Type="http://schemas.openxmlformats.org/officeDocument/2006/relationships/tags" Target="../tags/tag162.xml"/><Relationship Id="rId28" Type="http://schemas.openxmlformats.org/officeDocument/2006/relationships/tags" Target="../tags/tag161.xml"/><Relationship Id="rId27" Type="http://schemas.openxmlformats.org/officeDocument/2006/relationships/tags" Target="../tags/tag160.xml"/><Relationship Id="rId26" Type="http://schemas.openxmlformats.org/officeDocument/2006/relationships/tags" Target="../tags/tag159.xml"/><Relationship Id="rId25" Type="http://schemas.openxmlformats.org/officeDocument/2006/relationships/tags" Target="../tags/tag158.xml"/><Relationship Id="rId24" Type="http://schemas.openxmlformats.org/officeDocument/2006/relationships/tags" Target="../tags/tag157.xml"/><Relationship Id="rId23" Type="http://schemas.openxmlformats.org/officeDocument/2006/relationships/tags" Target="../tags/tag156.xml"/><Relationship Id="rId22" Type="http://schemas.openxmlformats.org/officeDocument/2006/relationships/tags" Target="../tags/tag155.xml"/><Relationship Id="rId21" Type="http://schemas.openxmlformats.org/officeDocument/2006/relationships/tags" Target="../tags/tag154.xml"/><Relationship Id="rId20" Type="http://schemas.openxmlformats.org/officeDocument/2006/relationships/tags" Target="../tags/tag153.xml"/><Relationship Id="rId2" Type="http://schemas.openxmlformats.org/officeDocument/2006/relationships/tags" Target="../tags/tag137.xml"/><Relationship Id="rId19" Type="http://schemas.openxmlformats.org/officeDocument/2006/relationships/tags" Target="../tags/tag152.xml"/><Relationship Id="rId18" Type="http://schemas.openxmlformats.org/officeDocument/2006/relationships/tags" Target="../tags/tag151.xml"/><Relationship Id="rId17" Type="http://schemas.openxmlformats.org/officeDocument/2006/relationships/tags" Target="../tags/tag150.xml"/><Relationship Id="rId16" Type="http://schemas.openxmlformats.org/officeDocument/2006/relationships/tags" Target="../tags/tag149.xml"/><Relationship Id="rId15" Type="http://schemas.openxmlformats.org/officeDocument/2006/relationships/tags" Target="../tags/tag148.xml"/><Relationship Id="rId14" Type="http://schemas.openxmlformats.org/officeDocument/2006/relationships/tags" Target="../tags/tag147.xml"/><Relationship Id="rId13" Type="http://schemas.openxmlformats.org/officeDocument/2006/relationships/tags" Target="../tags/tag146.xml"/><Relationship Id="rId12" Type="http://schemas.openxmlformats.org/officeDocument/2006/relationships/image" Target="../media/image10.svg"/><Relationship Id="rId11" Type="http://schemas.openxmlformats.org/officeDocument/2006/relationships/image" Target="../media/image9.png"/><Relationship Id="rId10" Type="http://schemas.openxmlformats.org/officeDocument/2006/relationships/tags" Target="../tags/tag145.xml"/><Relationship Id="rId1" Type="http://schemas.openxmlformats.org/officeDocument/2006/relationships/tags" Target="../tags/tag13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80.xml"/><Relationship Id="rId8" Type="http://schemas.openxmlformats.org/officeDocument/2006/relationships/tags" Target="../tags/tag179.xml"/><Relationship Id="rId7" Type="http://schemas.openxmlformats.org/officeDocument/2006/relationships/tags" Target="../tags/tag17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181.xml"/><Relationship Id="rId1" Type="http://schemas.openxmlformats.org/officeDocument/2006/relationships/tags" Target="../tags/tag17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191.xml"/><Relationship Id="rId1" Type="http://schemas.openxmlformats.org/officeDocument/2006/relationships/tags" Target="../tags/tag18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tags" Target="../tags/tag195.xml"/><Relationship Id="rId34" Type="http://schemas.openxmlformats.org/officeDocument/2006/relationships/slideLayout" Target="../slideLayouts/slideLayout7.xml"/><Relationship Id="rId33" Type="http://schemas.openxmlformats.org/officeDocument/2006/relationships/tags" Target="../tags/tag218.xml"/><Relationship Id="rId32" Type="http://schemas.openxmlformats.org/officeDocument/2006/relationships/tags" Target="../tags/tag217.xml"/><Relationship Id="rId31" Type="http://schemas.openxmlformats.org/officeDocument/2006/relationships/tags" Target="../tags/tag216.xml"/><Relationship Id="rId30" Type="http://schemas.openxmlformats.org/officeDocument/2006/relationships/tags" Target="../tags/tag215.xml"/><Relationship Id="rId3" Type="http://schemas.openxmlformats.org/officeDocument/2006/relationships/tags" Target="../tags/tag194.xml"/><Relationship Id="rId29" Type="http://schemas.openxmlformats.org/officeDocument/2006/relationships/tags" Target="../tags/tag214.xml"/><Relationship Id="rId28" Type="http://schemas.openxmlformats.org/officeDocument/2006/relationships/tags" Target="../tags/tag213.xml"/><Relationship Id="rId27" Type="http://schemas.openxmlformats.org/officeDocument/2006/relationships/tags" Target="../tags/tag212.xml"/><Relationship Id="rId26" Type="http://schemas.openxmlformats.org/officeDocument/2006/relationships/tags" Target="../tags/tag211.xml"/><Relationship Id="rId25" Type="http://schemas.openxmlformats.org/officeDocument/2006/relationships/tags" Target="../tags/tag210.xml"/><Relationship Id="rId24" Type="http://schemas.openxmlformats.org/officeDocument/2006/relationships/tags" Target="../tags/tag209.xml"/><Relationship Id="rId23" Type="http://schemas.openxmlformats.org/officeDocument/2006/relationships/tags" Target="../tags/tag208.xml"/><Relationship Id="rId22" Type="http://schemas.openxmlformats.org/officeDocument/2006/relationships/tags" Target="../tags/tag207.xml"/><Relationship Id="rId21" Type="http://schemas.openxmlformats.org/officeDocument/2006/relationships/tags" Target="../tags/tag206.xml"/><Relationship Id="rId20" Type="http://schemas.openxmlformats.org/officeDocument/2006/relationships/tags" Target="../tags/tag205.xml"/><Relationship Id="rId2" Type="http://schemas.openxmlformats.org/officeDocument/2006/relationships/tags" Target="../tags/tag193.xml"/><Relationship Id="rId19" Type="http://schemas.openxmlformats.org/officeDocument/2006/relationships/tags" Target="../tags/tag204.xml"/><Relationship Id="rId18" Type="http://schemas.openxmlformats.org/officeDocument/2006/relationships/image" Target="../media/image21.svg"/><Relationship Id="rId17" Type="http://schemas.openxmlformats.org/officeDocument/2006/relationships/image" Target="../media/image20.png"/><Relationship Id="rId16" Type="http://schemas.openxmlformats.org/officeDocument/2006/relationships/tags" Target="../tags/tag203.xml"/><Relationship Id="rId15" Type="http://schemas.openxmlformats.org/officeDocument/2006/relationships/tags" Target="../tags/tag202.xml"/><Relationship Id="rId14" Type="http://schemas.openxmlformats.org/officeDocument/2006/relationships/tags" Target="../tags/tag201.xml"/><Relationship Id="rId13" Type="http://schemas.openxmlformats.org/officeDocument/2006/relationships/tags" Target="../tags/tag200.xml"/><Relationship Id="rId12" Type="http://schemas.openxmlformats.org/officeDocument/2006/relationships/image" Target="../media/image19.svg"/><Relationship Id="rId11" Type="http://schemas.openxmlformats.org/officeDocument/2006/relationships/image" Target="../media/image18.png"/><Relationship Id="rId10" Type="http://schemas.openxmlformats.org/officeDocument/2006/relationships/tags" Target="../tags/tag199.xml"/><Relationship Id="rId1" Type="http://schemas.openxmlformats.org/officeDocument/2006/relationships/tags" Target="../tags/tag19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tags" Target="../tags/tag225.xml"/><Relationship Id="rId7" Type="http://schemas.openxmlformats.org/officeDocument/2006/relationships/tags" Target="../tags/tag224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image" Target="../media/image22.jpeg"/><Relationship Id="rId2" Type="http://schemas.openxmlformats.org/officeDocument/2006/relationships/tags" Target="../tags/tag220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229.xml"/><Relationship Id="rId15" Type="http://schemas.openxmlformats.org/officeDocument/2006/relationships/image" Target="../media/image25.svg"/><Relationship Id="rId14" Type="http://schemas.openxmlformats.org/officeDocument/2006/relationships/image" Target="../media/image24.png"/><Relationship Id="rId13" Type="http://schemas.openxmlformats.org/officeDocument/2006/relationships/tags" Target="../tags/tag228.xml"/><Relationship Id="rId12" Type="http://schemas.openxmlformats.org/officeDocument/2006/relationships/tags" Target="../tags/tag227.xml"/><Relationship Id="rId11" Type="http://schemas.openxmlformats.org/officeDocument/2006/relationships/tags" Target="../tags/tag226.xml"/><Relationship Id="rId10" Type="http://schemas.openxmlformats.org/officeDocument/2006/relationships/image" Target="../media/image10.svg"/><Relationship Id="rId1" Type="http://schemas.openxmlformats.org/officeDocument/2006/relationships/tags" Target="../tags/tag21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38.xml"/><Relationship Id="rId8" Type="http://schemas.openxmlformats.org/officeDocument/2006/relationships/tags" Target="../tags/tag237.xml"/><Relationship Id="rId7" Type="http://schemas.openxmlformats.org/officeDocument/2006/relationships/tags" Target="../tags/tag236.xml"/><Relationship Id="rId6" Type="http://schemas.openxmlformats.org/officeDocument/2006/relationships/tags" Target="../tags/tag235.xml"/><Relationship Id="rId5" Type="http://schemas.openxmlformats.org/officeDocument/2006/relationships/tags" Target="../tags/tag234.xml"/><Relationship Id="rId4" Type="http://schemas.openxmlformats.org/officeDocument/2006/relationships/tags" Target="../tags/tag233.xml"/><Relationship Id="rId31" Type="http://schemas.openxmlformats.org/officeDocument/2006/relationships/slideLayout" Target="../slideLayouts/slideLayout7.xml"/><Relationship Id="rId30" Type="http://schemas.openxmlformats.org/officeDocument/2006/relationships/tags" Target="../tags/tag259.xml"/><Relationship Id="rId3" Type="http://schemas.openxmlformats.org/officeDocument/2006/relationships/tags" Target="../tags/tag232.xml"/><Relationship Id="rId29" Type="http://schemas.openxmlformats.org/officeDocument/2006/relationships/tags" Target="../tags/tag258.xml"/><Relationship Id="rId28" Type="http://schemas.openxmlformats.org/officeDocument/2006/relationships/tags" Target="../tags/tag257.xml"/><Relationship Id="rId27" Type="http://schemas.openxmlformats.org/officeDocument/2006/relationships/tags" Target="../tags/tag256.xml"/><Relationship Id="rId26" Type="http://schemas.openxmlformats.org/officeDocument/2006/relationships/tags" Target="../tags/tag255.xml"/><Relationship Id="rId25" Type="http://schemas.openxmlformats.org/officeDocument/2006/relationships/tags" Target="../tags/tag254.xml"/><Relationship Id="rId24" Type="http://schemas.openxmlformats.org/officeDocument/2006/relationships/tags" Target="../tags/tag253.xml"/><Relationship Id="rId23" Type="http://schemas.openxmlformats.org/officeDocument/2006/relationships/tags" Target="../tags/tag252.xml"/><Relationship Id="rId22" Type="http://schemas.openxmlformats.org/officeDocument/2006/relationships/tags" Target="../tags/tag251.xml"/><Relationship Id="rId21" Type="http://schemas.openxmlformats.org/officeDocument/2006/relationships/tags" Target="../tags/tag250.xml"/><Relationship Id="rId20" Type="http://schemas.openxmlformats.org/officeDocument/2006/relationships/tags" Target="../tags/tag249.xml"/><Relationship Id="rId2" Type="http://schemas.openxmlformats.org/officeDocument/2006/relationships/tags" Target="../tags/tag231.xml"/><Relationship Id="rId19" Type="http://schemas.openxmlformats.org/officeDocument/2006/relationships/tags" Target="../tags/tag248.xml"/><Relationship Id="rId18" Type="http://schemas.openxmlformats.org/officeDocument/2006/relationships/tags" Target="../tags/tag247.xml"/><Relationship Id="rId17" Type="http://schemas.openxmlformats.org/officeDocument/2006/relationships/tags" Target="../tags/tag246.xml"/><Relationship Id="rId16" Type="http://schemas.openxmlformats.org/officeDocument/2006/relationships/tags" Target="../tags/tag245.xml"/><Relationship Id="rId15" Type="http://schemas.openxmlformats.org/officeDocument/2006/relationships/tags" Target="../tags/tag244.xml"/><Relationship Id="rId14" Type="http://schemas.openxmlformats.org/officeDocument/2006/relationships/tags" Target="../tags/tag243.xml"/><Relationship Id="rId13" Type="http://schemas.openxmlformats.org/officeDocument/2006/relationships/tags" Target="../tags/tag242.xml"/><Relationship Id="rId12" Type="http://schemas.openxmlformats.org/officeDocument/2006/relationships/tags" Target="../tags/tag241.xml"/><Relationship Id="rId11" Type="http://schemas.openxmlformats.org/officeDocument/2006/relationships/tags" Target="../tags/tag240.xml"/><Relationship Id="rId10" Type="http://schemas.openxmlformats.org/officeDocument/2006/relationships/tags" Target="../tags/tag239.xml"/><Relationship Id="rId1" Type="http://schemas.openxmlformats.org/officeDocument/2006/relationships/tags" Target="../tags/tag230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66.xml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276.xml"/><Relationship Id="rId20" Type="http://schemas.openxmlformats.org/officeDocument/2006/relationships/tags" Target="../tags/tag275.xml"/><Relationship Id="rId2" Type="http://schemas.openxmlformats.org/officeDocument/2006/relationships/tags" Target="../tags/tag261.xml"/><Relationship Id="rId19" Type="http://schemas.openxmlformats.org/officeDocument/2006/relationships/tags" Target="../tags/tag274.xml"/><Relationship Id="rId18" Type="http://schemas.openxmlformats.org/officeDocument/2006/relationships/tags" Target="../tags/tag273.xml"/><Relationship Id="rId17" Type="http://schemas.openxmlformats.org/officeDocument/2006/relationships/image" Target="../media/image29.svg"/><Relationship Id="rId16" Type="http://schemas.openxmlformats.org/officeDocument/2006/relationships/image" Target="../media/image28.png"/><Relationship Id="rId15" Type="http://schemas.openxmlformats.org/officeDocument/2006/relationships/tags" Target="../tags/tag272.xml"/><Relationship Id="rId14" Type="http://schemas.openxmlformats.org/officeDocument/2006/relationships/tags" Target="../tags/tag271.xml"/><Relationship Id="rId13" Type="http://schemas.openxmlformats.org/officeDocument/2006/relationships/tags" Target="../tags/tag270.xml"/><Relationship Id="rId12" Type="http://schemas.openxmlformats.org/officeDocument/2006/relationships/tags" Target="../tags/tag269.xml"/><Relationship Id="rId11" Type="http://schemas.openxmlformats.org/officeDocument/2006/relationships/tags" Target="../tags/tag268.xml"/><Relationship Id="rId10" Type="http://schemas.openxmlformats.org/officeDocument/2006/relationships/tags" Target="../tags/tag267.xml"/><Relationship Id="rId1" Type="http://schemas.openxmlformats.org/officeDocument/2006/relationships/tags" Target="../tags/tag260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83.xml"/><Relationship Id="rId8" Type="http://schemas.openxmlformats.org/officeDocument/2006/relationships/image" Target="../media/image31.svg"/><Relationship Id="rId7" Type="http://schemas.openxmlformats.org/officeDocument/2006/relationships/image" Target="../media/image30.png"/><Relationship Id="rId6" Type="http://schemas.openxmlformats.org/officeDocument/2006/relationships/tags" Target="../tags/tag282.xml"/><Relationship Id="rId55" Type="http://schemas.openxmlformats.org/officeDocument/2006/relationships/slideLayout" Target="../slideLayouts/slideLayout7.xml"/><Relationship Id="rId54" Type="http://schemas.openxmlformats.org/officeDocument/2006/relationships/tags" Target="../tags/tag324.xml"/><Relationship Id="rId53" Type="http://schemas.openxmlformats.org/officeDocument/2006/relationships/tags" Target="../tags/tag323.xml"/><Relationship Id="rId52" Type="http://schemas.openxmlformats.org/officeDocument/2006/relationships/tags" Target="../tags/tag322.xml"/><Relationship Id="rId51" Type="http://schemas.openxmlformats.org/officeDocument/2006/relationships/tags" Target="../tags/tag321.xml"/><Relationship Id="rId50" Type="http://schemas.openxmlformats.org/officeDocument/2006/relationships/tags" Target="../tags/tag320.xml"/><Relationship Id="rId5" Type="http://schemas.openxmlformats.org/officeDocument/2006/relationships/tags" Target="../tags/tag281.xml"/><Relationship Id="rId49" Type="http://schemas.openxmlformats.org/officeDocument/2006/relationships/tags" Target="../tags/tag319.xml"/><Relationship Id="rId48" Type="http://schemas.openxmlformats.org/officeDocument/2006/relationships/tags" Target="../tags/tag318.xml"/><Relationship Id="rId47" Type="http://schemas.openxmlformats.org/officeDocument/2006/relationships/tags" Target="../tags/tag317.xml"/><Relationship Id="rId46" Type="http://schemas.openxmlformats.org/officeDocument/2006/relationships/tags" Target="../tags/tag316.xml"/><Relationship Id="rId45" Type="http://schemas.openxmlformats.org/officeDocument/2006/relationships/tags" Target="../tags/tag315.xml"/><Relationship Id="rId44" Type="http://schemas.openxmlformats.org/officeDocument/2006/relationships/tags" Target="../tags/tag314.xml"/><Relationship Id="rId43" Type="http://schemas.openxmlformats.org/officeDocument/2006/relationships/tags" Target="../tags/tag313.xml"/><Relationship Id="rId42" Type="http://schemas.openxmlformats.org/officeDocument/2006/relationships/image" Target="../media/image35.svg"/><Relationship Id="rId41" Type="http://schemas.openxmlformats.org/officeDocument/2006/relationships/image" Target="../media/image34.png"/><Relationship Id="rId40" Type="http://schemas.openxmlformats.org/officeDocument/2006/relationships/tags" Target="../tags/tag312.xml"/><Relationship Id="rId4" Type="http://schemas.openxmlformats.org/officeDocument/2006/relationships/tags" Target="../tags/tag280.xml"/><Relationship Id="rId39" Type="http://schemas.openxmlformats.org/officeDocument/2006/relationships/tags" Target="../tags/tag311.xml"/><Relationship Id="rId38" Type="http://schemas.openxmlformats.org/officeDocument/2006/relationships/tags" Target="../tags/tag310.xml"/><Relationship Id="rId37" Type="http://schemas.openxmlformats.org/officeDocument/2006/relationships/tags" Target="../tags/tag309.xml"/><Relationship Id="rId36" Type="http://schemas.openxmlformats.org/officeDocument/2006/relationships/tags" Target="../tags/tag308.xml"/><Relationship Id="rId35" Type="http://schemas.openxmlformats.org/officeDocument/2006/relationships/tags" Target="../tags/tag307.xml"/><Relationship Id="rId34" Type="http://schemas.openxmlformats.org/officeDocument/2006/relationships/tags" Target="../tags/tag306.xml"/><Relationship Id="rId33" Type="http://schemas.openxmlformats.org/officeDocument/2006/relationships/tags" Target="../tags/tag305.xml"/><Relationship Id="rId32" Type="http://schemas.openxmlformats.org/officeDocument/2006/relationships/tags" Target="../tags/tag304.xml"/><Relationship Id="rId31" Type="http://schemas.openxmlformats.org/officeDocument/2006/relationships/tags" Target="../tags/tag303.xml"/><Relationship Id="rId30" Type="http://schemas.openxmlformats.org/officeDocument/2006/relationships/tags" Target="../tags/tag302.xml"/><Relationship Id="rId3" Type="http://schemas.openxmlformats.org/officeDocument/2006/relationships/tags" Target="../tags/tag279.xml"/><Relationship Id="rId29" Type="http://schemas.openxmlformats.org/officeDocument/2006/relationships/tags" Target="../tags/tag301.xml"/><Relationship Id="rId28" Type="http://schemas.openxmlformats.org/officeDocument/2006/relationships/tags" Target="../tags/tag300.xml"/><Relationship Id="rId27" Type="http://schemas.openxmlformats.org/officeDocument/2006/relationships/tags" Target="../tags/tag299.xml"/><Relationship Id="rId26" Type="http://schemas.openxmlformats.org/officeDocument/2006/relationships/tags" Target="../tags/tag298.xml"/><Relationship Id="rId25" Type="http://schemas.openxmlformats.org/officeDocument/2006/relationships/image" Target="../media/image33.svg"/><Relationship Id="rId24" Type="http://schemas.openxmlformats.org/officeDocument/2006/relationships/image" Target="../media/image32.png"/><Relationship Id="rId23" Type="http://schemas.openxmlformats.org/officeDocument/2006/relationships/tags" Target="../tags/tag297.xml"/><Relationship Id="rId22" Type="http://schemas.openxmlformats.org/officeDocument/2006/relationships/tags" Target="../tags/tag296.xml"/><Relationship Id="rId21" Type="http://schemas.openxmlformats.org/officeDocument/2006/relationships/tags" Target="../tags/tag295.xml"/><Relationship Id="rId20" Type="http://schemas.openxmlformats.org/officeDocument/2006/relationships/tags" Target="../tags/tag294.xml"/><Relationship Id="rId2" Type="http://schemas.openxmlformats.org/officeDocument/2006/relationships/tags" Target="../tags/tag278.xml"/><Relationship Id="rId19" Type="http://schemas.openxmlformats.org/officeDocument/2006/relationships/tags" Target="../tags/tag293.xml"/><Relationship Id="rId18" Type="http://schemas.openxmlformats.org/officeDocument/2006/relationships/tags" Target="../tags/tag292.xml"/><Relationship Id="rId17" Type="http://schemas.openxmlformats.org/officeDocument/2006/relationships/tags" Target="../tags/tag291.xml"/><Relationship Id="rId16" Type="http://schemas.openxmlformats.org/officeDocument/2006/relationships/tags" Target="../tags/tag290.xml"/><Relationship Id="rId15" Type="http://schemas.openxmlformats.org/officeDocument/2006/relationships/tags" Target="../tags/tag289.xml"/><Relationship Id="rId14" Type="http://schemas.openxmlformats.org/officeDocument/2006/relationships/tags" Target="../tags/tag288.xml"/><Relationship Id="rId13" Type="http://schemas.openxmlformats.org/officeDocument/2006/relationships/tags" Target="../tags/tag287.xml"/><Relationship Id="rId12" Type="http://schemas.openxmlformats.org/officeDocument/2006/relationships/tags" Target="../tags/tag286.xml"/><Relationship Id="rId11" Type="http://schemas.openxmlformats.org/officeDocument/2006/relationships/tags" Target="../tags/tag285.xml"/><Relationship Id="rId10" Type="http://schemas.openxmlformats.org/officeDocument/2006/relationships/tags" Target="../tags/tag284.xml"/><Relationship Id="rId1" Type="http://schemas.openxmlformats.org/officeDocument/2006/relationships/tags" Target="../tags/tag27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33.xml"/><Relationship Id="rId8" Type="http://schemas.openxmlformats.org/officeDocument/2006/relationships/tags" Target="../tags/tag332.xml"/><Relationship Id="rId7" Type="http://schemas.openxmlformats.org/officeDocument/2006/relationships/tags" Target="../tags/tag331.xml"/><Relationship Id="rId6" Type="http://schemas.openxmlformats.org/officeDocument/2006/relationships/tags" Target="../tags/tag330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334.xml"/><Relationship Id="rId1" Type="http://schemas.openxmlformats.org/officeDocument/2006/relationships/tags" Target="../tags/tag32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43.xml"/><Relationship Id="rId8" Type="http://schemas.openxmlformats.org/officeDocument/2006/relationships/tags" Target="../tags/tag342.xml"/><Relationship Id="rId7" Type="http://schemas.openxmlformats.org/officeDocument/2006/relationships/tags" Target="../tags/tag341.xml"/><Relationship Id="rId6" Type="http://schemas.openxmlformats.org/officeDocument/2006/relationships/tags" Target="../tags/tag340.xml"/><Relationship Id="rId5" Type="http://schemas.openxmlformats.org/officeDocument/2006/relationships/tags" Target="../tags/tag339.xml"/><Relationship Id="rId4" Type="http://schemas.openxmlformats.org/officeDocument/2006/relationships/tags" Target="../tags/tag338.xml"/><Relationship Id="rId3" Type="http://schemas.openxmlformats.org/officeDocument/2006/relationships/tags" Target="../tags/tag337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359.xml"/><Relationship Id="rId24" Type="http://schemas.openxmlformats.org/officeDocument/2006/relationships/tags" Target="../tags/tag358.xml"/><Relationship Id="rId23" Type="http://schemas.openxmlformats.org/officeDocument/2006/relationships/tags" Target="../tags/tag357.xml"/><Relationship Id="rId22" Type="http://schemas.openxmlformats.org/officeDocument/2006/relationships/tags" Target="../tags/tag356.xml"/><Relationship Id="rId21" Type="http://schemas.openxmlformats.org/officeDocument/2006/relationships/tags" Target="../tags/tag355.xml"/><Relationship Id="rId20" Type="http://schemas.openxmlformats.org/officeDocument/2006/relationships/tags" Target="../tags/tag354.xml"/><Relationship Id="rId2" Type="http://schemas.openxmlformats.org/officeDocument/2006/relationships/tags" Target="../tags/tag336.xml"/><Relationship Id="rId19" Type="http://schemas.openxmlformats.org/officeDocument/2006/relationships/tags" Target="../tags/tag353.xml"/><Relationship Id="rId18" Type="http://schemas.openxmlformats.org/officeDocument/2006/relationships/tags" Target="../tags/tag352.xml"/><Relationship Id="rId17" Type="http://schemas.openxmlformats.org/officeDocument/2006/relationships/tags" Target="../tags/tag351.xml"/><Relationship Id="rId16" Type="http://schemas.openxmlformats.org/officeDocument/2006/relationships/tags" Target="../tags/tag350.xml"/><Relationship Id="rId15" Type="http://schemas.openxmlformats.org/officeDocument/2006/relationships/tags" Target="../tags/tag349.xml"/><Relationship Id="rId14" Type="http://schemas.openxmlformats.org/officeDocument/2006/relationships/tags" Target="../tags/tag348.xml"/><Relationship Id="rId13" Type="http://schemas.openxmlformats.org/officeDocument/2006/relationships/tags" Target="../tags/tag347.xml"/><Relationship Id="rId12" Type="http://schemas.openxmlformats.org/officeDocument/2006/relationships/tags" Target="../tags/tag346.xml"/><Relationship Id="rId11" Type="http://schemas.openxmlformats.org/officeDocument/2006/relationships/tags" Target="../tags/tag345.xml"/><Relationship Id="rId10" Type="http://schemas.openxmlformats.org/officeDocument/2006/relationships/tags" Target="../tags/tag344.xml"/><Relationship Id="rId1" Type="http://schemas.openxmlformats.org/officeDocument/2006/relationships/tags" Target="../tags/tag335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68.xml"/><Relationship Id="rId8" Type="http://schemas.openxmlformats.org/officeDocument/2006/relationships/tags" Target="../tags/tag367.xml"/><Relationship Id="rId7" Type="http://schemas.openxmlformats.org/officeDocument/2006/relationships/tags" Target="../tags/tag366.xml"/><Relationship Id="rId6" Type="http://schemas.openxmlformats.org/officeDocument/2006/relationships/tags" Target="../tags/tag365.xml"/><Relationship Id="rId5" Type="http://schemas.openxmlformats.org/officeDocument/2006/relationships/tags" Target="../tags/tag364.xml"/><Relationship Id="rId4" Type="http://schemas.openxmlformats.org/officeDocument/2006/relationships/tags" Target="../tags/tag363.xml"/><Relationship Id="rId3" Type="http://schemas.openxmlformats.org/officeDocument/2006/relationships/tags" Target="../tags/tag362.xml"/><Relationship Id="rId29" Type="http://schemas.openxmlformats.org/officeDocument/2006/relationships/slideLayout" Target="../slideLayouts/slideLayout7.xml"/><Relationship Id="rId28" Type="http://schemas.openxmlformats.org/officeDocument/2006/relationships/tags" Target="../tags/tag387.xml"/><Relationship Id="rId27" Type="http://schemas.openxmlformats.org/officeDocument/2006/relationships/tags" Target="../tags/tag386.xml"/><Relationship Id="rId26" Type="http://schemas.openxmlformats.org/officeDocument/2006/relationships/tags" Target="../tags/tag385.xml"/><Relationship Id="rId25" Type="http://schemas.openxmlformats.org/officeDocument/2006/relationships/tags" Target="../tags/tag384.xml"/><Relationship Id="rId24" Type="http://schemas.openxmlformats.org/officeDocument/2006/relationships/tags" Target="../tags/tag383.xml"/><Relationship Id="rId23" Type="http://schemas.openxmlformats.org/officeDocument/2006/relationships/tags" Target="../tags/tag382.xml"/><Relationship Id="rId22" Type="http://schemas.openxmlformats.org/officeDocument/2006/relationships/tags" Target="../tags/tag381.xml"/><Relationship Id="rId21" Type="http://schemas.openxmlformats.org/officeDocument/2006/relationships/tags" Target="../tags/tag380.xml"/><Relationship Id="rId20" Type="http://schemas.openxmlformats.org/officeDocument/2006/relationships/tags" Target="../tags/tag379.xml"/><Relationship Id="rId2" Type="http://schemas.openxmlformats.org/officeDocument/2006/relationships/tags" Target="../tags/tag361.xml"/><Relationship Id="rId19" Type="http://schemas.openxmlformats.org/officeDocument/2006/relationships/tags" Target="../tags/tag378.xml"/><Relationship Id="rId18" Type="http://schemas.openxmlformats.org/officeDocument/2006/relationships/tags" Target="../tags/tag377.xml"/><Relationship Id="rId17" Type="http://schemas.openxmlformats.org/officeDocument/2006/relationships/tags" Target="../tags/tag376.xml"/><Relationship Id="rId16" Type="http://schemas.openxmlformats.org/officeDocument/2006/relationships/tags" Target="../tags/tag375.xml"/><Relationship Id="rId15" Type="http://schemas.openxmlformats.org/officeDocument/2006/relationships/tags" Target="../tags/tag374.xml"/><Relationship Id="rId14" Type="http://schemas.openxmlformats.org/officeDocument/2006/relationships/tags" Target="../tags/tag373.xml"/><Relationship Id="rId13" Type="http://schemas.openxmlformats.org/officeDocument/2006/relationships/tags" Target="../tags/tag372.xml"/><Relationship Id="rId12" Type="http://schemas.openxmlformats.org/officeDocument/2006/relationships/tags" Target="../tags/tag371.xml"/><Relationship Id="rId11" Type="http://schemas.openxmlformats.org/officeDocument/2006/relationships/tags" Target="../tags/tag370.xml"/><Relationship Id="rId10" Type="http://schemas.openxmlformats.org/officeDocument/2006/relationships/tags" Target="../tags/tag369.xml"/><Relationship Id="rId1" Type="http://schemas.openxmlformats.org/officeDocument/2006/relationships/tags" Target="../tags/tag360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395.xml"/><Relationship Id="rId8" Type="http://schemas.openxmlformats.org/officeDocument/2006/relationships/tags" Target="../tags/tag394.xml"/><Relationship Id="rId7" Type="http://schemas.openxmlformats.org/officeDocument/2006/relationships/tags" Target="../tags/tag393.xml"/><Relationship Id="rId6" Type="http://schemas.openxmlformats.org/officeDocument/2006/relationships/tags" Target="../tags/tag392.xml"/><Relationship Id="rId5" Type="http://schemas.openxmlformats.org/officeDocument/2006/relationships/tags" Target="../tags/tag391.xml"/><Relationship Id="rId4" Type="http://schemas.openxmlformats.org/officeDocument/2006/relationships/tags" Target="../tags/tag390.xml"/><Relationship Id="rId3" Type="http://schemas.openxmlformats.org/officeDocument/2006/relationships/image" Target="../media/image36.jpeg"/><Relationship Id="rId2" Type="http://schemas.openxmlformats.org/officeDocument/2006/relationships/tags" Target="../tags/tag389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403.xml"/><Relationship Id="rId16" Type="http://schemas.openxmlformats.org/officeDocument/2006/relationships/tags" Target="../tags/tag402.xml"/><Relationship Id="rId15" Type="http://schemas.openxmlformats.org/officeDocument/2006/relationships/tags" Target="../tags/tag401.xml"/><Relationship Id="rId14" Type="http://schemas.openxmlformats.org/officeDocument/2006/relationships/tags" Target="../tags/tag400.xml"/><Relationship Id="rId13" Type="http://schemas.openxmlformats.org/officeDocument/2006/relationships/tags" Target="../tags/tag399.xml"/><Relationship Id="rId12" Type="http://schemas.openxmlformats.org/officeDocument/2006/relationships/tags" Target="../tags/tag398.xml"/><Relationship Id="rId11" Type="http://schemas.openxmlformats.org/officeDocument/2006/relationships/tags" Target="../tags/tag397.xml"/><Relationship Id="rId10" Type="http://schemas.openxmlformats.org/officeDocument/2006/relationships/tags" Target="../tags/tag396.xml"/><Relationship Id="rId1" Type="http://schemas.openxmlformats.org/officeDocument/2006/relationships/tags" Target="../tags/tag388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tags" Target="../tags/tag411.xml"/><Relationship Id="rId7" Type="http://schemas.openxmlformats.org/officeDocument/2006/relationships/tags" Target="../tags/tag410.xml"/><Relationship Id="rId6" Type="http://schemas.openxmlformats.org/officeDocument/2006/relationships/tags" Target="../tags/tag409.xml"/><Relationship Id="rId5" Type="http://schemas.openxmlformats.org/officeDocument/2006/relationships/tags" Target="../tags/tag408.xml"/><Relationship Id="rId40" Type="http://schemas.openxmlformats.org/officeDocument/2006/relationships/slideLayout" Target="../slideLayouts/slideLayout7.xml"/><Relationship Id="rId4" Type="http://schemas.openxmlformats.org/officeDocument/2006/relationships/tags" Target="../tags/tag407.xml"/><Relationship Id="rId39" Type="http://schemas.openxmlformats.org/officeDocument/2006/relationships/tags" Target="../tags/tag438.xml"/><Relationship Id="rId38" Type="http://schemas.openxmlformats.org/officeDocument/2006/relationships/tags" Target="../tags/tag437.xml"/><Relationship Id="rId37" Type="http://schemas.openxmlformats.org/officeDocument/2006/relationships/tags" Target="../tags/tag436.xml"/><Relationship Id="rId36" Type="http://schemas.openxmlformats.org/officeDocument/2006/relationships/tags" Target="../tags/tag435.xml"/><Relationship Id="rId35" Type="http://schemas.openxmlformats.org/officeDocument/2006/relationships/tags" Target="../tags/tag434.xml"/><Relationship Id="rId34" Type="http://schemas.openxmlformats.org/officeDocument/2006/relationships/tags" Target="../tags/tag433.xml"/><Relationship Id="rId33" Type="http://schemas.openxmlformats.org/officeDocument/2006/relationships/tags" Target="../tags/tag432.xml"/><Relationship Id="rId32" Type="http://schemas.openxmlformats.org/officeDocument/2006/relationships/tags" Target="../tags/tag431.xml"/><Relationship Id="rId31" Type="http://schemas.openxmlformats.org/officeDocument/2006/relationships/tags" Target="../tags/tag430.xml"/><Relationship Id="rId30" Type="http://schemas.openxmlformats.org/officeDocument/2006/relationships/tags" Target="../tags/tag429.xml"/><Relationship Id="rId3" Type="http://schemas.openxmlformats.org/officeDocument/2006/relationships/tags" Target="../tags/tag406.xml"/><Relationship Id="rId29" Type="http://schemas.openxmlformats.org/officeDocument/2006/relationships/tags" Target="../tags/tag428.xml"/><Relationship Id="rId28" Type="http://schemas.openxmlformats.org/officeDocument/2006/relationships/tags" Target="../tags/tag427.xml"/><Relationship Id="rId27" Type="http://schemas.openxmlformats.org/officeDocument/2006/relationships/image" Target="../media/image40.svg"/><Relationship Id="rId26" Type="http://schemas.openxmlformats.org/officeDocument/2006/relationships/image" Target="../media/image39.png"/><Relationship Id="rId25" Type="http://schemas.openxmlformats.org/officeDocument/2006/relationships/tags" Target="../tags/tag426.xml"/><Relationship Id="rId24" Type="http://schemas.openxmlformats.org/officeDocument/2006/relationships/tags" Target="../tags/tag425.xml"/><Relationship Id="rId23" Type="http://schemas.openxmlformats.org/officeDocument/2006/relationships/tags" Target="../tags/tag424.xml"/><Relationship Id="rId22" Type="http://schemas.openxmlformats.org/officeDocument/2006/relationships/tags" Target="../tags/tag423.xml"/><Relationship Id="rId21" Type="http://schemas.openxmlformats.org/officeDocument/2006/relationships/tags" Target="../tags/tag422.xml"/><Relationship Id="rId20" Type="http://schemas.openxmlformats.org/officeDocument/2006/relationships/tags" Target="../tags/tag421.xml"/><Relationship Id="rId2" Type="http://schemas.openxmlformats.org/officeDocument/2006/relationships/tags" Target="../tags/tag405.xml"/><Relationship Id="rId19" Type="http://schemas.openxmlformats.org/officeDocument/2006/relationships/tags" Target="../tags/tag420.xml"/><Relationship Id="rId18" Type="http://schemas.openxmlformats.org/officeDocument/2006/relationships/tags" Target="../tags/tag419.xml"/><Relationship Id="rId17" Type="http://schemas.openxmlformats.org/officeDocument/2006/relationships/tags" Target="../tags/tag418.xml"/><Relationship Id="rId16" Type="http://schemas.openxmlformats.org/officeDocument/2006/relationships/tags" Target="../tags/tag417.xml"/><Relationship Id="rId15" Type="http://schemas.openxmlformats.org/officeDocument/2006/relationships/tags" Target="../tags/tag416.xml"/><Relationship Id="rId14" Type="http://schemas.openxmlformats.org/officeDocument/2006/relationships/tags" Target="../tags/tag415.xml"/><Relationship Id="rId13" Type="http://schemas.openxmlformats.org/officeDocument/2006/relationships/tags" Target="../tags/tag414.xml"/><Relationship Id="rId12" Type="http://schemas.openxmlformats.org/officeDocument/2006/relationships/tags" Target="../tags/tag413.xml"/><Relationship Id="rId11" Type="http://schemas.openxmlformats.org/officeDocument/2006/relationships/tags" Target="../tags/tag412.xml"/><Relationship Id="rId10" Type="http://schemas.openxmlformats.org/officeDocument/2006/relationships/image" Target="../media/image38.svg"/><Relationship Id="rId1" Type="http://schemas.openxmlformats.org/officeDocument/2006/relationships/tags" Target="../tags/tag404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447.xml"/><Relationship Id="rId8" Type="http://schemas.openxmlformats.org/officeDocument/2006/relationships/tags" Target="../tags/tag446.xml"/><Relationship Id="rId7" Type="http://schemas.openxmlformats.org/officeDocument/2006/relationships/tags" Target="../tags/tag445.xml"/><Relationship Id="rId6" Type="http://schemas.openxmlformats.org/officeDocument/2006/relationships/tags" Target="../tags/tag444.xml"/><Relationship Id="rId5" Type="http://schemas.openxmlformats.org/officeDocument/2006/relationships/tags" Target="../tags/tag443.xml"/><Relationship Id="rId4" Type="http://schemas.openxmlformats.org/officeDocument/2006/relationships/tags" Target="../tags/tag442.xml"/><Relationship Id="rId3" Type="http://schemas.openxmlformats.org/officeDocument/2006/relationships/tags" Target="../tags/tag441.xml"/><Relationship Id="rId2" Type="http://schemas.openxmlformats.org/officeDocument/2006/relationships/tags" Target="../tags/tag440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448.xml"/><Relationship Id="rId1" Type="http://schemas.openxmlformats.org/officeDocument/2006/relationships/tags" Target="../tags/tag439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457.xml"/><Relationship Id="rId8" Type="http://schemas.openxmlformats.org/officeDocument/2006/relationships/tags" Target="../tags/tag456.xml"/><Relationship Id="rId7" Type="http://schemas.openxmlformats.org/officeDocument/2006/relationships/tags" Target="../tags/tag455.xml"/><Relationship Id="rId6" Type="http://schemas.openxmlformats.org/officeDocument/2006/relationships/tags" Target="../tags/tag454.xml"/><Relationship Id="rId5" Type="http://schemas.openxmlformats.org/officeDocument/2006/relationships/tags" Target="../tags/tag453.xml"/><Relationship Id="rId4" Type="http://schemas.openxmlformats.org/officeDocument/2006/relationships/tags" Target="../tags/tag452.xml"/><Relationship Id="rId3" Type="http://schemas.openxmlformats.org/officeDocument/2006/relationships/tags" Target="../tags/tag451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474.xml"/><Relationship Id="rId25" Type="http://schemas.openxmlformats.org/officeDocument/2006/relationships/tags" Target="../tags/tag473.xml"/><Relationship Id="rId24" Type="http://schemas.openxmlformats.org/officeDocument/2006/relationships/tags" Target="../tags/tag472.xml"/><Relationship Id="rId23" Type="http://schemas.openxmlformats.org/officeDocument/2006/relationships/tags" Target="../tags/tag471.xml"/><Relationship Id="rId22" Type="http://schemas.openxmlformats.org/officeDocument/2006/relationships/tags" Target="../tags/tag470.xml"/><Relationship Id="rId21" Type="http://schemas.openxmlformats.org/officeDocument/2006/relationships/tags" Target="../tags/tag469.xml"/><Relationship Id="rId20" Type="http://schemas.openxmlformats.org/officeDocument/2006/relationships/tags" Target="../tags/tag468.xml"/><Relationship Id="rId2" Type="http://schemas.openxmlformats.org/officeDocument/2006/relationships/tags" Target="../tags/tag450.xml"/><Relationship Id="rId19" Type="http://schemas.openxmlformats.org/officeDocument/2006/relationships/tags" Target="../tags/tag467.xml"/><Relationship Id="rId18" Type="http://schemas.openxmlformats.org/officeDocument/2006/relationships/tags" Target="../tags/tag466.xml"/><Relationship Id="rId17" Type="http://schemas.openxmlformats.org/officeDocument/2006/relationships/tags" Target="../tags/tag465.xml"/><Relationship Id="rId16" Type="http://schemas.openxmlformats.org/officeDocument/2006/relationships/tags" Target="../tags/tag464.xml"/><Relationship Id="rId15" Type="http://schemas.openxmlformats.org/officeDocument/2006/relationships/tags" Target="../tags/tag463.xml"/><Relationship Id="rId14" Type="http://schemas.openxmlformats.org/officeDocument/2006/relationships/tags" Target="../tags/tag462.xml"/><Relationship Id="rId13" Type="http://schemas.openxmlformats.org/officeDocument/2006/relationships/tags" Target="../tags/tag461.xml"/><Relationship Id="rId12" Type="http://schemas.openxmlformats.org/officeDocument/2006/relationships/tags" Target="../tags/tag460.xml"/><Relationship Id="rId11" Type="http://schemas.openxmlformats.org/officeDocument/2006/relationships/tags" Target="../tags/tag459.xml"/><Relationship Id="rId10" Type="http://schemas.openxmlformats.org/officeDocument/2006/relationships/tags" Target="../tags/tag458.xml"/><Relationship Id="rId1" Type="http://schemas.openxmlformats.org/officeDocument/2006/relationships/tags" Target="../tags/tag449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481.xml"/><Relationship Id="rId8" Type="http://schemas.openxmlformats.org/officeDocument/2006/relationships/tags" Target="../tags/tag480.xml"/><Relationship Id="rId7" Type="http://schemas.openxmlformats.org/officeDocument/2006/relationships/tags" Target="../tags/tag479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tags" Target="../tags/tag478.xml"/><Relationship Id="rId34" Type="http://schemas.openxmlformats.org/officeDocument/2006/relationships/slideLayout" Target="../slideLayouts/slideLayout7.xml"/><Relationship Id="rId33" Type="http://schemas.openxmlformats.org/officeDocument/2006/relationships/tags" Target="../tags/tag501.xml"/><Relationship Id="rId32" Type="http://schemas.openxmlformats.org/officeDocument/2006/relationships/tags" Target="../tags/tag500.xml"/><Relationship Id="rId31" Type="http://schemas.openxmlformats.org/officeDocument/2006/relationships/tags" Target="../tags/tag499.xml"/><Relationship Id="rId30" Type="http://schemas.openxmlformats.org/officeDocument/2006/relationships/tags" Target="../tags/tag498.xml"/><Relationship Id="rId3" Type="http://schemas.openxmlformats.org/officeDocument/2006/relationships/tags" Target="../tags/tag477.xml"/><Relationship Id="rId29" Type="http://schemas.openxmlformats.org/officeDocument/2006/relationships/tags" Target="../tags/tag497.xml"/><Relationship Id="rId28" Type="http://schemas.openxmlformats.org/officeDocument/2006/relationships/tags" Target="../tags/tag496.xml"/><Relationship Id="rId27" Type="http://schemas.openxmlformats.org/officeDocument/2006/relationships/tags" Target="../tags/tag495.xml"/><Relationship Id="rId26" Type="http://schemas.openxmlformats.org/officeDocument/2006/relationships/tags" Target="../tags/tag494.xml"/><Relationship Id="rId25" Type="http://schemas.openxmlformats.org/officeDocument/2006/relationships/tags" Target="../tags/tag493.xml"/><Relationship Id="rId24" Type="http://schemas.openxmlformats.org/officeDocument/2006/relationships/tags" Target="../tags/tag492.xml"/><Relationship Id="rId23" Type="http://schemas.openxmlformats.org/officeDocument/2006/relationships/tags" Target="../tags/tag491.xml"/><Relationship Id="rId22" Type="http://schemas.openxmlformats.org/officeDocument/2006/relationships/tags" Target="../tags/tag490.xml"/><Relationship Id="rId21" Type="http://schemas.openxmlformats.org/officeDocument/2006/relationships/tags" Target="../tags/tag489.xml"/><Relationship Id="rId20" Type="http://schemas.openxmlformats.org/officeDocument/2006/relationships/image" Target="../media/image10.svg"/><Relationship Id="rId2" Type="http://schemas.openxmlformats.org/officeDocument/2006/relationships/tags" Target="../tags/tag476.xml"/><Relationship Id="rId19" Type="http://schemas.openxmlformats.org/officeDocument/2006/relationships/image" Target="../media/image23.png"/><Relationship Id="rId18" Type="http://schemas.openxmlformats.org/officeDocument/2006/relationships/tags" Target="../tags/tag488.xml"/><Relationship Id="rId17" Type="http://schemas.openxmlformats.org/officeDocument/2006/relationships/tags" Target="../tags/tag487.xml"/><Relationship Id="rId16" Type="http://schemas.openxmlformats.org/officeDocument/2006/relationships/tags" Target="../tags/tag486.xml"/><Relationship Id="rId15" Type="http://schemas.openxmlformats.org/officeDocument/2006/relationships/tags" Target="../tags/tag485.xml"/><Relationship Id="rId14" Type="http://schemas.openxmlformats.org/officeDocument/2006/relationships/tags" Target="../tags/tag484.xml"/><Relationship Id="rId13" Type="http://schemas.openxmlformats.org/officeDocument/2006/relationships/image" Target="../media/image44.svg"/><Relationship Id="rId12" Type="http://schemas.openxmlformats.org/officeDocument/2006/relationships/image" Target="../media/image43.png"/><Relationship Id="rId11" Type="http://schemas.openxmlformats.org/officeDocument/2006/relationships/tags" Target="../tags/tag483.xml"/><Relationship Id="rId10" Type="http://schemas.openxmlformats.org/officeDocument/2006/relationships/tags" Target="../tags/tag482.xml"/><Relationship Id="rId1" Type="http://schemas.openxmlformats.org/officeDocument/2006/relationships/tags" Target="../tags/tag475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507.xml"/><Relationship Id="rId5" Type="http://schemas.openxmlformats.org/officeDocument/2006/relationships/tags" Target="../tags/tag506.xml"/><Relationship Id="rId4" Type="http://schemas.openxmlformats.org/officeDocument/2006/relationships/tags" Target="../tags/tag505.xml"/><Relationship Id="rId3" Type="http://schemas.openxmlformats.org/officeDocument/2006/relationships/tags" Target="../tags/tag504.xml"/><Relationship Id="rId2" Type="http://schemas.openxmlformats.org/officeDocument/2006/relationships/tags" Target="../tags/tag503.xml"/><Relationship Id="rId1" Type="http://schemas.openxmlformats.org/officeDocument/2006/relationships/tags" Target="../tags/tag50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0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1652140"/>
            <a:ext cx="117350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1B7FCE"/>
                </a:solidFill>
                <a:latin typeface="MiSans Demibold" panose="00000700000000000000" charset="-122"/>
                <a:ea typeface="MiSans Demibold" panose="00000700000000000000" charset="-122"/>
              </a:rPr>
              <a:t>生导小组分享</a:t>
            </a:r>
            <a:endParaRPr sz="1050" b="1" spc="315">
              <a:solidFill>
                <a:srgbClr val="1B7FC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2071240"/>
            <a:ext cx="5429250" cy="9953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生导小组分享：</a:t>
            </a:r>
            <a:endParaRPr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AI </a:t>
            </a: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模型读懂了</a:t>
            </a:r>
            <a:r>
              <a:rPr lang="en-US" altLang="zh-CN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"</a:t>
            </a:r>
            <a:r>
              <a:rPr sz="3000" b="1">
                <a:solidFill>
                  <a:srgbClr val="1B7FCE"/>
                </a:solidFill>
                <a:latin typeface="MiSans Demibold" panose="00000700000000000000" charset="-122"/>
                <a:ea typeface="MiSans Demibold" panose="00000700000000000000" charset="-122"/>
              </a:rPr>
              <a:t>生命密码</a:t>
            </a:r>
            <a:r>
              <a:rPr 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"</a:t>
            </a: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吗</a:t>
            </a:r>
            <a:endParaRPr lang="zh-CN" altLang="en-US"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666750" y="3275965"/>
            <a:ext cx="3048000" cy="9525"/>
          </a:xfrm>
          <a:prstGeom prst="rect">
            <a:avLst/>
          </a:prstGeom>
          <a:solidFill>
            <a:schemeClr val="accent1">
              <a:lumMod val="38990"/>
              <a:lumOff val="6101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66750" y="3499990"/>
            <a:ext cx="54292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4A6E8E"/>
                </a:solidFill>
                <a:cs typeface="+mn-lt"/>
              </a:rPr>
              <a:t>AlphaGenome 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等人工智能模型能够预测</a:t>
            </a:r>
            <a:r>
              <a:rPr lang="en-US" altLang="zh-CN" sz="1500">
                <a:solidFill>
                  <a:srgbClr val="4A6E8E"/>
                </a:solidFill>
                <a:cs typeface="+mn-lt"/>
              </a:rPr>
              <a:t> DNA 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变异的影响，是否就意味着它们读懂了</a:t>
            </a:r>
            <a:r>
              <a:rPr lang="en-US" altLang="zh-CN" sz="1500">
                <a:solidFill>
                  <a:srgbClr val="4A6E8E"/>
                </a:solidFill>
                <a:cs typeface="+mn-lt"/>
              </a:rPr>
              <a:t>"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生命密码</a:t>
            </a:r>
            <a:r>
              <a:rPr lang="en-US" altLang="zh-CN" sz="1500">
                <a:solidFill>
                  <a:srgbClr val="4A6E8E"/>
                </a:solidFill>
                <a:cs typeface="+mn-lt"/>
              </a:rPr>
              <a:t>"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？怎样区分预测准确与理解生物学机制？</a:t>
            </a:r>
            <a:endParaRPr lang="zh-CN" altLang="en-US"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666750" y="4642037"/>
            <a:ext cx="5429250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600">
                <a:solidFill>
                  <a:srgbClr val="6E8AA8"/>
                </a:solidFill>
                <a:cs typeface="+mn-lt"/>
              </a:rPr>
              <a:t>组员：胡钰</a:t>
            </a:r>
            <a:r>
              <a:rPr lang="zh-CN" altLang="en-US" sz="1600">
                <a:solidFill>
                  <a:srgbClr val="6E8AA8"/>
                </a:solidFill>
                <a:cs typeface="+mn-lt"/>
              </a:rPr>
              <a:t>洋</a:t>
            </a:r>
            <a:r>
              <a:rPr sz="1600">
                <a:solidFill>
                  <a:srgbClr val="6E8AA8"/>
                </a:solidFill>
                <a:cs typeface="+mn-lt"/>
              </a:rPr>
              <a:t>，顾原弘，魏学超，徐君颐，王浏阳</a:t>
            </a:r>
            <a:endParaRPr sz="1600">
              <a:solidFill>
                <a:srgbClr val="6E8AA8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lang="en-US" sz="1600">
                <a:solidFill>
                  <a:srgbClr val="6E8AA8"/>
                </a:solidFill>
                <a:cs typeface="+mn-lt"/>
              </a:rPr>
              <a:t>PPT</a:t>
            </a:r>
            <a:r>
              <a:rPr lang="zh-CN" altLang="en-US" sz="1600">
                <a:solidFill>
                  <a:srgbClr val="6E8AA8"/>
                </a:solidFill>
                <a:cs typeface="+mn-lt"/>
              </a:rPr>
              <a:t>制作：王浏阳</a:t>
            </a:r>
            <a:endParaRPr lang="zh-CN" altLang="en-US" sz="1600">
              <a:solidFill>
                <a:srgbClr val="6E8AA8"/>
              </a:solidFill>
              <a:cs typeface="+mn-lt"/>
            </a:endParaRPr>
          </a:p>
        </p:txBody>
      </p:sp>
      <p:sp>
        <p:nvSpPr>
          <p:cNvPr id="3" name="矩形 2"/>
          <p:cNvSpPr/>
          <p:nvPr>
            <p:custDataLst>
              <p:tags r:id="rId6"/>
            </p:custDataLst>
          </p:nvPr>
        </p:nvSpPr>
        <p:spPr>
          <a:xfrm rot="2700000">
            <a:off x="666115" y="1716405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1945005" y="173545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501015"/>
            <a:ext cx="2667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D3E5E"/>
                </a:solidFill>
                <a:latin typeface="MiSans Demibold" panose="00000700000000000000" charset="-122"/>
                <a:ea typeface="MiSans Demibold" panose="00000700000000000000" charset="-122"/>
              </a:rPr>
              <a:t>分享导览</a:t>
            </a:r>
            <a:endParaRPr sz="4200" b="1">
              <a:solidFill>
                <a:srgbClr val="1D3E5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895600" y="857250"/>
            <a:ext cx="1905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37845" y="2261870"/>
            <a:ext cx="2063115" cy="3228975"/>
          </a:xfrm>
          <a:custGeom>
            <a:avLst/>
            <a:gdLst>
              <a:gd name="sw" fmla="*/ 1 w 3249"/>
              <a:gd name="sh" fmla="*/ 1 h 5085"/>
              <a:gd name="mins" fmla="min sw sh"/>
              <a:gd name="dsw" fmla="+- 0 sw mins"/>
              <a:gd name="dsh" fmla="+- 0 sh mins"/>
              <a:gd name="p0x0" fmla="*/ 180 w 3249"/>
              <a:gd name="p0y0" fmla="*/ 0 h 5085"/>
              <a:gd name="p0x1" fmla="*/ 3069 w 3249"/>
              <a:gd name="p0y1" fmla="*/ 0 h 5085"/>
              <a:gd name="p0x2" fmla="*/ 3168 w 3249"/>
              <a:gd name="p0y2" fmla="*/ 0 h 5085"/>
              <a:gd name="p0x3" fmla="*/ 3249 w 3249"/>
              <a:gd name="p0y3" fmla="*/ 80 h 5085"/>
              <a:gd name="p0x4" fmla="*/ 3249 w 3249"/>
              <a:gd name="p0y4" fmla="*/ 180 h 5085"/>
              <a:gd name="p0x5" fmla="*/ 3249 w 3249"/>
              <a:gd name="p0y5" fmla="*/ 4905 h 5085"/>
              <a:gd name="p0x6" fmla="*/ 3249 w 3249"/>
              <a:gd name="p0y6" fmla="*/ 5004 h 5085"/>
              <a:gd name="p0x7" fmla="*/ 3168 w 3249"/>
              <a:gd name="p0y7" fmla="*/ 5085 h 5085"/>
              <a:gd name="p0x8" fmla="*/ 3069 w 3249"/>
              <a:gd name="p0y8" fmla="*/ 5085 h 5085"/>
              <a:gd name="p0x9" fmla="*/ 180 w 3249"/>
              <a:gd name="p0y9" fmla="*/ 5085 h 5085"/>
              <a:gd name="p0x10" fmla="*/ 80 w 3249"/>
              <a:gd name="p0y10" fmla="*/ 5085 h 5085"/>
              <a:gd name="p0x11" fmla="*/ 0 w 3249"/>
              <a:gd name="p0y11" fmla="*/ 5004 h 5085"/>
              <a:gd name="p0x12" fmla="*/ 0 w 3249"/>
              <a:gd name="p0y12" fmla="*/ 4905 h 5085"/>
              <a:gd name="p0x13" fmla="*/ 0 w 3249"/>
              <a:gd name="p0y13" fmla="*/ 180 h 5085"/>
              <a:gd name="p0x14" fmla="*/ 0 w 3249"/>
              <a:gd name="p0y14" fmla="*/ 80 h 5085"/>
              <a:gd name="p0x15" fmla="*/ 80 w 3249"/>
              <a:gd name="p0y15" fmla="*/ 0 h 5085"/>
              <a:gd name="p0x16" fmla="*/ 180 w 3249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95325" y="3036570"/>
            <a:ext cx="1748809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1B7FCE"/>
                </a:solidFill>
                <a:latin typeface="MiSans Demibold" panose="00000700000000000000" charset="-122"/>
                <a:ea typeface="MiSans Demibold" panose="00000700000000000000" charset="-122"/>
              </a:rPr>
              <a:t>01</a:t>
            </a:r>
            <a:endParaRPr sz="3600" b="1">
              <a:solidFill>
                <a:srgbClr val="1B7FC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695325" y="3790950"/>
            <a:ext cx="1748790" cy="9525"/>
          </a:xfrm>
          <a:prstGeom prst="rect">
            <a:avLst/>
          </a:prstGeom>
          <a:solidFill>
            <a:schemeClr val="accent1">
              <a:lumMod val="20577"/>
              <a:lumOff val="7942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695325" y="3936683"/>
            <a:ext cx="174880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机制</a:t>
            </a:r>
            <a:r>
              <a:rPr sz="2100" b="1">
                <a:solidFill>
                  <a:srgbClr val="1D3E5E"/>
                </a:solidFill>
                <a:latin typeface="MiSans Demibold" panose="00000700000000000000" charset="-122"/>
                <a:ea typeface="MiSans Demibold" panose="00000700000000000000" charset="-122"/>
              </a:rPr>
              <a:t>分享</a:t>
            </a:r>
            <a:endParaRPr sz="2100" b="1">
              <a:solidFill>
                <a:srgbClr val="1D3E5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695325" y="4310539"/>
            <a:ext cx="1748809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A6E8E"/>
                </a:solidFill>
                <a:latin typeface="MiSans Demibold" panose="00000700000000000000" charset="-122"/>
                <a:ea typeface="MiSans Demibold" panose="00000700000000000000" charset="-122"/>
              </a:rPr>
              <a:t>胡钰</a:t>
            </a:r>
            <a:r>
              <a:rPr lang="zh-CN" altLang="en-US" sz="1350">
                <a:solidFill>
                  <a:srgbClr val="4A6E8E"/>
                </a:solidFill>
                <a:latin typeface="MiSans Demibold" panose="00000700000000000000" charset="-122"/>
                <a:ea typeface="MiSans Demibold" panose="00000700000000000000" charset="-122"/>
              </a:rPr>
              <a:t>洋</a:t>
            </a:r>
            <a:endParaRPr sz="1350">
              <a:solidFill>
                <a:srgbClr val="4A6E8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2800985" y="2261870"/>
            <a:ext cx="2063115" cy="3228975"/>
          </a:xfrm>
          <a:custGeom>
            <a:avLst/>
            <a:gdLst>
              <a:gd name="sw" fmla="*/ 1 w 3249"/>
              <a:gd name="sh" fmla="*/ 1 h 5085"/>
              <a:gd name="mins" fmla="min sw sh"/>
              <a:gd name="dsw" fmla="+- 0 sw mins"/>
              <a:gd name="dsh" fmla="+- 0 sh mins"/>
              <a:gd name="p0x0" fmla="*/ 180 w 3249"/>
              <a:gd name="p0y0" fmla="*/ 0 h 5085"/>
              <a:gd name="p0x1" fmla="*/ 3069 w 3249"/>
              <a:gd name="p0y1" fmla="*/ 0 h 5085"/>
              <a:gd name="p0x2" fmla="*/ 3168 w 3249"/>
              <a:gd name="p0y2" fmla="*/ 0 h 5085"/>
              <a:gd name="p0x3" fmla="*/ 3249 w 3249"/>
              <a:gd name="p0y3" fmla="*/ 80 h 5085"/>
              <a:gd name="p0x4" fmla="*/ 3249 w 3249"/>
              <a:gd name="p0y4" fmla="*/ 180 h 5085"/>
              <a:gd name="p0x5" fmla="*/ 3249 w 3249"/>
              <a:gd name="p0y5" fmla="*/ 4905 h 5085"/>
              <a:gd name="p0x6" fmla="*/ 3249 w 3249"/>
              <a:gd name="p0y6" fmla="*/ 5004 h 5085"/>
              <a:gd name="p0x7" fmla="*/ 3168 w 3249"/>
              <a:gd name="p0y7" fmla="*/ 5085 h 5085"/>
              <a:gd name="p0x8" fmla="*/ 3069 w 3249"/>
              <a:gd name="p0y8" fmla="*/ 5085 h 5085"/>
              <a:gd name="p0x9" fmla="*/ 180 w 3249"/>
              <a:gd name="p0y9" fmla="*/ 5085 h 5085"/>
              <a:gd name="p0x10" fmla="*/ 80 w 3249"/>
              <a:gd name="p0y10" fmla="*/ 5085 h 5085"/>
              <a:gd name="p0x11" fmla="*/ 0 w 3249"/>
              <a:gd name="p0y11" fmla="*/ 5004 h 5085"/>
              <a:gd name="p0x12" fmla="*/ 0 w 3249"/>
              <a:gd name="p0y12" fmla="*/ 4905 h 5085"/>
              <a:gd name="p0x13" fmla="*/ 0 w 3249"/>
              <a:gd name="p0y13" fmla="*/ 180 h 5085"/>
              <a:gd name="p0x14" fmla="*/ 0 w 3249"/>
              <a:gd name="p0y14" fmla="*/ 80 h 5085"/>
              <a:gd name="p0x15" fmla="*/ 80 w 3249"/>
              <a:gd name="p0y15" fmla="*/ 0 h 5085"/>
              <a:gd name="p0x16" fmla="*/ 180 w 3249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2958484" y="3036570"/>
            <a:ext cx="1748809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1B7FCE"/>
                </a:solidFill>
                <a:latin typeface="MiSans Demibold" panose="00000700000000000000" charset="-122"/>
                <a:ea typeface="MiSans Demibold" panose="00000700000000000000" charset="-122"/>
              </a:rPr>
              <a:t>02</a:t>
            </a:r>
            <a:endParaRPr sz="3600" b="1">
              <a:solidFill>
                <a:srgbClr val="1B7FC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3" name="矩形 12"/>
          <p:cNvSpPr/>
          <p:nvPr>
            <p:custDataLst>
              <p:tags r:id="rId10"/>
            </p:custDataLst>
          </p:nvPr>
        </p:nvSpPr>
        <p:spPr>
          <a:xfrm>
            <a:off x="2958465" y="3790950"/>
            <a:ext cx="1748790" cy="9525"/>
          </a:xfrm>
          <a:prstGeom prst="rect">
            <a:avLst/>
          </a:prstGeom>
          <a:solidFill>
            <a:schemeClr val="accent1">
              <a:lumMod val="20577"/>
              <a:lumOff val="7942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2958484" y="3936683"/>
            <a:ext cx="174880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数据</a:t>
            </a:r>
            <a:r>
              <a:rPr sz="2100" b="1">
                <a:solidFill>
                  <a:srgbClr val="1D3E5E"/>
                </a:solidFill>
                <a:latin typeface="MiSans Demibold" panose="00000700000000000000" charset="-122"/>
                <a:ea typeface="MiSans Demibold" panose="00000700000000000000" charset="-122"/>
              </a:rPr>
              <a:t>解读</a:t>
            </a:r>
            <a:endParaRPr sz="2100" b="1">
              <a:solidFill>
                <a:srgbClr val="1D3E5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2958484" y="4310539"/>
            <a:ext cx="1748809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A6E8E"/>
                </a:solidFill>
                <a:latin typeface="MiSans Demibold" panose="00000700000000000000" charset="-122"/>
                <a:ea typeface="MiSans Demibold" panose="00000700000000000000" charset="-122"/>
              </a:rPr>
              <a:t>顾原弘</a:t>
            </a:r>
            <a:endParaRPr sz="1350">
              <a:solidFill>
                <a:srgbClr val="4A6E8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>
            <a:off x="5064125" y="2261870"/>
            <a:ext cx="2063115" cy="3228975"/>
          </a:xfrm>
          <a:custGeom>
            <a:avLst/>
            <a:gdLst>
              <a:gd name="sw" fmla="*/ 1 w 3249"/>
              <a:gd name="sh" fmla="*/ 1 h 5085"/>
              <a:gd name="mins" fmla="min sw sh"/>
              <a:gd name="dsw" fmla="+- 0 sw mins"/>
              <a:gd name="dsh" fmla="+- 0 sh mins"/>
              <a:gd name="p0x0" fmla="*/ 180 w 3249"/>
              <a:gd name="p0y0" fmla="*/ 0 h 5085"/>
              <a:gd name="p0x1" fmla="*/ 3069 w 3249"/>
              <a:gd name="p0y1" fmla="*/ 0 h 5085"/>
              <a:gd name="p0x2" fmla="*/ 3168 w 3249"/>
              <a:gd name="p0y2" fmla="*/ 0 h 5085"/>
              <a:gd name="p0x3" fmla="*/ 3249 w 3249"/>
              <a:gd name="p0y3" fmla="*/ 80 h 5085"/>
              <a:gd name="p0x4" fmla="*/ 3249 w 3249"/>
              <a:gd name="p0y4" fmla="*/ 180 h 5085"/>
              <a:gd name="p0x5" fmla="*/ 3249 w 3249"/>
              <a:gd name="p0y5" fmla="*/ 4905 h 5085"/>
              <a:gd name="p0x6" fmla="*/ 3249 w 3249"/>
              <a:gd name="p0y6" fmla="*/ 5004 h 5085"/>
              <a:gd name="p0x7" fmla="*/ 3168 w 3249"/>
              <a:gd name="p0y7" fmla="*/ 5085 h 5085"/>
              <a:gd name="p0x8" fmla="*/ 3069 w 3249"/>
              <a:gd name="p0y8" fmla="*/ 5085 h 5085"/>
              <a:gd name="p0x9" fmla="*/ 180 w 3249"/>
              <a:gd name="p0y9" fmla="*/ 5085 h 5085"/>
              <a:gd name="p0x10" fmla="*/ 80 w 3249"/>
              <a:gd name="p0y10" fmla="*/ 5085 h 5085"/>
              <a:gd name="p0x11" fmla="*/ 0 w 3249"/>
              <a:gd name="p0y11" fmla="*/ 5004 h 5085"/>
              <a:gd name="p0x12" fmla="*/ 0 w 3249"/>
              <a:gd name="p0y12" fmla="*/ 4905 h 5085"/>
              <a:gd name="p0x13" fmla="*/ 0 w 3249"/>
              <a:gd name="p0y13" fmla="*/ 180 h 5085"/>
              <a:gd name="p0x14" fmla="*/ 0 w 3249"/>
              <a:gd name="p0y14" fmla="*/ 80 h 5085"/>
              <a:gd name="p0x15" fmla="*/ 80 w 3249"/>
              <a:gd name="p0y15" fmla="*/ 0 h 5085"/>
              <a:gd name="p0x16" fmla="*/ 180 w 3249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5221634" y="3036570"/>
            <a:ext cx="1748809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1B7FCE"/>
                </a:solidFill>
                <a:latin typeface="MiSans Demibold" panose="00000700000000000000" charset="-122"/>
                <a:ea typeface="MiSans Demibold" panose="00000700000000000000" charset="-122"/>
              </a:rPr>
              <a:t>03</a:t>
            </a:r>
            <a:endParaRPr sz="3600" b="1">
              <a:solidFill>
                <a:srgbClr val="1B7FC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9" name="矩形 18"/>
          <p:cNvSpPr/>
          <p:nvPr>
            <p:custDataLst>
              <p:tags r:id="rId15"/>
            </p:custDataLst>
          </p:nvPr>
        </p:nvSpPr>
        <p:spPr>
          <a:xfrm>
            <a:off x="5221605" y="3790950"/>
            <a:ext cx="1748790" cy="9525"/>
          </a:xfrm>
          <a:prstGeom prst="rect">
            <a:avLst/>
          </a:prstGeom>
          <a:solidFill>
            <a:schemeClr val="accent1">
              <a:lumMod val="20577"/>
              <a:lumOff val="7942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5221634" y="3936683"/>
            <a:ext cx="174880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定义</a:t>
            </a:r>
            <a:r>
              <a:rPr lang="en-US" sz="2100" b="1">
                <a:solidFill>
                  <a:srgbClr val="1D3E5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"</a:t>
            </a:r>
            <a:r>
              <a:rPr lang="zh-CN" altLang="en-US" sz="2100" b="1">
                <a:solidFill>
                  <a:srgbClr val="1D3E5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理解</a:t>
            </a:r>
            <a:r>
              <a:rPr lang="en-US" altLang="zh-CN" sz="2100" b="1">
                <a:solidFill>
                  <a:srgbClr val="1D3E5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"</a:t>
            </a:r>
            <a:endParaRPr lang="en-US" altLang="zh-CN" sz="2100" b="1">
              <a:solidFill>
                <a:srgbClr val="1D3E5E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5221634" y="4310539"/>
            <a:ext cx="1748809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A6E8E"/>
                </a:solidFill>
                <a:latin typeface="MiSans Demibold" panose="00000700000000000000" charset="-122"/>
                <a:ea typeface="MiSans Demibold" panose="00000700000000000000" charset="-122"/>
              </a:rPr>
              <a:t>魏学超</a:t>
            </a:r>
            <a:endParaRPr sz="1350">
              <a:solidFill>
                <a:srgbClr val="4A6E8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18"/>
            </p:custDataLst>
          </p:nvPr>
        </p:nvSpPr>
        <p:spPr>
          <a:xfrm>
            <a:off x="7327265" y="2261870"/>
            <a:ext cx="2063115" cy="3228975"/>
          </a:xfrm>
          <a:custGeom>
            <a:avLst/>
            <a:gdLst>
              <a:gd name="sw" fmla="*/ 1 w 3249"/>
              <a:gd name="sh" fmla="*/ 1 h 5085"/>
              <a:gd name="mins" fmla="min sw sh"/>
              <a:gd name="dsw" fmla="+- 0 sw mins"/>
              <a:gd name="dsh" fmla="+- 0 sh mins"/>
              <a:gd name="p0x0" fmla="*/ 180 w 3249"/>
              <a:gd name="p0y0" fmla="*/ 0 h 5085"/>
              <a:gd name="p0x1" fmla="*/ 3069 w 3249"/>
              <a:gd name="p0y1" fmla="*/ 0 h 5085"/>
              <a:gd name="p0x2" fmla="*/ 3168 w 3249"/>
              <a:gd name="p0y2" fmla="*/ 0 h 5085"/>
              <a:gd name="p0x3" fmla="*/ 3249 w 3249"/>
              <a:gd name="p0y3" fmla="*/ 80 h 5085"/>
              <a:gd name="p0x4" fmla="*/ 3249 w 3249"/>
              <a:gd name="p0y4" fmla="*/ 180 h 5085"/>
              <a:gd name="p0x5" fmla="*/ 3249 w 3249"/>
              <a:gd name="p0y5" fmla="*/ 4905 h 5085"/>
              <a:gd name="p0x6" fmla="*/ 3249 w 3249"/>
              <a:gd name="p0y6" fmla="*/ 5004 h 5085"/>
              <a:gd name="p0x7" fmla="*/ 3168 w 3249"/>
              <a:gd name="p0y7" fmla="*/ 5085 h 5085"/>
              <a:gd name="p0x8" fmla="*/ 3069 w 3249"/>
              <a:gd name="p0y8" fmla="*/ 5085 h 5085"/>
              <a:gd name="p0x9" fmla="*/ 180 w 3249"/>
              <a:gd name="p0y9" fmla="*/ 5085 h 5085"/>
              <a:gd name="p0x10" fmla="*/ 80 w 3249"/>
              <a:gd name="p0y10" fmla="*/ 5085 h 5085"/>
              <a:gd name="p0x11" fmla="*/ 0 w 3249"/>
              <a:gd name="p0y11" fmla="*/ 5004 h 5085"/>
              <a:gd name="p0x12" fmla="*/ 0 w 3249"/>
              <a:gd name="p0y12" fmla="*/ 4905 h 5085"/>
              <a:gd name="p0x13" fmla="*/ 0 w 3249"/>
              <a:gd name="p0y13" fmla="*/ 180 h 5085"/>
              <a:gd name="p0x14" fmla="*/ 0 w 3249"/>
              <a:gd name="p0y14" fmla="*/ 80 h 5085"/>
              <a:gd name="p0x15" fmla="*/ 80 w 3249"/>
              <a:gd name="p0y15" fmla="*/ 0 h 5085"/>
              <a:gd name="p0x16" fmla="*/ 180 w 3249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19"/>
            </p:custDataLst>
          </p:nvPr>
        </p:nvSpPr>
        <p:spPr>
          <a:xfrm>
            <a:off x="7484793" y="3036570"/>
            <a:ext cx="1748809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1B7FCE"/>
                </a:solidFill>
                <a:latin typeface="MiSans Demibold" panose="00000700000000000000" charset="-122"/>
                <a:ea typeface="MiSans Demibold" panose="00000700000000000000" charset="-122"/>
              </a:rPr>
              <a:t>04</a:t>
            </a:r>
            <a:endParaRPr sz="3600" b="1">
              <a:solidFill>
                <a:srgbClr val="1B7FC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5" name="矩形 24"/>
          <p:cNvSpPr/>
          <p:nvPr>
            <p:custDataLst>
              <p:tags r:id="rId20"/>
            </p:custDataLst>
          </p:nvPr>
        </p:nvSpPr>
        <p:spPr>
          <a:xfrm>
            <a:off x="7484745" y="3790950"/>
            <a:ext cx="1748790" cy="9525"/>
          </a:xfrm>
          <a:prstGeom prst="rect">
            <a:avLst/>
          </a:prstGeom>
          <a:solidFill>
            <a:schemeClr val="accent1">
              <a:lumMod val="20577"/>
              <a:lumOff val="7942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1"/>
            </p:custDataLst>
          </p:nvPr>
        </p:nvSpPr>
        <p:spPr>
          <a:xfrm>
            <a:off x="7484793" y="3936683"/>
            <a:ext cx="1748809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区别</a:t>
            </a:r>
            <a:r>
              <a:rPr lang="en-US" sz="2100" b="1">
                <a:solidFill>
                  <a:srgbClr val="1D3E5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"</a:t>
            </a:r>
            <a:r>
              <a:rPr lang="zh-CN" altLang="en-US" sz="2100" b="1">
                <a:solidFill>
                  <a:srgbClr val="1D3E5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预测准确</a:t>
            </a:r>
            <a:r>
              <a:rPr lang="en-US" altLang="zh-CN" sz="2100" b="1">
                <a:solidFill>
                  <a:srgbClr val="1D3E5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"</a:t>
            </a:r>
            <a:r>
              <a:rPr lang="zh-CN" altLang="en-US" sz="2100" b="1">
                <a:solidFill>
                  <a:srgbClr val="1D3E5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与</a:t>
            </a:r>
            <a:r>
              <a:rPr lang="en-US" altLang="zh-CN" sz="2100" b="1">
                <a:solidFill>
                  <a:srgbClr val="1D3E5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"</a:t>
            </a:r>
            <a:r>
              <a:rPr lang="zh-CN" altLang="en-US" sz="2100" b="1">
                <a:solidFill>
                  <a:srgbClr val="1D3E5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理解</a:t>
            </a:r>
            <a:r>
              <a:rPr lang="en-US" altLang="zh-CN" sz="2100" b="1">
                <a:solidFill>
                  <a:srgbClr val="1D3E5E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"</a:t>
            </a:r>
            <a:endParaRPr lang="en-US" altLang="zh-CN" sz="2100" b="1">
              <a:solidFill>
                <a:srgbClr val="1D3E5E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2"/>
            </p:custDataLst>
          </p:nvPr>
        </p:nvSpPr>
        <p:spPr>
          <a:xfrm>
            <a:off x="7484793" y="4643914"/>
            <a:ext cx="1748809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A6E8E"/>
                </a:solidFill>
                <a:latin typeface="MiSans Demibold" panose="00000700000000000000" charset="-122"/>
                <a:ea typeface="MiSans Demibold" panose="00000700000000000000" charset="-122"/>
              </a:rPr>
              <a:t>徐君颐</a:t>
            </a:r>
            <a:endParaRPr sz="1350">
              <a:solidFill>
                <a:srgbClr val="4A6E8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3"/>
            </p:custDataLst>
          </p:nvPr>
        </p:nvSpPr>
        <p:spPr>
          <a:xfrm>
            <a:off x="9590405" y="2261870"/>
            <a:ext cx="2063115" cy="3228975"/>
          </a:xfrm>
          <a:custGeom>
            <a:avLst/>
            <a:gdLst>
              <a:gd name="sw" fmla="*/ 1 w 3249"/>
              <a:gd name="sh" fmla="*/ 1 h 5085"/>
              <a:gd name="mins" fmla="min sw sh"/>
              <a:gd name="dsw" fmla="+- 0 sw mins"/>
              <a:gd name="dsh" fmla="+- 0 sh mins"/>
              <a:gd name="p0x0" fmla="*/ 180 w 3249"/>
              <a:gd name="p0y0" fmla="*/ 0 h 5085"/>
              <a:gd name="p0x1" fmla="*/ 3069 w 3249"/>
              <a:gd name="p0y1" fmla="*/ 0 h 5085"/>
              <a:gd name="p0x2" fmla="*/ 3168 w 3249"/>
              <a:gd name="p0y2" fmla="*/ 0 h 5085"/>
              <a:gd name="p0x3" fmla="*/ 3249 w 3249"/>
              <a:gd name="p0y3" fmla="*/ 80 h 5085"/>
              <a:gd name="p0x4" fmla="*/ 3249 w 3249"/>
              <a:gd name="p0y4" fmla="*/ 180 h 5085"/>
              <a:gd name="p0x5" fmla="*/ 3249 w 3249"/>
              <a:gd name="p0y5" fmla="*/ 4905 h 5085"/>
              <a:gd name="p0x6" fmla="*/ 3249 w 3249"/>
              <a:gd name="p0y6" fmla="*/ 5004 h 5085"/>
              <a:gd name="p0x7" fmla="*/ 3168 w 3249"/>
              <a:gd name="p0y7" fmla="*/ 5085 h 5085"/>
              <a:gd name="p0x8" fmla="*/ 3069 w 3249"/>
              <a:gd name="p0y8" fmla="*/ 5085 h 5085"/>
              <a:gd name="p0x9" fmla="*/ 180 w 3249"/>
              <a:gd name="p0y9" fmla="*/ 5085 h 5085"/>
              <a:gd name="p0x10" fmla="*/ 80 w 3249"/>
              <a:gd name="p0y10" fmla="*/ 5085 h 5085"/>
              <a:gd name="p0x11" fmla="*/ 0 w 3249"/>
              <a:gd name="p0y11" fmla="*/ 5004 h 5085"/>
              <a:gd name="p0x12" fmla="*/ 0 w 3249"/>
              <a:gd name="p0y12" fmla="*/ 4905 h 5085"/>
              <a:gd name="p0x13" fmla="*/ 0 w 3249"/>
              <a:gd name="p0y13" fmla="*/ 180 h 5085"/>
              <a:gd name="p0x14" fmla="*/ 0 w 3249"/>
              <a:gd name="p0y14" fmla="*/ 80 h 5085"/>
              <a:gd name="p0x15" fmla="*/ 80 w 3249"/>
              <a:gd name="p0y15" fmla="*/ 0 h 5085"/>
              <a:gd name="p0x16" fmla="*/ 180 w 3249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4"/>
            </p:custDataLst>
          </p:nvPr>
        </p:nvSpPr>
        <p:spPr>
          <a:xfrm>
            <a:off x="9747942" y="3036570"/>
            <a:ext cx="1748809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1B7FCE"/>
                </a:solidFill>
                <a:latin typeface="MiSans Demibold" panose="00000700000000000000" charset="-122"/>
                <a:ea typeface="MiSans Demibold" panose="00000700000000000000" charset="-122"/>
              </a:rPr>
              <a:t>05</a:t>
            </a:r>
            <a:endParaRPr sz="3600" b="1">
              <a:solidFill>
                <a:srgbClr val="1B7FC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1" name="矩形 30"/>
          <p:cNvSpPr/>
          <p:nvPr>
            <p:custDataLst>
              <p:tags r:id="rId25"/>
            </p:custDataLst>
          </p:nvPr>
        </p:nvSpPr>
        <p:spPr>
          <a:xfrm>
            <a:off x="9747885" y="3790950"/>
            <a:ext cx="1748790" cy="9525"/>
          </a:xfrm>
          <a:prstGeom prst="rect">
            <a:avLst/>
          </a:prstGeom>
          <a:solidFill>
            <a:schemeClr val="accent1">
              <a:lumMod val="20577"/>
              <a:lumOff val="7942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6"/>
            </p:custDataLst>
          </p:nvPr>
        </p:nvSpPr>
        <p:spPr>
          <a:xfrm>
            <a:off x="9747942" y="3936683"/>
            <a:ext cx="8001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结论</a:t>
            </a:r>
            <a:endParaRPr sz="2100" b="1">
              <a:solidFill>
                <a:schemeClr val="accent1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7"/>
            </p:custDataLst>
          </p:nvPr>
        </p:nvSpPr>
        <p:spPr>
          <a:xfrm>
            <a:off x="9747942" y="4310539"/>
            <a:ext cx="1748809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A6E8E"/>
                </a:solidFill>
                <a:latin typeface="MiSans Demibold" panose="00000700000000000000" charset="-122"/>
                <a:ea typeface="MiSans Demibold" panose="00000700000000000000" charset="-122"/>
              </a:rPr>
              <a:t>王浏阳</a:t>
            </a:r>
            <a:endParaRPr sz="1350">
              <a:solidFill>
                <a:srgbClr val="4A6E8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09625" y="2817019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1B7FCE"/>
                </a:solidFill>
                <a:cs typeface="+mn-lt"/>
              </a:rPr>
              <a:t>CHAPTER</a:t>
            </a:r>
            <a:endParaRPr sz="1050" b="1" spc="315">
              <a:solidFill>
                <a:srgbClr val="1B7FCE"/>
              </a:solidFill>
              <a:cs typeface="+mn-lt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66750" y="3227546"/>
            <a:ext cx="2667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机制分享</a:t>
            </a:r>
            <a:endParaRPr sz="42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66750" y="4231005"/>
            <a:ext cx="5705475" cy="9525"/>
          </a:xfrm>
          <a:prstGeom prst="rect">
            <a:avLst/>
          </a:prstGeom>
          <a:solidFill>
            <a:schemeClr val="accent1">
              <a:lumMod val="38990"/>
              <a:lumOff val="6101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666750" y="4531519"/>
            <a:ext cx="33819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 spc="30">
                <a:solidFill>
                  <a:srgbClr val="4A6E8E"/>
                </a:solidFill>
                <a:cs typeface="+mn-lt"/>
              </a:rPr>
              <a:t>AlphaGenome </a:t>
            </a:r>
            <a:r>
              <a:rPr lang="zh-CN" altLang="en-US" sz="1500" spc="30">
                <a:solidFill>
                  <a:srgbClr val="4A6E8E"/>
                </a:solidFill>
                <a:cs typeface="+mn-lt"/>
              </a:rPr>
              <a:t>怎样“读”</a:t>
            </a:r>
            <a:r>
              <a:rPr lang="en-US" altLang="zh-CN" sz="1500" spc="30">
                <a:solidFill>
                  <a:srgbClr val="4A6E8E"/>
                </a:solidFill>
                <a:cs typeface="+mn-lt"/>
              </a:rPr>
              <a:t>DNA</a:t>
            </a:r>
            <a:r>
              <a:rPr lang="zh-CN" altLang="en-US" sz="1500" spc="30">
                <a:solidFill>
                  <a:srgbClr val="4A6E8E"/>
                </a:solidFill>
                <a:cs typeface="+mn-lt"/>
              </a:rPr>
              <a:t>？</a:t>
            </a:r>
            <a:endParaRPr lang="zh-CN" altLang="en-US" sz="1500" spc="30">
              <a:solidFill>
                <a:srgbClr val="4A6E8E"/>
              </a:solidFill>
              <a:cs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666750" y="5078730"/>
            <a:ext cx="770890" cy="314325"/>
          </a:xfrm>
          <a:custGeom>
            <a:avLst/>
            <a:gdLst>
              <a:gd name="sw" fmla="*/ 1 w 1214"/>
              <a:gd name="sh" fmla="*/ 1 h 495"/>
              <a:gd name="mins" fmla="min sw sh"/>
              <a:gd name="dsw" fmla="+- 0 sw mins"/>
              <a:gd name="dsh" fmla="+- 0 sh mins"/>
              <a:gd name="p0x0" fmla="*/ 247 w 1214"/>
              <a:gd name="p0y0" fmla="*/ 0 h 495"/>
              <a:gd name="p0x1" fmla="*/ 966 w 1214"/>
              <a:gd name="p0y1" fmla="*/ 0 h 495"/>
              <a:gd name="p0x2" fmla="*/ 1103 w 1214"/>
              <a:gd name="p0y2" fmla="*/ 0 h 495"/>
              <a:gd name="p0x3" fmla="*/ 1214 w 1214"/>
              <a:gd name="p0y3" fmla="*/ 110 h 495"/>
              <a:gd name="p0x4" fmla="*/ 1214 w 1214"/>
              <a:gd name="p0y4" fmla="*/ 247 h 495"/>
              <a:gd name="p0x5" fmla="*/ 1214 w 1214"/>
              <a:gd name="p0y5" fmla="*/ 384 h 495"/>
              <a:gd name="p0x6" fmla="*/ 1103 w 1214"/>
              <a:gd name="p0y6" fmla="*/ 495 h 495"/>
              <a:gd name="p0x7" fmla="*/ 966 w 1214"/>
              <a:gd name="p0y7" fmla="*/ 495 h 495"/>
              <a:gd name="p0x8" fmla="*/ 247 w 1214"/>
              <a:gd name="p0y8" fmla="*/ 495 h 495"/>
              <a:gd name="p0x9" fmla="*/ 110 w 1214"/>
              <a:gd name="p0y9" fmla="*/ 495 h 495"/>
              <a:gd name="p0x10" fmla="*/ 0 w 1214"/>
              <a:gd name="p0y10" fmla="*/ 384 h 495"/>
              <a:gd name="p0x11" fmla="*/ 0 w 1214"/>
              <a:gd name="p0y11" fmla="*/ 247 h 495"/>
              <a:gd name="p0x12" fmla="*/ 0 w 1214"/>
              <a:gd name="p0y12" fmla="*/ 110 h 495"/>
              <a:gd name="p0x13" fmla="*/ 110 w 1214"/>
              <a:gd name="p0y13" fmla="*/ 0 h 495"/>
              <a:gd name="p0x14" fmla="*/ 247 w 1214"/>
              <a:gd name="p0y14" fmla="*/ 0 h 4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819150" y="5136356"/>
            <a:ext cx="61875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24">
                <a:solidFill>
                  <a:srgbClr val="4A6E8E"/>
                </a:solidFill>
                <a:cs typeface="+mn-lt"/>
              </a:rPr>
              <a:t>主讲人</a:t>
            </a:r>
            <a:endParaRPr sz="1200" spc="24">
              <a:solidFill>
                <a:srgbClr val="4A6E8E"/>
              </a:solidFill>
              <a:cs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1552204" y="5136356"/>
            <a:ext cx="61875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24">
                <a:solidFill>
                  <a:srgbClr val="4A6E8E"/>
                </a:solidFill>
                <a:cs typeface="+mn-lt"/>
              </a:rPr>
              <a:t>胡钰</a:t>
            </a:r>
            <a:r>
              <a:rPr lang="zh-CN" altLang="en-US" sz="1200" spc="24">
                <a:solidFill>
                  <a:srgbClr val="4A6E8E"/>
                </a:solidFill>
                <a:cs typeface="+mn-lt"/>
              </a:rPr>
              <a:t>洋</a:t>
            </a:r>
            <a:endParaRPr sz="1200" spc="24">
              <a:solidFill>
                <a:srgbClr val="4A6E8E"/>
              </a:solidFill>
              <a:cs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666750" y="1473994"/>
            <a:ext cx="2355352" cy="11763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8250" b="1">
                <a:solidFill>
                  <a:srgbClr val="1B7FCE">
                    <a:alpha val="90001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01</a:t>
            </a:r>
            <a:endParaRPr sz="8250" b="1">
              <a:solidFill>
                <a:srgbClr val="1B7FCE">
                  <a:alpha val="90001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矩形 3"/>
          <p:cNvSpPr/>
          <p:nvPr>
            <p:custDataLst>
              <p:tags r:id="rId9"/>
            </p:custDataLst>
          </p:nvPr>
        </p:nvSpPr>
        <p:spPr>
          <a:xfrm rot="2700000">
            <a:off x="666750" y="2880995"/>
            <a:ext cx="47625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0"/>
            </p:custDataLst>
          </p:nvPr>
        </p:nvSpPr>
        <p:spPr>
          <a:xfrm>
            <a:off x="1819910" y="290004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输入</a:t>
            </a:r>
            <a:r>
              <a:rPr lang="en-US" altLang="zh-CN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 </a:t>
            </a: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模型先看长</a:t>
            </a:r>
            <a:r>
              <a:rPr lang="en-US" altLang="zh-CN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DNA</a:t>
            </a:r>
            <a:endParaRPr lang="en-US" altLang="zh-CN"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A6E8E"/>
                </a:solidFill>
                <a:cs typeface="+mn-lt"/>
              </a:rPr>
              <a:t>模型先看一段很长的</a:t>
            </a:r>
            <a:r>
              <a:rPr lang="en-US" altLang="zh-CN" sz="1500">
                <a:solidFill>
                  <a:srgbClr val="4A6E8E"/>
                </a:solidFill>
                <a:cs typeface="+mn-lt"/>
              </a:rPr>
              <a:t>DNA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：</a:t>
            </a:r>
            <a:endParaRPr lang="zh-CN" altLang="en-US" sz="1500">
              <a:solidFill>
                <a:srgbClr val="4A6E8E"/>
              </a:solidFill>
              <a:cs typeface="+mn-lt"/>
            </a:endParaRPr>
          </a:p>
        </p:txBody>
      </p:sp>
      <p:pic>
        <p:nvPicPr>
          <p:cNvPr id="5" name="图片 4" descr="d2fbe56b-c317-11f1-b359-0a76162a852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43" r="43" b="36"/>
          <a:stretch>
            <a:fillRect/>
          </a:stretch>
        </p:blipFill>
        <p:spPr>
          <a:xfrm>
            <a:off x="571541" y="1447800"/>
            <a:ext cx="11048918" cy="134366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0" h="2116">
                <a:moveTo>
                  <a:pt x="180" y="0"/>
                </a:moveTo>
                <a:lnTo>
                  <a:pt x="17220" y="0"/>
                </a:lnTo>
                <a:cubicBezTo>
                  <a:pt x="17319" y="0"/>
                  <a:pt x="17400" y="81"/>
                  <a:pt x="17400" y="180"/>
                </a:cubicBezTo>
                <a:lnTo>
                  <a:pt x="17400" y="1936"/>
                </a:lnTo>
                <a:cubicBezTo>
                  <a:pt x="17400" y="2035"/>
                  <a:pt x="17319" y="2116"/>
                  <a:pt x="17220" y="2116"/>
                </a:cubicBezTo>
                <a:lnTo>
                  <a:pt x="180" y="2116"/>
                </a:lnTo>
                <a:cubicBezTo>
                  <a:pt x="81" y="2116"/>
                  <a:pt x="0" y="2035"/>
                  <a:pt x="0" y="1936"/>
                </a:cubicBezTo>
                <a:lnTo>
                  <a:pt x="0" y="180"/>
                </a:lnTo>
                <a:cubicBezTo>
                  <a:pt x="0" y="81"/>
                  <a:pt x="81" y="0"/>
                  <a:pt x="180" y="0"/>
                </a:cubicBezTo>
                <a:close/>
              </a:path>
            </a:pathLst>
          </a:custGeom>
        </p:spPr>
      </p:pic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575945" y="3025140"/>
            <a:ext cx="3546475" cy="3446780"/>
          </a:xfrm>
          <a:custGeom>
            <a:avLst/>
            <a:gdLst>
              <a:gd name="sw" fmla="*/ 1 w 5585"/>
              <a:gd name="sh" fmla="*/ 1 h 5428"/>
              <a:gd name="mins" fmla="min sw sh"/>
              <a:gd name="dsw" fmla="+- 0 sw mins"/>
              <a:gd name="dsh" fmla="+- 0 sh mins"/>
              <a:gd name="p0x0" fmla="*/ 420 w 5585"/>
              <a:gd name="p0y0" fmla="*/ 0 h 5428"/>
              <a:gd name="p0x1" fmla="*/ 5165 w 5585"/>
              <a:gd name="p0y1" fmla="*/ 0 h 5428"/>
              <a:gd name="p0x2" fmla="*/ 5396 w 5585"/>
              <a:gd name="p0y2" fmla="*/ 0 h 5428"/>
              <a:gd name="p0x3" fmla="*/ 5585 w 5585"/>
              <a:gd name="p0y3" fmla="*/ 188 h 5428"/>
              <a:gd name="p0x4" fmla="*/ 5585 w 5585"/>
              <a:gd name="p0y4" fmla="*/ 420 h 5428"/>
              <a:gd name="p0x5" fmla="*/ 5585 w 5585"/>
              <a:gd name="p0y5" fmla="*/ 5008 h 5428"/>
              <a:gd name="p0x6" fmla="*/ 5585 w 5585"/>
              <a:gd name="p0y6" fmla="*/ 5240 h 5428"/>
              <a:gd name="p0x7" fmla="*/ 5396 w 5585"/>
              <a:gd name="p0y7" fmla="*/ 5428 h 5428"/>
              <a:gd name="p0x8" fmla="*/ 5165 w 5585"/>
              <a:gd name="p0y8" fmla="*/ 5428 h 5428"/>
              <a:gd name="p0x9" fmla="*/ 420 w 5585"/>
              <a:gd name="p0y9" fmla="*/ 5428 h 5428"/>
              <a:gd name="p0x10" fmla="*/ 188 w 5585"/>
              <a:gd name="p0y10" fmla="*/ 5428 h 5428"/>
              <a:gd name="p0x11" fmla="*/ 0 w 5585"/>
              <a:gd name="p0y11" fmla="*/ 5240 h 5428"/>
              <a:gd name="p0x12" fmla="*/ 0 w 5585"/>
              <a:gd name="p0y12" fmla="*/ 5008 h 5428"/>
              <a:gd name="p0x13" fmla="*/ 0 w 5585"/>
              <a:gd name="p0y13" fmla="*/ 420 h 5428"/>
              <a:gd name="p0x14" fmla="*/ 0 w 5585"/>
              <a:gd name="p0y14" fmla="*/ 188 h 5428"/>
              <a:gd name="p0x15" fmla="*/ 188 w 5585"/>
              <a:gd name="p0y15" fmla="*/ 0 h 5428"/>
              <a:gd name="p0x16" fmla="*/ 420 w 5585"/>
              <a:gd name="p0y16" fmla="*/ 0 h 542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  <a:alpha val="4000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771525" y="4018169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D3E5E"/>
                </a:solidFill>
                <a:cs typeface="+mn-lt"/>
              </a:rPr>
              <a:t>序列示例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10" name="任意多边形 9"/>
          <p:cNvSpPr/>
          <p:nvPr>
            <p:custDataLst>
              <p:tags r:id="rId7"/>
            </p:custDataLst>
          </p:nvPr>
        </p:nvSpPr>
        <p:spPr>
          <a:xfrm>
            <a:off x="771525" y="444373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771525" y="478663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E8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904875" y="4603004"/>
            <a:ext cx="2742009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400" b="1">
                <a:solidFill>
                  <a:srgbClr val="1D3E5E"/>
                </a:solidFill>
                <a:cs typeface="+mn-lt"/>
              </a:rPr>
              <a:t>A C G T G A C C</a:t>
            </a:r>
            <a:endParaRPr sz="2400" b="1">
              <a:solidFill>
                <a:srgbClr val="1D3E5E"/>
              </a:solidFill>
              <a:cs typeface="+mn-lt"/>
            </a:endParaRPr>
          </a:p>
        </p:txBody>
      </p:sp>
      <p:sp>
        <p:nvSpPr>
          <p:cNvPr id="13" name="任意多边形 12"/>
          <p:cNvSpPr/>
          <p:nvPr>
            <p:custDataLst>
              <p:tags r:id="rId10"/>
            </p:custDataLst>
          </p:nvPr>
        </p:nvSpPr>
        <p:spPr>
          <a:xfrm>
            <a:off x="771525" y="524383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E8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904875" y="5060204"/>
            <a:ext cx="2674068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400" b="1">
                <a:solidFill>
                  <a:srgbClr val="1D3E5E"/>
                </a:solidFill>
                <a:cs typeface="+mn-lt"/>
              </a:rPr>
              <a:t>C T A C G T A C</a:t>
            </a:r>
            <a:endParaRPr sz="2400" b="1">
              <a:solidFill>
                <a:srgbClr val="1D3E5E"/>
              </a:solidFill>
              <a:cs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>
            <a:off x="4322445" y="3025140"/>
            <a:ext cx="3546475" cy="3446780"/>
          </a:xfrm>
          <a:custGeom>
            <a:avLst/>
            <a:gdLst>
              <a:gd name="sw" fmla="*/ 1 w 5585"/>
              <a:gd name="sh" fmla="*/ 1 h 5428"/>
              <a:gd name="mins" fmla="min sw sh"/>
              <a:gd name="dsw" fmla="+- 0 sw mins"/>
              <a:gd name="dsh" fmla="+- 0 sh mins"/>
              <a:gd name="p0x0" fmla="*/ 420 w 5585"/>
              <a:gd name="p0y0" fmla="*/ 0 h 5428"/>
              <a:gd name="p0x1" fmla="*/ 5165 w 5585"/>
              <a:gd name="p0y1" fmla="*/ 0 h 5428"/>
              <a:gd name="p0x2" fmla="*/ 5396 w 5585"/>
              <a:gd name="p0y2" fmla="*/ 0 h 5428"/>
              <a:gd name="p0x3" fmla="*/ 5585 w 5585"/>
              <a:gd name="p0y3" fmla="*/ 188 h 5428"/>
              <a:gd name="p0x4" fmla="*/ 5585 w 5585"/>
              <a:gd name="p0y4" fmla="*/ 420 h 5428"/>
              <a:gd name="p0x5" fmla="*/ 5585 w 5585"/>
              <a:gd name="p0y5" fmla="*/ 5008 h 5428"/>
              <a:gd name="p0x6" fmla="*/ 5585 w 5585"/>
              <a:gd name="p0y6" fmla="*/ 5240 h 5428"/>
              <a:gd name="p0x7" fmla="*/ 5396 w 5585"/>
              <a:gd name="p0y7" fmla="*/ 5428 h 5428"/>
              <a:gd name="p0x8" fmla="*/ 5165 w 5585"/>
              <a:gd name="p0y8" fmla="*/ 5428 h 5428"/>
              <a:gd name="p0x9" fmla="*/ 420 w 5585"/>
              <a:gd name="p0y9" fmla="*/ 5428 h 5428"/>
              <a:gd name="p0x10" fmla="*/ 188 w 5585"/>
              <a:gd name="p0y10" fmla="*/ 5428 h 5428"/>
              <a:gd name="p0x11" fmla="*/ 0 w 5585"/>
              <a:gd name="p0y11" fmla="*/ 5240 h 5428"/>
              <a:gd name="p0x12" fmla="*/ 0 w 5585"/>
              <a:gd name="p0y12" fmla="*/ 5008 h 5428"/>
              <a:gd name="p0x13" fmla="*/ 0 w 5585"/>
              <a:gd name="p0y13" fmla="*/ 420 h 5428"/>
              <a:gd name="p0x14" fmla="*/ 0 w 5585"/>
              <a:gd name="p0y14" fmla="*/ 188 h 5428"/>
              <a:gd name="p0x15" fmla="*/ 188 w 5585"/>
              <a:gd name="p0y15" fmla="*/ 0 h 5428"/>
              <a:gd name="p0x16" fmla="*/ 420 w 5585"/>
              <a:gd name="p0y16" fmla="*/ 0 h 542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  <a:alpha val="4000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4518051" y="4284869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D3E5E"/>
                </a:solidFill>
                <a:cs typeface="+mn-lt"/>
              </a:rPr>
              <a:t>变异位点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17" name="任意多边形 16"/>
          <p:cNvSpPr/>
          <p:nvPr>
            <p:custDataLst>
              <p:tags r:id="rId14"/>
            </p:custDataLst>
          </p:nvPr>
        </p:nvSpPr>
        <p:spPr>
          <a:xfrm>
            <a:off x="4518025" y="471043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4518051" y="4893993"/>
            <a:ext cx="38822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chemeClr val="tx2"/>
                </a:solidFill>
                <a:cs typeface="+mn-lt"/>
              </a:rPr>
              <a:t>A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4791970" y="4917805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/>
                </a:solidFill>
                <a:cs typeface="+mn-lt"/>
              </a:rPr>
              <a:t>→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5096770" y="4893993"/>
            <a:ext cx="41017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chemeClr val="accent5"/>
                </a:solidFill>
                <a:cs typeface="+mn-lt"/>
              </a:rPr>
              <a:t>G</a:t>
            </a:r>
            <a:endParaRPr b="1">
              <a:solidFill>
                <a:schemeClr val="accent5"/>
              </a:solidFill>
              <a:cs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5468836" y="4877324"/>
            <a:ext cx="952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E8E"/>
                </a:solidFill>
                <a:cs typeface="+mn-lt"/>
              </a:rPr>
              <a:t>变异位点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22" name="任意多边形 21"/>
          <p:cNvSpPr/>
          <p:nvPr>
            <p:custDataLst>
              <p:tags r:id="rId19"/>
            </p:custDataLst>
          </p:nvPr>
        </p:nvSpPr>
        <p:spPr>
          <a:xfrm>
            <a:off x="8068945" y="3025140"/>
            <a:ext cx="3546475" cy="3446780"/>
          </a:xfrm>
          <a:custGeom>
            <a:avLst/>
            <a:gdLst>
              <a:gd name="sw" fmla="*/ 1 w 5585"/>
              <a:gd name="sh" fmla="*/ 1 h 5428"/>
              <a:gd name="mins" fmla="min sw sh"/>
              <a:gd name="dsw" fmla="+- 0 sw mins"/>
              <a:gd name="dsh" fmla="+- 0 sh mins"/>
              <a:gd name="p0x0" fmla="*/ 420 w 5585"/>
              <a:gd name="p0y0" fmla="*/ 0 h 5428"/>
              <a:gd name="p0x1" fmla="*/ 5165 w 5585"/>
              <a:gd name="p0y1" fmla="*/ 0 h 5428"/>
              <a:gd name="p0x2" fmla="*/ 5396 w 5585"/>
              <a:gd name="p0y2" fmla="*/ 0 h 5428"/>
              <a:gd name="p0x3" fmla="*/ 5585 w 5585"/>
              <a:gd name="p0y3" fmla="*/ 188 h 5428"/>
              <a:gd name="p0x4" fmla="*/ 5585 w 5585"/>
              <a:gd name="p0y4" fmla="*/ 420 h 5428"/>
              <a:gd name="p0x5" fmla="*/ 5585 w 5585"/>
              <a:gd name="p0y5" fmla="*/ 5008 h 5428"/>
              <a:gd name="p0x6" fmla="*/ 5585 w 5585"/>
              <a:gd name="p0y6" fmla="*/ 5240 h 5428"/>
              <a:gd name="p0x7" fmla="*/ 5396 w 5585"/>
              <a:gd name="p0y7" fmla="*/ 5428 h 5428"/>
              <a:gd name="p0x8" fmla="*/ 5165 w 5585"/>
              <a:gd name="p0y8" fmla="*/ 5428 h 5428"/>
              <a:gd name="p0x9" fmla="*/ 420 w 5585"/>
              <a:gd name="p0y9" fmla="*/ 5428 h 5428"/>
              <a:gd name="p0x10" fmla="*/ 188 w 5585"/>
              <a:gd name="p0y10" fmla="*/ 5428 h 5428"/>
              <a:gd name="p0x11" fmla="*/ 0 w 5585"/>
              <a:gd name="p0y11" fmla="*/ 5240 h 5428"/>
              <a:gd name="p0x12" fmla="*/ 0 w 5585"/>
              <a:gd name="p0y12" fmla="*/ 5008 h 5428"/>
              <a:gd name="p0x13" fmla="*/ 0 w 5585"/>
              <a:gd name="p0y13" fmla="*/ 420 h 5428"/>
              <a:gd name="p0x14" fmla="*/ 0 w 5585"/>
              <a:gd name="p0y14" fmla="*/ 188 h 5428"/>
              <a:gd name="p0x15" fmla="*/ 188 w 5585"/>
              <a:gd name="p0y15" fmla="*/ 0 h 5428"/>
              <a:gd name="p0x16" fmla="*/ 420 w 5585"/>
              <a:gd name="p0y16" fmla="*/ 0 h 542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  <a:alpha val="4000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8264576" y="3941969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D3E5E"/>
                </a:solidFill>
                <a:cs typeface="+mn-lt"/>
              </a:rPr>
              <a:t>模型参考范围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24" name="任意多边形 23"/>
          <p:cNvSpPr/>
          <p:nvPr>
            <p:custDataLst>
              <p:tags r:id="rId21"/>
            </p:custDataLst>
          </p:nvPr>
        </p:nvSpPr>
        <p:spPr>
          <a:xfrm>
            <a:off x="8264525" y="436753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8264576" y="4534424"/>
            <a:ext cx="3141764" cy="10144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  <a:spcAft>
                <a:spcPts val="410"/>
              </a:spcAft>
            </a:pPr>
            <a:r>
              <a:rPr sz="1500">
                <a:solidFill>
                  <a:srgbClr val="4A6E8E"/>
                </a:solidFill>
                <a:cs typeface="+mn-lt"/>
              </a:rPr>
              <a:t>模型</a:t>
            </a:r>
            <a:r>
              <a:rPr lang="zh-CN" sz="1500" b="1">
                <a:solidFill>
                  <a:schemeClr val="tx2"/>
                </a:solidFill>
                <a:cs typeface="+mn-lt"/>
              </a:rPr>
              <a:t>不只看</a:t>
            </a:r>
            <a:r>
              <a:rPr lang="en-US" altLang="zh-CN" sz="1500" b="1">
                <a:solidFill>
                  <a:schemeClr val="tx2"/>
                </a:solidFill>
                <a:cs typeface="+mn-lt"/>
              </a:rPr>
              <a:t>A</a:t>
            </a:r>
            <a:r>
              <a:rPr lang="zh-CN" altLang="en-US" sz="1500" b="1">
                <a:solidFill>
                  <a:schemeClr val="tx2"/>
                </a:solidFill>
                <a:cs typeface="+mn-lt"/>
              </a:rPr>
              <a:t>或</a:t>
            </a:r>
            <a:r>
              <a:rPr lang="en-US" altLang="zh-CN" sz="1500" b="1">
                <a:solidFill>
                  <a:schemeClr val="tx2"/>
                </a:solidFill>
                <a:cs typeface="+mn-lt"/>
              </a:rPr>
              <a:t>G</a:t>
            </a:r>
            <a:r>
              <a:rPr lang="zh-CN" sz="1500">
                <a:solidFill>
                  <a:srgbClr val="4A6E8E"/>
                </a:solidFill>
                <a:cs typeface="+mn-lt"/>
              </a:rPr>
              <a:t>，它同时参考附近，甚至相距很远的</a:t>
            </a:r>
            <a:r>
              <a:rPr lang="en-US" sz="1500">
                <a:solidFill>
                  <a:srgbClr val="4A6E8E"/>
                </a:solidFill>
                <a:cs typeface="+mn-lt"/>
              </a:rPr>
              <a:t>DNA</a:t>
            </a:r>
            <a:endParaRPr lang="en-US" sz="1500">
              <a:solidFill>
                <a:srgbClr val="4A6E8E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sz="1500">
                <a:solidFill>
                  <a:srgbClr val="4A6E8E"/>
                </a:solidFill>
                <a:cs typeface="+mn-lt"/>
              </a:rPr>
              <a:t>因为</a:t>
            </a:r>
            <a:r>
              <a:rPr sz="1500" b="1">
                <a:solidFill>
                  <a:schemeClr val="tx2"/>
                </a:solidFill>
                <a:cs typeface="+mn-lt"/>
              </a:rPr>
              <a:t>调控片段可能离目标基因很远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识别</a:t>
            </a:r>
            <a:r>
              <a:rPr lang="en-US" altLang="zh-CN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 </a:t>
            </a: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局部与远处并看</a:t>
            </a:r>
            <a:endParaRPr lang="zh-CN" altLang="en-US"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514350"/>
          </a:xfrm>
          <a:custGeom>
            <a:avLst/>
            <a:gdLst>
              <a:gd name="sw" fmla="*/ 1 w 17400"/>
              <a:gd name="sh" fmla="*/ 1 h 810"/>
              <a:gd name="mins" fmla="min sw sh"/>
              <a:gd name="dsw" fmla="+- 0 sw mins"/>
              <a:gd name="dsh" fmla="+- 0 sh mins"/>
              <a:gd name="p0x0" fmla="*/ 180 w 17400"/>
              <a:gd name="p0y0" fmla="*/ 0 h 810"/>
              <a:gd name="p0x1" fmla="*/ 17220 w 17400"/>
              <a:gd name="p0y1" fmla="*/ 0 h 810"/>
              <a:gd name="p0x2" fmla="*/ 17319 w 17400"/>
              <a:gd name="p0y2" fmla="*/ 0 h 810"/>
              <a:gd name="p0x3" fmla="*/ 17400 w 17400"/>
              <a:gd name="p0y3" fmla="*/ 80 h 810"/>
              <a:gd name="p0x4" fmla="*/ 17400 w 17400"/>
              <a:gd name="p0y4" fmla="*/ 180 h 810"/>
              <a:gd name="p0x5" fmla="*/ 17400 w 17400"/>
              <a:gd name="p0y5" fmla="*/ 630 h 810"/>
              <a:gd name="p0x6" fmla="*/ 17400 w 17400"/>
              <a:gd name="p0y6" fmla="*/ 729 h 810"/>
              <a:gd name="p0x7" fmla="*/ 17319 w 17400"/>
              <a:gd name="p0y7" fmla="*/ 810 h 810"/>
              <a:gd name="p0x8" fmla="*/ 17220 w 17400"/>
              <a:gd name="p0y8" fmla="*/ 810 h 810"/>
              <a:gd name="p0x9" fmla="*/ 180 w 17400"/>
              <a:gd name="p0y9" fmla="*/ 810 h 810"/>
              <a:gd name="p0x10" fmla="*/ 80 w 17400"/>
              <a:gd name="p0y10" fmla="*/ 810 h 810"/>
              <a:gd name="p0x11" fmla="*/ 0 w 17400"/>
              <a:gd name="p0y11" fmla="*/ 729 h 810"/>
              <a:gd name="p0x12" fmla="*/ 0 w 17400"/>
              <a:gd name="p0y12" fmla="*/ 630 h 810"/>
              <a:gd name="p0x13" fmla="*/ 0 w 17400"/>
              <a:gd name="p0y13" fmla="*/ 180 h 810"/>
              <a:gd name="p0x14" fmla="*/ 0 w 17400"/>
              <a:gd name="p0y14" fmla="*/ 80 h 810"/>
              <a:gd name="p0x15" fmla="*/ 80 w 17400"/>
              <a:gd name="p0y15" fmla="*/ 0 h 810"/>
              <a:gd name="p0x16" fmla="*/ 180 w 17400"/>
              <a:gd name="p0y16" fmla="*/ 0 h 8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329"/>
              <a:lumOff val="82671"/>
            </a:schemeClr>
          </a:solidFill>
          <a:ln>
            <a:noFill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203960"/>
            <a:ext cx="8458429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1D3E5E"/>
                </a:solidFill>
                <a:cs typeface="+mn-lt"/>
              </a:rPr>
              <a:t>模型</a:t>
            </a:r>
            <a:r>
              <a:rPr b="1">
                <a:solidFill>
                  <a:srgbClr val="0E5A9E"/>
                </a:solidFill>
                <a:cs typeface="+mn-lt"/>
              </a:rPr>
              <a:t>同时看局部模式和远处关系</a:t>
            </a:r>
            <a:r>
              <a:rPr>
                <a:solidFill>
                  <a:srgbClr val="1D3E5E"/>
                </a:solidFill>
                <a:cs typeface="+mn-lt"/>
              </a:rPr>
              <a:t>，从训练数据中学会序列模式与实验信号的关联</a:t>
            </a:r>
            <a:endParaRPr>
              <a:solidFill>
                <a:srgbClr val="1D3E5E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2172970"/>
            <a:ext cx="5400675" cy="4298950"/>
          </a:xfrm>
          <a:custGeom>
            <a:avLst/>
            <a:gdLst>
              <a:gd name="sw" fmla="*/ 1 w 8505"/>
              <a:gd name="sh" fmla="*/ 1 h 6769"/>
              <a:gd name="mins" fmla="min sw sh"/>
              <a:gd name="dsw" fmla="+- 0 sw mins"/>
              <a:gd name="dsh" fmla="+- 0 sh mins"/>
              <a:gd name="p0x0" fmla="*/ 420 w 8505"/>
              <a:gd name="p0y0" fmla="*/ 0 h 6769"/>
              <a:gd name="p0x1" fmla="*/ 8085 w 8505"/>
              <a:gd name="p0y1" fmla="*/ 0 h 6769"/>
              <a:gd name="p0x2" fmla="*/ 8316 w 8505"/>
              <a:gd name="p0y2" fmla="*/ 0 h 6769"/>
              <a:gd name="p0x3" fmla="*/ 8505 w 8505"/>
              <a:gd name="p0y3" fmla="*/ 188 h 6769"/>
              <a:gd name="p0x4" fmla="*/ 8505 w 8505"/>
              <a:gd name="p0y4" fmla="*/ 420 h 6769"/>
              <a:gd name="p0x5" fmla="*/ 8505 w 8505"/>
              <a:gd name="p0y5" fmla="*/ 6349 h 6769"/>
              <a:gd name="p0x6" fmla="*/ 8505 w 8505"/>
              <a:gd name="p0y6" fmla="*/ 6581 h 6769"/>
              <a:gd name="p0x7" fmla="*/ 8316 w 8505"/>
              <a:gd name="p0y7" fmla="*/ 6769 h 6769"/>
              <a:gd name="p0x8" fmla="*/ 8085 w 8505"/>
              <a:gd name="p0y8" fmla="*/ 6769 h 6769"/>
              <a:gd name="p0x9" fmla="*/ 420 w 8505"/>
              <a:gd name="p0y9" fmla="*/ 6769 h 6769"/>
              <a:gd name="p0x10" fmla="*/ 188 w 8505"/>
              <a:gd name="p0y10" fmla="*/ 6769 h 6769"/>
              <a:gd name="p0x11" fmla="*/ 0 w 8505"/>
              <a:gd name="p0y11" fmla="*/ 6581 h 6769"/>
              <a:gd name="p0x12" fmla="*/ 0 w 8505"/>
              <a:gd name="p0y12" fmla="*/ 6349 h 6769"/>
              <a:gd name="p0x13" fmla="*/ 0 w 8505"/>
              <a:gd name="p0y13" fmla="*/ 420 h 6769"/>
              <a:gd name="p0x14" fmla="*/ 0 w 8505"/>
              <a:gd name="p0y14" fmla="*/ 188 h 6769"/>
              <a:gd name="p0x15" fmla="*/ 188 w 8505"/>
              <a:gd name="p0y15" fmla="*/ 0 h 6769"/>
              <a:gd name="p0x16" fmla="*/ 420 w 8505"/>
              <a:gd name="p0y16" fmla="*/ 0 h 676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  <a:alpha val="4000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771525" y="2330450"/>
            <a:ext cx="5010150" cy="428625"/>
            <a:chOff x="1215" y="3670"/>
            <a:chExt cx="7890" cy="675"/>
          </a:xfrm>
        </p:grpSpPr>
        <p:sp>
          <p:nvSpPr>
            <p:cNvPr id="8" name="任意多边形 7"/>
            <p:cNvSpPr/>
            <p:nvPr>
              <p:custDataLst>
                <p:tags r:id="rId5"/>
              </p:custDataLst>
            </p:nvPr>
          </p:nvSpPr>
          <p:spPr>
            <a:xfrm>
              <a:off x="1215" y="3670"/>
              <a:ext cx="7890" cy="675"/>
            </a:xfrm>
            <a:custGeom>
              <a:avLst/>
              <a:gdLst>
                <a:gd name="sw" fmla="*/ 1 w 7890"/>
                <a:gd name="sh" fmla="*/ 1 h 675"/>
                <a:gd name="mins" fmla="min sw sh"/>
                <a:gd name="dsw" fmla="+- 0 sw mins"/>
                <a:gd name="dsh" fmla="+- 0 sh mins"/>
                <a:gd name="p0x0" fmla="*/ 0 w 7890"/>
                <a:gd name="p0y0" fmla="*/ 0 h 675"/>
                <a:gd name="p0x1" fmla="*/ 7890 w 7890"/>
                <a:gd name="p0y1" fmla="*/ 0 h 675"/>
                <a:gd name="p0x2" fmla="*/ 7890 w 7890"/>
                <a:gd name="p0y2" fmla="*/ 675 h 675"/>
                <a:gd name="p0x3" fmla="*/ 0 w 7890"/>
                <a:gd name="p0y3" fmla="*/ 675 h 675"/>
                <a:gd name="p0x4" fmla="*/ 0 w 7890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6"/>
              </p:custDataLst>
            </p:nvPr>
          </p:nvSpPr>
          <p:spPr>
            <a:xfrm>
              <a:off x="1215" y="4315"/>
              <a:ext cx="7890" cy="30"/>
            </a:xfrm>
            <a:custGeom>
              <a:avLst/>
              <a:gdLst>
                <a:gd name="sw" fmla="*/ 1 w 7890"/>
                <a:gd name="sh" fmla="*/ 1 h 30"/>
                <a:gd name="mins" fmla="min sw sh"/>
                <a:gd name="dsw" fmla="+- 0 sw mins"/>
                <a:gd name="dsh" fmla="+- 0 sh mins"/>
                <a:gd name="p0x0" fmla="*/ 7890 w 7890"/>
                <a:gd name="p0y0" fmla="*/ 30 h 30"/>
                <a:gd name="p0x1" fmla="*/ 0 w 7890"/>
                <a:gd name="p0y1" fmla="*/ 30 h 30"/>
                <a:gd name="p0x2" fmla="*/ 0 w 7890"/>
                <a:gd name="p0y2" fmla="*/ 0 h 30"/>
                <a:gd name="p0x3" fmla="*/ 7890 w 7890"/>
                <a:gd name="p0y3" fmla="*/ 0 h 30"/>
                <a:gd name="p0x4" fmla="*/ 7890 w 789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771525" y="23634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90 w 420"/>
              <a:gd name="p0y0" fmla="*/ 0 h 420"/>
              <a:gd name="p0x1" fmla="*/ 330 w 420"/>
              <a:gd name="p0y1" fmla="*/ 0 h 420"/>
              <a:gd name="p0x2" fmla="*/ 379 w 420"/>
              <a:gd name="p0y2" fmla="*/ 0 h 420"/>
              <a:gd name="p0x3" fmla="*/ 420 w 420"/>
              <a:gd name="p0y3" fmla="*/ 40 h 420"/>
              <a:gd name="p0x4" fmla="*/ 420 w 420"/>
              <a:gd name="p0y4" fmla="*/ 90 h 420"/>
              <a:gd name="p0x5" fmla="*/ 420 w 420"/>
              <a:gd name="p0y5" fmla="*/ 330 h 420"/>
              <a:gd name="p0x6" fmla="*/ 420 w 420"/>
              <a:gd name="p0y6" fmla="*/ 379 h 420"/>
              <a:gd name="p0x7" fmla="*/ 379 w 420"/>
              <a:gd name="p0y7" fmla="*/ 420 h 420"/>
              <a:gd name="p0x8" fmla="*/ 330 w 420"/>
              <a:gd name="p0y8" fmla="*/ 420 h 420"/>
              <a:gd name="p0x9" fmla="*/ 90 w 420"/>
              <a:gd name="p0y9" fmla="*/ 420 h 420"/>
              <a:gd name="p0x10" fmla="*/ 40 w 420"/>
              <a:gd name="p0y10" fmla="*/ 420 h 420"/>
              <a:gd name="p0x11" fmla="*/ 0 w 420"/>
              <a:gd name="p0y11" fmla="*/ 379 h 420"/>
              <a:gd name="p0x12" fmla="*/ 0 w 420"/>
              <a:gd name="p0y12" fmla="*/ 330 h 420"/>
              <a:gd name="p0x13" fmla="*/ 0 w 420"/>
              <a:gd name="p0y13" fmla="*/ 90 h 420"/>
              <a:gd name="p0x14" fmla="*/ 0 w 420"/>
              <a:gd name="p0y14" fmla="*/ 40 h 420"/>
              <a:gd name="p0x15" fmla="*/ 40 w 420"/>
              <a:gd name="p0y15" fmla="*/ 0 h 420"/>
              <a:gd name="p0x16" fmla="*/ 9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-7143" b="-7143"/>
          <a:stretch>
            <a:fillRect/>
          </a:stretch>
        </p:blipFill>
        <p:spPr>
          <a:xfrm>
            <a:off x="838200" y="2420620"/>
            <a:ext cx="133350" cy="1524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1152525" y="2314385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D3E5E"/>
                </a:solidFill>
                <a:cs typeface="+mn-lt"/>
              </a:rPr>
              <a:t>局部模式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>
            <a:off x="775970" y="3335655"/>
            <a:ext cx="5000625" cy="476250"/>
          </a:xfrm>
          <a:custGeom>
            <a:avLst/>
            <a:gdLst>
              <a:gd name="sw" fmla="*/ 1 w 7875"/>
              <a:gd name="sh" fmla="*/ 1 h 750"/>
              <a:gd name="mins" fmla="min sw sh"/>
              <a:gd name="dsw" fmla="+- 0 sw mins"/>
              <a:gd name="dsh" fmla="+- 0 sh mins"/>
              <a:gd name="p0x0" fmla="*/ 90 w 7875"/>
              <a:gd name="p0y0" fmla="*/ 0 h 750"/>
              <a:gd name="p0x1" fmla="*/ 7785 w 7875"/>
              <a:gd name="p0y1" fmla="*/ 0 h 750"/>
              <a:gd name="p0x2" fmla="*/ 7834 w 7875"/>
              <a:gd name="p0y2" fmla="*/ 0 h 750"/>
              <a:gd name="p0x3" fmla="*/ 7875 w 7875"/>
              <a:gd name="p0y3" fmla="*/ 40 h 750"/>
              <a:gd name="p0x4" fmla="*/ 7875 w 7875"/>
              <a:gd name="p0y4" fmla="*/ 90 h 750"/>
              <a:gd name="p0x5" fmla="*/ 7875 w 7875"/>
              <a:gd name="p0y5" fmla="*/ 660 h 750"/>
              <a:gd name="p0x6" fmla="*/ 7875 w 7875"/>
              <a:gd name="p0y6" fmla="*/ 709 h 750"/>
              <a:gd name="p0x7" fmla="*/ 7834 w 7875"/>
              <a:gd name="p0y7" fmla="*/ 750 h 750"/>
              <a:gd name="p0x8" fmla="*/ 7785 w 7875"/>
              <a:gd name="p0y8" fmla="*/ 750 h 750"/>
              <a:gd name="p0x9" fmla="*/ 90 w 7875"/>
              <a:gd name="p0y9" fmla="*/ 750 h 750"/>
              <a:gd name="p0x10" fmla="*/ 40 w 7875"/>
              <a:gd name="p0y10" fmla="*/ 750 h 750"/>
              <a:gd name="p0x11" fmla="*/ 0 w 7875"/>
              <a:gd name="p0y11" fmla="*/ 709 h 750"/>
              <a:gd name="p0x12" fmla="*/ 0 w 7875"/>
              <a:gd name="p0y12" fmla="*/ 660 h 750"/>
              <a:gd name="p0x13" fmla="*/ 0 w 7875"/>
              <a:gd name="p0y13" fmla="*/ 90 h 750"/>
              <a:gd name="p0x14" fmla="*/ 0 w 7875"/>
              <a:gd name="p0y14" fmla="*/ 40 h 750"/>
              <a:gd name="p0x15" fmla="*/ 40 w 7875"/>
              <a:gd name="p0y15" fmla="*/ 0 h 750"/>
              <a:gd name="p0x16" fmla="*/ 90 w 7875"/>
              <a:gd name="p0y16" fmla="*/ 0 h 7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933450" y="3440983"/>
            <a:ext cx="1905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chemeClr val="tx2"/>
                </a:solidFill>
                <a:cs typeface="+mn-lt"/>
              </a:rPr>
              <a:t>识别</a:t>
            </a:r>
            <a:r>
              <a:rPr sz="1500" b="1">
                <a:solidFill>
                  <a:schemeClr val="tx2"/>
                </a:solidFill>
                <a:cs typeface="+mn-lt"/>
              </a:rPr>
              <a:t>短小的序列片段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7" name="任意多边形 16"/>
          <p:cNvSpPr/>
          <p:nvPr>
            <p:custDataLst>
              <p:tags r:id="rId14"/>
            </p:custDataLst>
          </p:nvPr>
        </p:nvSpPr>
        <p:spPr>
          <a:xfrm>
            <a:off x="775970" y="4356100"/>
            <a:ext cx="5000625" cy="476250"/>
          </a:xfrm>
          <a:custGeom>
            <a:avLst/>
            <a:gdLst>
              <a:gd name="sw" fmla="*/ 1 w 7875"/>
              <a:gd name="sh" fmla="*/ 1 h 750"/>
              <a:gd name="mins" fmla="min sw sh"/>
              <a:gd name="dsw" fmla="+- 0 sw mins"/>
              <a:gd name="dsh" fmla="+- 0 sh mins"/>
              <a:gd name="p0x0" fmla="*/ 90 w 7875"/>
              <a:gd name="p0y0" fmla="*/ 0 h 750"/>
              <a:gd name="p0x1" fmla="*/ 7785 w 7875"/>
              <a:gd name="p0y1" fmla="*/ 0 h 750"/>
              <a:gd name="p0x2" fmla="*/ 7834 w 7875"/>
              <a:gd name="p0y2" fmla="*/ 0 h 750"/>
              <a:gd name="p0x3" fmla="*/ 7875 w 7875"/>
              <a:gd name="p0y3" fmla="*/ 40 h 750"/>
              <a:gd name="p0x4" fmla="*/ 7875 w 7875"/>
              <a:gd name="p0y4" fmla="*/ 90 h 750"/>
              <a:gd name="p0x5" fmla="*/ 7875 w 7875"/>
              <a:gd name="p0y5" fmla="*/ 660 h 750"/>
              <a:gd name="p0x6" fmla="*/ 7875 w 7875"/>
              <a:gd name="p0y6" fmla="*/ 709 h 750"/>
              <a:gd name="p0x7" fmla="*/ 7834 w 7875"/>
              <a:gd name="p0y7" fmla="*/ 750 h 750"/>
              <a:gd name="p0x8" fmla="*/ 7785 w 7875"/>
              <a:gd name="p0y8" fmla="*/ 750 h 750"/>
              <a:gd name="p0x9" fmla="*/ 90 w 7875"/>
              <a:gd name="p0y9" fmla="*/ 750 h 750"/>
              <a:gd name="p0x10" fmla="*/ 40 w 7875"/>
              <a:gd name="p0y10" fmla="*/ 750 h 750"/>
              <a:gd name="p0x11" fmla="*/ 0 w 7875"/>
              <a:gd name="p0y11" fmla="*/ 709 h 750"/>
              <a:gd name="p0x12" fmla="*/ 0 w 7875"/>
              <a:gd name="p0y12" fmla="*/ 660 h 750"/>
              <a:gd name="p0x13" fmla="*/ 0 w 7875"/>
              <a:gd name="p0y13" fmla="*/ 90 h 750"/>
              <a:gd name="p0x14" fmla="*/ 0 w 7875"/>
              <a:gd name="p0y14" fmla="*/ 40 h 750"/>
              <a:gd name="p0x15" fmla="*/ 40 w 7875"/>
              <a:gd name="p0y15" fmla="*/ 0 h 750"/>
              <a:gd name="p0x16" fmla="*/ 90 w 7875"/>
              <a:gd name="p0y16" fmla="*/ 0 h 7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933450" y="4460901"/>
            <a:ext cx="46863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90">
                <a:solidFill>
                  <a:schemeClr val="tx2"/>
                </a:solidFill>
                <a:cs typeface="+mn-lt"/>
              </a:rPr>
              <a:t>A C G T A C G</a:t>
            </a:r>
            <a:endParaRPr sz="1500" b="1" spc="90">
              <a:solidFill>
                <a:schemeClr val="tx2"/>
              </a:solidFill>
              <a:cs typeface="+mn-lt"/>
            </a:endParaRPr>
          </a:p>
        </p:txBody>
      </p:sp>
      <p:sp>
        <p:nvSpPr>
          <p:cNvPr id="19" name="任意多边形 18"/>
          <p:cNvSpPr/>
          <p:nvPr>
            <p:custDataLst>
              <p:tags r:id="rId16"/>
            </p:custDataLst>
          </p:nvPr>
        </p:nvSpPr>
        <p:spPr>
          <a:xfrm>
            <a:off x="775970" y="5375910"/>
            <a:ext cx="5000625" cy="476250"/>
          </a:xfrm>
          <a:custGeom>
            <a:avLst/>
            <a:gdLst>
              <a:gd name="sw" fmla="*/ 1 w 7875"/>
              <a:gd name="sh" fmla="*/ 1 h 750"/>
              <a:gd name="mins" fmla="min sw sh"/>
              <a:gd name="dsw" fmla="+- 0 sw mins"/>
              <a:gd name="dsh" fmla="+- 0 sh mins"/>
              <a:gd name="p0x0" fmla="*/ 90 w 7875"/>
              <a:gd name="p0y0" fmla="*/ 0 h 750"/>
              <a:gd name="p0x1" fmla="*/ 7785 w 7875"/>
              <a:gd name="p0y1" fmla="*/ 0 h 750"/>
              <a:gd name="p0x2" fmla="*/ 7834 w 7875"/>
              <a:gd name="p0y2" fmla="*/ 0 h 750"/>
              <a:gd name="p0x3" fmla="*/ 7875 w 7875"/>
              <a:gd name="p0y3" fmla="*/ 40 h 750"/>
              <a:gd name="p0x4" fmla="*/ 7875 w 7875"/>
              <a:gd name="p0y4" fmla="*/ 90 h 750"/>
              <a:gd name="p0x5" fmla="*/ 7875 w 7875"/>
              <a:gd name="p0y5" fmla="*/ 660 h 750"/>
              <a:gd name="p0x6" fmla="*/ 7875 w 7875"/>
              <a:gd name="p0y6" fmla="*/ 709 h 750"/>
              <a:gd name="p0x7" fmla="*/ 7834 w 7875"/>
              <a:gd name="p0y7" fmla="*/ 750 h 750"/>
              <a:gd name="p0x8" fmla="*/ 7785 w 7875"/>
              <a:gd name="p0y8" fmla="*/ 750 h 750"/>
              <a:gd name="p0x9" fmla="*/ 90 w 7875"/>
              <a:gd name="p0y9" fmla="*/ 750 h 750"/>
              <a:gd name="p0x10" fmla="*/ 40 w 7875"/>
              <a:gd name="p0y10" fmla="*/ 750 h 750"/>
              <a:gd name="p0x11" fmla="*/ 0 w 7875"/>
              <a:gd name="p0y11" fmla="*/ 709 h 750"/>
              <a:gd name="p0x12" fmla="*/ 0 w 7875"/>
              <a:gd name="p0y12" fmla="*/ 660 h 750"/>
              <a:gd name="p0x13" fmla="*/ 0 w 7875"/>
              <a:gd name="p0y13" fmla="*/ 90 h 750"/>
              <a:gd name="p0x14" fmla="*/ 0 w 7875"/>
              <a:gd name="p0y14" fmla="*/ 40 h 750"/>
              <a:gd name="p0x15" fmla="*/ 40 w 7875"/>
              <a:gd name="p0y15" fmla="*/ 0 h 750"/>
              <a:gd name="p0x16" fmla="*/ 90 w 7875"/>
              <a:gd name="p0y16" fmla="*/ 0 h 7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933450" y="5480818"/>
            <a:ext cx="1714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chemeClr val="tx2"/>
                </a:solidFill>
                <a:cs typeface="+mn-lt"/>
              </a:rPr>
              <a:t>像</a:t>
            </a:r>
            <a:r>
              <a:rPr sz="1500" b="1">
                <a:solidFill>
                  <a:schemeClr val="tx2"/>
                </a:solidFill>
                <a:cs typeface="+mn-lt"/>
              </a:rPr>
              <a:t>开关或剪接提示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1" name="任意多边形 20"/>
          <p:cNvSpPr/>
          <p:nvPr>
            <p:custDataLst>
              <p:tags r:id="rId18"/>
            </p:custDataLst>
          </p:nvPr>
        </p:nvSpPr>
        <p:spPr>
          <a:xfrm>
            <a:off x="6214745" y="2172970"/>
            <a:ext cx="5400675" cy="4298950"/>
          </a:xfrm>
          <a:custGeom>
            <a:avLst/>
            <a:gdLst>
              <a:gd name="sw" fmla="*/ 1 w 8505"/>
              <a:gd name="sh" fmla="*/ 1 h 6769"/>
              <a:gd name="mins" fmla="min sw sh"/>
              <a:gd name="dsw" fmla="+- 0 sw mins"/>
              <a:gd name="dsh" fmla="+- 0 sh mins"/>
              <a:gd name="p0x0" fmla="*/ 420 w 8505"/>
              <a:gd name="p0y0" fmla="*/ 0 h 6769"/>
              <a:gd name="p0x1" fmla="*/ 8085 w 8505"/>
              <a:gd name="p0y1" fmla="*/ 0 h 6769"/>
              <a:gd name="p0x2" fmla="*/ 8316 w 8505"/>
              <a:gd name="p0y2" fmla="*/ 0 h 6769"/>
              <a:gd name="p0x3" fmla="*/ 8505 w 8505"/>
              <a:gd name="p0y3" fmla="*/ 188 h 6769"/>
              <a:gd name="p0x4" fmla="*/ 8505 w 8505"/>
              <a:gd name="p0y4" fmla="*/ 420 h 6769"/>
              <a:gd name="p0x5" fmla="*/ 8505 w 8505"/>
              <a:gd name="p0y5" fmla="*/ 6349 h 6769"/>
              <a:gd name="p0x6" fmla="*/ 8505 w 8505"/>
              <a:gd name="p0y6" fmla="*/ 6581 h 6769"/>
              <a:gd name="p0x7" fmla="*/ 8316 w 8505"/>
              <a:gd name="p0y7" fmla="*/ 6769 h 6769"/>
              <a:gd name="p0x8" fmla="*/ 8085 w 8505"/>
              <a:gd name="p0y8" fmla="*/ 6769 h 6769"/>
              <a:gd name="p0x9" fmla="*/ 420 w 8505"/>
              <a:gd name="p0y9" fmla="*/ 6769 h 6769"/>
              <a:gd name="p0x10" fmla="*/ 188 w 8505"/>
              <a:gd name="p0y10" fmla="*/ 6769 h 6769"/>
              <a:gd name="p0x11" fmla="*/ 0 w 8505"/>
              <a:gd name="p0y11" fmla="*/ 6581 h 6769"/>
              <a:gd name="p0x12" fmla="*/ 0 w 8505"/>
              <a:gd name="p0y12" fmla="*/ 6349 h 6769"/>
              <a:gd name="p0x13" fmla="*/ 0 w 8505"/>
              <a:gd name="p0y13" fmla="*/ 420 h 6769"/>
              <a:gd name="p0x14" fmla="*/ 0 w 8505"/>
              <a:gd name="p0y14" fmla="*/ 188 h 6769"/>
              <a:gd name="p0x15" fmla="*/ 188 w 8505"/>
              <a:gd name="p0y15" fmla="*/ 0 h 6769"/>
              <a:gd name="p0x16" fmla="*/ 420 w 8505"/>
              <a:gd name="p0y16" fmla="*/ 0 h 676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  <a:alpha val="4000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6410325" y="2330450"/>
            <a:ext cx="5010150" cy="428625"/>
            <a:chOff x="10095" y="3670"/>
            <a:chExt cx="7890" cy="675"/>
          </a:xfrm>
        </p:grpSpPr>
        <p:sp>
          <p:nvSpPr>
            <p:cNvPr id="22" name="任意多边形 21"/>
            <p:cNvSpPr/>
            <p:nvPr>
              <p:custDataLst>
                <p:tags r:id="rId19"/>
              </p:custDataLst>
            </p:nvPr>
          </p:nvSpPr>
          <p:spPr>
            <a:xfrm>
              <a:off x="10095" y="3670"/>
              <a:ext cx="7890" cy="675"/>
            </a:xfrm>
            <a:custGeom>
              <a:avLst/>
              <a:gdLst>
                <a:gd name="sw" fmla="*/ 1 w 7890"/>
                <a:gd name="sh" fmla="*/ 1 h 675"/>
                <a:gd name="mins" fmla="min sw sh"/>
                <a:gd name="dsw" fmla="+- 0 sw mins"/>
                <a:gd name="dsh" fmla="+- 0 sh mins"/>
                <a:gd name="p0x0" fmla="*/ 0 w 7890"/>
                <a:gd name="p0y0" fmla="*/ 0 h 675"/>
                <a:gd name="p0x1" fmla="*/ 7890 w 7890"/>
                <a:gd name="p0y1" fmla="*/ 0 h 675"/>
                <a:gd name="p0x2" fmla="*/ 7890 w 7890"/>
                <a:gd name="p0y2" fmla="*/ 675 h 675"/>
                <a:gd name="p0x3" fmla="*/ 0 w 7890"/>
                <a:gd name="p0y3" fmla="*/ 675 h 675"/>
                <a:gd name="p0x4" fmla="*/ 0 w 7890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20"/>
              </p:custDataLst>
            </p:nvPr>
          </p:nvSpPr>
          <p:spPr>
            <a:xfrm>
              <a:off x="10095" y="4315"/>
              <a:ext cx="7890" cy="30"/>
            </a:xfrm>
            <a:custGeom>
              <a:avLst/>
              <a:gdLst>
                <a:gd name="sw" fmla="*/ 1 w 7890"/>
                <a:gd name="sh" fmla="*/ 1 h 30"/>
                <a:gd name="mins" fmla="min sw sh"/>
                <a:gd name="dsw" fmla="+- 0 sw mins"/>
                <a:gd name="dsh" fmla="+- 0 sh mins"/>
                <a:gd name="p0x0" fmla="*/ 7890 w 7890"/>
                <a:gd name="p0y0" fmla="*/ 30 h 30"/>
                <a:gd name="p0x1" fmla="*/ 0 w 7890"/>
                <a:gd name="p0y1" fmla="*/ 30 h 30"/>
                <a:gd name="p0x2" fmla="*/ 0 w 7890"/>
                <a:gd name="p0y2" fmla="*/ 0 h 30"/>
                <a:gd name="p0x3" fmla="*/ 7890 w 7890"/>
                <a:gd name="p0y3" fmla="*/ 0 h 30"/>
                <a:gd name="p0x4" fmla="*/ 7890 w 789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5" name="任意多边形 24"/>
          <p:cNvSpPr/>
          <p:nvPr>
            <p:custDataLst>
              <p:tags r:id="rId21"/>
            </p:custDataLst>
          </p:nvPr>
        </p:nvSpPr>
        <p:spPr>
          <a:xfrm>
            <a:off x="6410325" y="23634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90 w 420"/>
              <a:gd name="p0y0" fmla="*/ 0 h 420"/>
              <a:gd name="p0x1" fmla="*/ 330 w 420"/>
              <a:gd name="p0y1" fmla="*/ 0 h 420"/>
              <a:gd name="p0x2" fmla="*/ 379 w 420"/>
              <a:gd name="p0y2" fmla="*/ 0 h 420"/>
              <a:gd name="p0x3" fmla="*/ 420 w 420"/>
              <a:gd name="p0y3" fmla="*/ 40 h 420"/>
              <a:gd name="p0x4" fmla="*/ 420 w 420"/>
              <a:gd name="p0y4" fmla="*/ 90 h 420"/>
              <a:gd name="p0x5" fmla="*/ 420 w 420"/>
              <a:gd name="p0y5" fmla="*/ 330 h 420"/>
              <a:gd name="p0x6" fmla="*/ 420 w 420"/>
              <a:gd name="p0y6" fmla="*/ 379 h 420"/>
              <a:gd name="p0x7" fmla="*/ 379 w 420"/>
              <a:gd name="p0y7" fmla="*/ 420 h 420"/>
              <a:gd name="p0x8" fmla="*/ 330 w 420"/>
              <a:gd name="p0y8" fmla="*/ 420 h 420"/>
              <a:gd name="p0x9" fmla="*/ 90 w 420"/>
              <a:gd name="p0y9" fmla="*/ 420 h 420"/>
              <a:gd name="p0x10" fmla="*/ 40 w 420"/>
              <a:gd name="p0y10" fmla="*/ 420 h 420"/>
              <a:gd name="p0x11" fmla="*/ 0 w 420"/>
              <a:gd name="p0y11" fmla="*/ 379 h 420"/>
              <a:gd name="p0x12" fmla="*/ 0 w 420"/>
              <a:gd name="p0y12" fmla="*/ 330 h 420"/>
              <a:gd name="p0x13" fmla="*/ 0 w 420"/>
              <a:gd name="p0y13" fmla="*/ 90 h 420"/>
              <a:gd name="p0x14" fmla="*/ 0 w 420"/>
              <a:gd name="p0y14" fmla="*/ 40 h 420"/>
              <a:gd name="p0x15" fmla="*/ 40 w 420"/>
              <a:gd name="p0y15" fmla="*/ 0 h 420"/>
              <a:gd name="p0x16" fmla="*/ 9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t="-50000" b="-50000"/>
          <a:stretch>
            <a:fillRect/>
          </a:stretch>
        </p:blipFill>
        <p:spPr>
          <a:xfrm>
            <a:off x="6457950" y="2420620"/>
            <a:ext cx="171450" cy="15240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25"/>
            </p:custDataLst>
          </p:nvPr>
        </p:nvSpPr>
        <p:spPr>
          <a:xfrm>
            <a:off x="6791325" y="2314385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D3E5E"/>
                </a:solidFill>
                <a:cs typeface="+mn-lt"/>
              </a:rPr>
              <a:t>远处关系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29" name="任意多边形 28"/>
          <p:cNvSpPr/>
          <p:nvPr>
            <p:custDataLst>
              <p:tags r:id="rId26"/>
            </p:custDataLst>
          </p:nvPr>
        </p:nvSpPr>
        <p:spPr>
          <a:xfrm>
            <a:off x="6414770" y="3676015"/>
            <a:ext cx="5000625" cy="476250"/>
          </a:xfrm>
          <a:custGeom>
            <a:avLst/>
            <a:gdLst>
              <a:gd name="sw" fmla="*/ 1 w 7875"/>
              <a:gd name="sh" fmla="*/ 1 h 750"/>
              <a:gd name="mins" fmla="min sw sh"/>
              <a:gd name="dsw" fmla="+- 0 sw mins"/>
              <a:gd name="dsh" fmla="+- 0 sh mins"/>
              <a:gd name="p0x0" fmla="*/ 90 w 7875"/>
              <a:gd name="p0y0" fmla="*/ 0 h 750"/>
              <a:gd name="p0x1" fmla="*/ 7785 w 7875"/>
              <a:gd name="p0y1" fmla="*/ 0 h 750"/>
              <a:gd name="p0x2" fmla="*/ 7834 w 7875"/>
              <a:gd name="p0y2" fmla="*/ 0 h 750"/>
              <a:gd name="p0x3" fmla="*/ 7875 w 7875"/>
              <a:gd name="p0y3" fmla="*/ 40 h 750"/>
              <a:gd name="p0x4" fmla="*/ 7875 w 7875"/>
              <a:gd name="p0y4" fmla="*/ 90 h 750"/>
              <a:gd name="p0x5" fmla="*/ 7875 w 7875"/>
              <a:gd name="p0y5" fmla="*/ 660 h 750"/>
              <a:gd name="p0x6" fmla="*/ 7875 w 7875"/>
              <a:gd name="p0y6" fmla="*/ 709 h 750"/>
              <a:gd name="p0x7" fmla="*/ 7834 w 7875"/>
              <a:gd name="p0y7" fmla="*/ 750 h 750"/>
              <a:gd name="p0x8" fmla="*/ 7785 w 7875"/>
              <a:gd name="p0y8" fmla="*/ 750 h 750"/>
              <a:gd name="p0x9" fmla="*/ 90 w 7875"/>
              <a:gd name="p0y9" fmla="*/ 750 h 750"/>
              <a:gd name="p0x10" fmla="*/ 40 w 7875"/>
              <a:gd name="p0y10" fmla="*/ 750 h 750"/>
              <a:gd name="p0x11" fmla="*/ 0 w 7875"/>
              <a:gd name="p0y11" fmla="*/ 709 h 750"/>
              <a:gd name="p0x12" fmla="*/ 0 w 7875"/>
              <a:gd name="p0y12" fmla="*/ 660 h 750"/>
              <a:gd name="p0x13" fmla="*/ 0 w 7875"/>
              <a:gd name="p0y13" fmla="*/ 90 h 750"/>
              <a:gd name="p0x14" fmla="*/ 0 w 7875"/>
              <a:gd name="p0y14" fmla="*/ 40 h 750"/>
              <a:gd name="p0x15" fmla="*/ 40 w 7875"/>
              <a:gd name="p0y15" fmla="*/ 0 h 750"/>
              <a:gd name="p0x16" fmla="*/ 90 w 7875"/>
              <a:gd name="p0y16" fmla="*/ 0 h 7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7"/>
            </p:custDataLst>
          </p:nvPr>
        </p:nvSpPr>
        <p:spPr>
          <a:xfrm>
            <a:off x="6572250" y="3780911"/>
            <a:ext cx="46863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chemeClr val="tx2"/>
                </a:solidFill>
                <a:cs typeface="+mn-lt"/>
              </a:rPr>
              <a:t>把</a:t>
            </a:r>
            <a:r>
              <a:rPr sz="1500" b="1">
                <a:solidFill>
                  <a:schemeClr val="tx2"/>
                </a:solidFill>
                <a:cs typeface="+mn-lt"/>
              </a:rPr>
              <a:t>相距很远的片段</a:t>
            </a:r>
            <a:r>
              <a:rPr sz="1500">
                <a:solidFill>
                  <a:schemeClr val="tx2"/>
                </a:solidFill>
                <a:cs typeface="+mn-lt"/>
              </a:rPr>
              <a:t>联系起来</a:t>
            </a:r>
            <a:endParaRPr sz="1500">
              <a:solidFill>
                <a:schemeClr val="tx2"/>
              </a:solidFill>
              <a:cs typeface="+mn-lt"/>
            </a:endParaRPr>
          </a:p>
        </p:txBody>
      </p:sp>
      <p:sp>
        <p:nvSpPr>
          <p:cNvPr id="31" name="任意多边形 30"/>
          <p:cNvSpPr/>
          <p:nvPr>
            <p:custDataLst>
              <p:tags r:id="rId28"/>
            </p:custDataLst>
          </p:nvPr>
        </p:nvSpPr>
        <p:spPr>
          <a:xfrm>
            <a:off x="6414770" y="5035550"/>
            <a:ext cx="5000625" cy="476250"/>
          </a:xfrm>
          <a:custGeom>
            <a:avLst/>
            <a:gdLst>
              <a:gd name="sw" fmla="*/ 1 w 7875"/>
              <a:gd name="sh" fmla="*/ 1 h 750"/>
              <a:gd name="mins" fmla="min sw sh"/>
              <a:gd name="dsw" fmla="+- 0 sw mins"/>
              <a:gd name="dsh" fmla="+- 0 sh mins"/>
              <a:gd name="p0x0" fmla="*/ 90 w 7875"/>
              <a:gd name="p0y0" fmla="*/ 0 h 750"/>
              <a:gd name="p0x1" fmla="*/ 7785 w 7875"/>
              <a:gd name="p0y1" fmla="*/ 0 h 750"/>
              <a:gd name="p0x2" fmla="*/ 7834 w 7875"/>
              <a:gd name="p0y2" fmla="*/ 0 h 750"/>
              <a:gd name="p0x3" fmla="*/ 7875 w 7875"/>
              <a:gd name="p0y3" fmla="*/ 40 h 750"/>
              <a:gd name="p0x4" fmla="*/ 7875 w 7875"/>
              <a:gd name="p0y4" fmla="*/ 90 h 750"/>
              <a:gd name="p0x5" fmla="*/ 7875 w 7875"/>
              <a:gd name="p0y5" fmla="*/ 660 h 750"/>
              <a:gd name="p0x6" fmla="*/ 7875 w 7875"/>
              <a:gd name="p0y6" fmla="*/ 709 h 750"/>
              <a:gd name="p0x7" fmla="*/ 7834 w 7875"/>
              <a:gd name="p0y7" fmla="*/ 750 h 750"/>
              <a:gd name="p0x8" fmla="*/ 7785 w 7875"/>
              <a:gd name="p0y8" fmla="*/ 750 h 750"/>
              <a:gd name="p0x9" fmla="*/ 90 w 7875"/>
              <a:gd name="p0y9" fmla="*/ 750 h 750"/>
              <a:gd name="p0x10" fmla="*/ 40 w 7875"/>
              <a:gd name="p0y10" fmla="*/ 750 h 750"/>
              <a:gd name="p0x11" fmla="*/ 0 w 7875"/>
              <a:gd name="p0y11" fmla="*/ 709 h 750"/>
              <a:gd name="p0x12" fmla="*/ 0 w 7875"/>
              <a:gd name="p0y12" fmla="*/ 660 h 750"/>
              <a:gd name="p0x13" fmla="*/ 0 w 7875"/>
              <a:gd name="p0y13" fmla="*/ 90 h 750"/>
              <a:gd name="p0x14" fmla="*/ 0 w 7875"/>
              <a:gd name="p0y14" fmla="*/ 40 h 750"/>
              <a:gd name="p0x15" fmla="*/ 40 w 7875"/>
              <a:gd name="p0y15" fmla="*/ 0 h 750"/>
              <a:gd name="p0x16" fmla="*/ 90 w 7875"/>
              <a:gd name="p0y16" fmla="*/ 0 h 7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9"/>
            </p:custDataLst>
          </p:nvPr>
        </p:nvSpPr>
        <p:spPr>
          <a:xfrm>
            <a:off x="6572250" y="5140747"/>
            <a:ext cx="26003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chemeClr val="tx2"/>
                </a:solidFill>
                <a:cs typeface="+mn-lt"/>
              </a:rPr>
              <a:t>基因</a:t>
            </a:r>
            <a:r>
              <a:rPr lang="en-US" altLang="zh-CN" sz="1500">
                <a:solidFill>
                  <a:schemeClr val="tx2"/>
                </a:solidFill>
                <a:cs typeface="+mn-lt"/>
              </a:rPr>
              <a:t> —— </a:t>
            </a:r>
            <a:r>
              <a:rPr sz="1500" b="1">
                <a:solidFill>
                  <a:schemeClr val="tx2"/>
                </a:solidFill>
                <a:cs typeface="+mn-lt"/>
              </a:rPr>
              <a:t>调控片段（距离）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预测</a:t>
            </a:r>
            <a:r>
              <a:rPr lang="en-US" altLang="zh-CN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 </a:t>
            </a: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输出多种实验信号</a:t>
            </a:r>
            <a:endParaRPr lang="zh-CN" altLang="en-US"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4A6E8E"/>
                </a:solidFill>
                <a:cs typeface="+mn-lt"/>
              </a:rPr>
              <a:t>AlphaGenome 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不只输出一个</a:t>
            </a:r>
            <a:r>
              <a:rPr lang="en-US" altLang="zh-CN" sz="1500">
                <a:solidFill>
                  <a:srgbClr val="4A6E8E"/>
                </a:solidFill>
                <a:cs typeface="+mn-lt"/>
              </a:rPr>
              <a:t>"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有影响</a:t>
            </a:r>
            <a:r>
              <a:rPr lang="en-US" altLang="zh-CN" sz="1500">
                <a:solidFill>
                  <a:srgbClr val="4A6E8E"/>
                </a:solidFill>
                <a:cs typeface="+mn-lt"/>
              </a:rPr>
              <a:t>/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无影响</a:t>
            </a:r>
            <a:r>
              <a:rPr lang="en-US" altLang="zh-CN" sz="1500">
                <a:solidFill>
                  <a:srgbClr val="4A6E8E"/>
                </a:solidFill>
                <a:cs typeface="+mn-lt"/>
              </a:rPr>
              <a:t>"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的答案，而会针对多种实验类型生成预测。</a:t>
            </a:r>
            <a:endParaRPr lang="zh-CN" altLang="en-US"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1500" y="1584325"/>
            <a:ext cx="11049000" cy="590550"/>
          </a:xfrm>
          <a:custGeom>
            <a:avLst/>
            <a:gdLst>
              <a:gd name="sw" fmla="*/ 1 w 17400"/>
              <a:gd name="sh" fmla="*/ 1 h 930"/>
              <a:gd name="mins" fmla="min sw sh"/>
              <a:gd name="dsw" fmla="+- 0 sw mins"/>
              <a:gd name="dsh" fmla="+- 0 sh mins"/>
              <a:gd name="p0x0" fmla="*/ 180 w 17400"/>
              <a:gd name="p0y0" fmla="*/ 0 h 930"/>
              <a:gd name="p0x1" fmla="*/ 17220 w 17400"/>
              <a:gd name="p0y1" fmla="*/ 0 h 930"/>
              <a:gd name="p0x2" fmla="*/ 17319 w 17400"/>
              <a:gd name="p0y2" fmla="*/ 0 h 930"/>
              <a:gd name="p0x3" fmla="*/ 17400 w 17400"/>
              <a:gd name="p0y3" fmla="*/ 80 h 930"/>
              <a:gd name="p0x4" fmla="*/ 17400 w 17400"/>
              <a:gd name="p0y4" fmla="*/ 180 h 930"/>
              <a:gd name="p0x5" fmla="*/ 17400 w 17400"/>
              <a:gd name="p0y5" fmla="*/ 750 h 930"/>
              <a:gd name="p0x6" fmla="*/ 17400 w 17400"/>
              <a:gd name="p0y6" fmla="*/ 849 h 930"/>
              <a:gd name="p0x7" fmla="*/ 17319 w 17400"/>
              <a:gd name="p0y7" fmla="*/ 930 h 930"/>
              <a:gd name="p0x8" fmla="*/ 17220 w 17400"/>
              <a:gd name="p0y8" fmla="*/ 930 h 930"/>
              <a:gd name="p0x9" fmla="*/ 180 w 17400"/>
              <a:gd name="p0y9" fmla="*/ 930 h 930"/>
              <a:gd name="p0x10" fmla="*/ 80 w 17400"/>
              <a:gd name="p0y10" fmla="*/ 930 h 930"/>
              <a:gd name="p0x11" fmla="*/ 0 w 17400"/>
              <a:gd name="p0y11" fmla="*/ 849 h 930"/>
              <a:gd name="p0x12" fmla="*/ 0 w 17400"/>
              <a:gd name="p0y12" fmla="*/ 750 h 930"/>
              <a:gd name="p0x13" fmla="*/ 0 w 17400"/>
              <a:gd name="p0y13" fmla="*/ 180 h 930"/>
              <a:gd name="p0x14" fmla="*/ 0 w 17400"/>
              <a:gd name="p0y14" fmla="*/ 80 h 930"/>
              <a:gd name="p0x15" fmla="*/ 80 w 17400"/>
              <a:gd name="p0y15" fmla="*/ 0 h 930"/>
              <a:gd name="p0x16" fmla="*/ 180 w 17400"/>
              <a:gd name="p0y16" fmla="*/ 0 h 9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329"/>
              <a:lumOff val="82671"/>
            </a:schemeClr>
          </a:solidFill>
          <a:ln>
            <a:noFill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762000" y="1721729"/>
            <a:ext cx="3429152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1D3E5E"/>
                </a:solidFill>
                <a:cs typeface="+mn-lt"/>
              </a:rPr>
              <a:t>针对多种实验类型生成</a:t>
            </a:r>
            <a:r>
              <a:rPr b="1">
                <a:solidFill>
                  <a:srgbClr val="0E5A9E"/>
                </a:solidFill>
                <a:cs typeface="+mn-lt"/>
              </a:rPr>
              <a:t>预测信号</a:t>
            </a:r>
            <a:endParaRPr b="1">
              <a:solidFill>
                <a:srgbClr val="0E5A9E"/>
              </a:solidFill>
              <a:cs typeface="+mn-lt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575945" y="2545080"/>
            <a:ext cx="2638425" cy="3926840"/>
          </a:xfrm>
          <a:custGeom>
            <a:avLst/>
            <a:gdLst>
              <a:gd name="sw" fmla="*/ 1 w 4155"/>
              <a:gd name="sh" fmla="*/ 1 h 6184"/>
              <a:gd name="mins" fmla="min sw sh"/>
              <a:gd name="dsw" fmla="+- 0 sw mins"/>
              <a:gd name="dsh" fmla="+- 0 sh mins"/>
              <a:gd name="p0x0" fmla="*/ 270 w 4155"/>
              <a:gd name="p0y0" fmla="*/ 0 h 6184"/>
              <a:gd name="p0x1" fmla="*/ 3885 w 4155"/>
              <a:gd name="p0y1" fmla="*/ 0 h 6184"/>
              <a:gd name="p0x2" fmla="*/ 4034 w 4155"/>
              <a:gd name="p0y2" fmla="*/ 0 h 6184"/>
              <a:gd name="p0x3" fmla="*/ 4155 w 4155"/>
              <a:gd name="p0y3" fmla="*/ 120 h 6184"/>
              <a:gd name="p0x4" fmla="*/ 4155 w 4155"/>
              <a:gd name="p0y4" fmla="*/ 270 h 6184"/>
              <a:gd name="p0x5" fmla="*/ 4155 w 4155"/>
              <a:gd name="p0y5" fmla="*/ 5914 h 6184"/>
              <a:gd name="p0x6" fmla="*/ 4155 w 4155"/>
              <a:gd name="p0y6" fmla="*/ 6063 h 6184"/>
              <a:gd name="p0x7" fmla="*/ 4034 w 4155"/>
              <a:gd name="p0y7" fmla="*/ 6184 h 6184"/>
              <a:gd name="p0x8" fmla="*/ 3885 w 4155"/>
              <a:gd name="p0y8" fmla="*/ 6184 h 6184"/>
              <a:gd name="p0x9" fmla="*/ 270 w 4155"/>
              <a:gd name="p0y9" fmla="*/ 6184 h 6184"/>
              <a:gd name="p0x10" fmla="*/ 120 w 4155"/>
              <a:gd name="p0y10" fmla="*/ 6184 h 6184"/>
              <a:gd name="p0x11" fmla="*/ 0 w 4155"/>
              <a:gd name="p0y11" fmla="*/ 6063 h 6184"/>
              <a:gd name="p0x12" fmla="*/ 0 w 4155"/>
              <a:gd name="p0y12" fmla="*/ 5914 h 6184"/>
              <a:gd name="p0x13" fmla="*/ 0 w 4155"/>
              <a:gd name="p0y13" fmla="*/ 270 h 6184"/>
              <a:gd name="p0x14" fmla="*/ 0 w 4155"/>
              <a:gd name="p0y14" fmla="*/ 120 h 6184"/>
              <a:gd name="p0x15" fmla="*/ 120 w 4155"/>
              <a:gd name="p0y15" fmla="*/ 0 h 6184"/>
              <a:gd name="p0x16" fmla="*/ 270 w 415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733425" y="3898900"/>
            <a:ext cx="2324100" cy="1219200"/>
            <a:chOff x="1155" y="6140"/>
            <a:chExt cx="3660" cy="1920"/>
          </a:xfrm>
        </p:grpSpPr>
        <p:sp>
          <p:nvSpPr>
            <p:cNvPr id="9" name="任意多边形 8"/>
            <p:cNvSpPr/>
            <p:nvPr>
              <p:custDataLst>
                <p:tags r:id="rId6"/>
              </p:custDataLst>
            </p:nvPr>
          </p:nvSpPr>
          <p:spPr>
            <a:xfrm>
              <a:off x="1155" y="6140"/>
              <a:ext cx="3660" cy="1920"/>
            </a:xfrm>
            <a:custGeom>
              <a:avLst/>
              <a:gdLst>
                <a:gd name="sw" fmla="*/ 1 w 3660"/>
                <a:gd name="sh" fmla="*/ 1 h 1920"/>
                <a:gd name="mins" fmla="min sw sh"/>
                <a:gd name="dsw" fmla="+- 0 sw mins"/>
                <a:gd name="dsh" fmla="+- 0 sh mins"/>
                <a:gd name="p0x0" fmla="*/ 180 w 3660"/>
                <a:gd name="p0y0" fmla="*/ 0 h 1920"/>
                <a:gd name="p0x1" fmla="*/ 3480 w 3660"/>
                <a:gd name="p0y1" fmla="*/ 0 h 1920"/>
                <a:gd name="p0x2" fmla="*/ 3579 w 3660"/>
                <a:gd name="p0y2" fmla="*/ 0 h 1920"/>
                <a:gd name="p0x3" fmla="*/ 3660 w 3660"/>
                <a:gd name="p0y3" fmla="*/ 80 h 1920"/>
                <a:gd name="p0x4" fmla="*/ 3660 w 3660"/>
                <a:gd name="p0y4" fmla="*/ 180 h 1920"/>
                <a:gd name="p0x5" fmla="*/ 3660 w 3660"/>
                <a:gd name="p0y5" fmla="*/ 1740 h 1920"/>
                <a:gd name="p0x6" fmla="*/ 3660 w 3660"/>
                <a:gd name="p0y6" fmla="*/ 1839 h 1920"/>
                <a:gd name="p0x7" fmla="*/ 3579 w 3660"/>
                <a:gd name="p0y7" fmla="*/ 1920 h 1920"/>
                <a:gd name="p0x8" fmla="*/ 3480 w 3660"/>
                <a:gd name="p0y8" fmla="*/ 1920 h 1920"/>
                <a:gd name="p0x9" fmla="*/ 180 w 3660"/>
                <a:gd name="p0y9" fmla="*/ 1920 h 1920"/>
                <a:gd name="p0x10" fmla="*/ 80 w 3660"/>
                <a:gd name="p0y10" fmla="*/ 1920 h 1920"/>
                <a:gd name="p0x11" fmla="*/ 0 w 3660"/>
                <a:gd name="p0y11" fmla="*/ 1839 h 1920"/>
                <a:gd name="p0x12" fmla="*/ 0 w 3660"/>
                <a:gd name="p0y12" fmla="*/ 1740 h 1920"/>
                <a:gd name="p0x13" fmla="*/ 0 w 3660"/>
                <a:gd name="p0y13" fmla="*/ 180 h 1920"/>
                <a:gd name="p0x14" fmla="*/ 0 w 3660"/>
                <a:gd name="p0y14" fmla="*/ 80 h 1920"/>
                <a:gd name="p0x15" fmla="*/ 80 w 3660"/>
                <a:gd name="p0y15" fmla="*/ 0 h 1920"/>
                <a:gd name="p0x16" fmla="*/ 180 w 3660"/>
                <a:gd name="p0y16" fmla="*/ 0 h 19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7"/>
              </p:custDataLst>
            </p:nvPr>
          </p:nvSpPr>
          <p:spPr>
            <a:xfrm>
              <a:off x="1266" y="6140"/>
              <a:ext cx="3496" cy="63"/>
            </a:xfrm>
            <a:custGeom>
              <a:avLst/>
              <a:gdLst>
                <a:gd name="sw" fmla="*/ 1 w 3496"/>
                <a:gd name="sh" fmla="*/ 1 h 63"/>
                <a:gd name="mins" fmla="min sw sh"/>
                <a:gd name="dsw" fmla="+- 0 sw mins"/>
                <a:gd name="dsh" fmla="+- 0 sh mins"/>
                <a:gd name="p0x0" fmla="*/ 68 w 3496"/>
                <a:gd name="p0y0" fmla="*/ 0 h 63"/>
                <a:gd name="p0x1" fmla="*/ 3368 w 3496"/>
                <a:gd name="p0y1" fmla="*/ 0 h 63"/>
                <a:gd name="p0x2" fmla="*/ 3418 w 3496"/>
                <a:gd name="p0y2" fmla="*/ 0 h 63"/>
                <a:gd name="p0x3" fmla="*/ 3463 w 3496"/>
                <a:gd name="p0y3" fmla="*/ 20 h 63"/>
                <a:gd name="p0x4" fmla="*/ 3496 w 3496"/>
                <a:gd name="p0y4" fmla="*/ 52 h 63"/>
                <a:gd name="p0x5" fmla="*/ 3485 w 3496"/>
                <a:gd name="p0y5" fmla="*/ 63 h 63"/>
                <a:gd name="p0x6" fmla="*/ 3455 w 3496"/>
                <a:gd name="p0y6" fmla="*/ 33 h 63"/>
                <a:gd name="p0x7" fmla="*/ 3414 w 3496"/>
                <a:gd name="p0y7" fmla="*/ 15 h 63"/>
                <a:gd name="p0x8" fmla="*/ 3368 w 3496"/>
                <a:gd name="p0y8" fmla="*/ 15 h 63"/>
                <a:gd name="p0x9" fmla="*/ 68 w 3496"/>
                <a:gd name="p0y9" fmla="*/ 15 h 63"/>
                <a:gd name="p0x10" fmla="*/ 50 w 3496"/>
                <a:gd name="p0y10" fmla="*/ 15 h 63"/>
                <a:gd name="p0x11" fmla="*/ 33 w 3496"/>
                <a:gd name="p0y11" fmla="*/ 19 h 63"/>
                <a:gd name="p0x12" fmla="*/ 17 w 3496"/>
                <a:gd name="p0y12" fmla="*/ 27 h 63"/>
                <a:gd name="p0x13" fmla="*/ 0 w 3496"/>
                <a:gd name="p0y13" fmla="*/ 13 h 63"/>
                <a:gd name="p0x14" fmla="*/ 0 w 3496"/>
                <a:gd name="p0y14" fmla="*/ 13 h 63"/>
                <a:gd name="p0x15" fmla="*/ 21 w 3496"/>
                <a:gd name="p0y15" fmla="*/ 4 h 63"/>
                <a:gd name="p0x16" fmla="*/ 44 w 3496"/>
                <a:gd name="p0y16" fmla="*/ 0 h 63"/>
                <a:gd name="p0x17" fmla="*/ 68 w 3496"/>
                <a:gd name="p0y17" fmla="*/ 0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8"/>
              </p:custDataLst>
            </p:nvPr>
          </p:nvSpPr>
          <p:spPr>
            <a:xfrm>
              <a:off x="4751" y="6193"/>
              <a:ext cx="64" cy="1814"/>
            </a:xfrm>
            <a:custGeom>
              <a:avLst/>
              <a:gdLst>
                <a:gd name="sw" fmla="*/ 1 w 63"/>
                <a:gd name="sh" fmla="*/ 1 h 1814"/>
                <a:gd name="mins" fmla="min sw sh"/>
                <a:gd name="dsw" fmla="+- 0 sw mins"/>
                <a:gd name="dsh" fmla="+- 0 sh mins"/>
                <a:gd name="p0x0" fmla="*/ 63 w 63"/>
                <a:gd name="p0y0" fmla="*/ 127 h 1814"/>
                <a:gd name="p0x1" fmla="*/ 63 w 63"/>
                <a:gd name="p0y1" fmla="*/ 1687 h 1814"/>
                <a:gd name="p0x2" fmla="*/ 63 w 63"/>
                <a:gd name="p0y2" fmla="*/ 1736 h 1814"/>
                <a:gd name="p0x3" fmla="*/ 43 w 63"/>
                <a:gd name="p0y3" fmla="*/ 1781 h 1814"/>
                <a:gd name="p0x4" fmla="*/ 10 w 63"/>
                <a:gd name="p0y4" fmla="*/ 1814 h 1814"/>
                <a:gd name="p0x5" fmla="*/ 0 w 63"/>
                <a:gd name="p0y5" fmla="*/ 1803 h 1814"/>
                <a:gd name="p0x6" fmla="*/ 29 w 63"/>
                <a:gd name="p0y6" fmla="*/ 1774 h 1814"/>
                <a:gd name="p0x7" fmla="*/ 48 w 63"/>
                <a:gd name="p0y7" fmla="*/ 1732 h 1814"/>
                <a:gd name="p0x8" fmla="*/ 48 w 63"/>
                <a:gd name="p0y8" fmla="*/ 1687 h 1814"/>
                <a:gd name="p0x9" fmla="*/ 48 w 63"/>
                <a:gd name="p0y9" fmla="*/ 127 h 1814"/>
                <a:gd name="p0x10" fmla="*/ 48 w 63"/>
                <a:gd name="p0y10" fmla="*/ 81 h 1814"/>
                <a:gd name="p0x11" fmla="*/ 29 w 63"/>
                <a:gd name="p0y11" fmla="*/ 40 h 1814"/>
                <a:gd name="p0x12" fmla="*/ 0 w 63"/>
                <a:gd name="p0y12" fmla="*/ 10 h 1814"/>
                <a:gd name="p0x13" fmla="*/ 10 w 63"/>
                <a:gd name="p0y13" fmla="*/ 0 h 1814"/>
                <a:gd name="p0x14" fmla="*/ 43 w 63"/>
                <a:gd name="p0y14" fmla="*/ 32 h 1814"/>
                <a:gd name="p0x15" fmla="*/ 63 w 63"/>
                <a:gd name="p0y15" fmla="*/ 77 h 1814"/>
                <a:gd name="p0x16" fmla="*/ 63 w 63"/>
                <a:gd name="p0y16" fmla="*/ 127 h 181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9"/>
              </p:custDataLst>
            </p:nvPr>
          </p:nvSpPr>
          <p:spPr>
            <a:xfrm>
              <a:off x="1266" y="7997"/>
              <a:ext cx="3496" cy="63"/>
            </a:xfrm>
            <a:custGeom>
              <a:avLst/>
              <a:gdLst>
                <a:gd name="sw" fmla="*/ 1 w 3496"/>
                <a:gd name="sh" fmla="*/ 1 h 63"/>
                <a:gd name="mins" fmla="min sw sh"/>
                <a:gd name="dsw" fmla="+- 0 sw mins"/>
                <a:gd name="dsh" fmla="+- 0 sh mins"/>
                <a:gd name="p0x0" fmla="*/ 3368 w 3496"/>
                <a:gd name="p0y0" fmla="*/ 63 h 63"/>
                <a:gd name="p0x1" fmla="*/ 68 w 3496"/>
                <a:gd name="p0y1" fmla="*/ 63 h 63"/>
                <a:gd name="p0x2" fmla="*/ 44 w 3496"/>
                <a:gd name="p0y2" fmla="*/ 63 h 63"/>
                <a:gd name="p0x3" fmla="*/ 21 w 3496"/>
                <a:gd name="p0y3" fmla="*/ 58 h 63"/>
                <a:gd name="p0x4" fmla="*/ 0 w 3496"/>
                <a:gd name="p0y4" fmla="*/ 49 h 63"/>
                <a:gd name="p0x5" fmla="*/ 17 w 3496"/>
                <a:gd name="p0y5" fmla="*/ 35 h 63"/>
                <a:gd name="p0x6" fmla="*/ 17 w 3496"/>
                <a:gd name="p0y6" fmla="*/ 35 h 63"/>
                <a:gd name="p0x7" fmla="*/ 33 w 3496"/>
                <a:gd name="p0y7" fmla="*/ 43 h 63"/>
                <a:gd name="p0x8" fmla="*/ 50 w 3496"/>
                <a:gd name="p0y8" fmla="*/ 48 h 63"/>
                <a:gd name="p0x9" fmla="*/ 68 w 3496"/>
                <a:gd name="p0y9" fmla="*/ 48 h 63"/>
                <a:gd name="p0x10" fmla="*/ 3368 w 3496"/>
                <a:gd name="p0y10" fmla="*/ 48 h 63"/>
                <a:gd name="p0x11" fmla="*/ 3414 w 3496"/>
                <a:gd name="p0y11" fmla="*/ 48 h 63"/>
                <a:gd name="p0x12" fmla="*/ 3455 w 3496"/>
                <a:gd name="p0y12" fmla="*/ 29 h 63"/>
                <a:gd name="p0x13" fmla="*/ 3485 w 3496"/>
                <a:gd name="p0y13" fmla="*/ 0 h 63"/>
                <a:gd name="p0x14" fmla="*/ 3496 w 3496"/>
                <a:gd name="p0y14" fmla="*/ 10 h 63"/>
                <a:gd name="p0x15" fmla="*/ 3463 w 3496"/>
                <a:gd name="p0y15" fmla="*/ 43 h 63"/>
                <a:gd name="p0x16" fmla="*/ 3418 w 3496"/>
                <a:gd name="p0y16" fmla="*/ 63 h 63"/>
                <a:gd name="p0x17" fmla="*/ 3368 w 3496"/>
                <a:gd name="p0y17" fmla="*/ 63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10"/>
              </p:custDataLst>
            </p:nvPr>
          </p:nvSpPr>
          <p:spPr>
            <a:xfrm>
              <a:off x="1155" y="6154"/>
              <a:ext cx="128" cy="1892"/>
            </a:xfrm>
            <a:custGeom>
              <a:avLst/>
              <a:gdLst>
                <a:gd name="sw" fmla="*/ 1 w 128"/>
                <a:gd name="sh" fmla="*/ 1 h 1892"/>
                <a:gd name="mins" fmla="min sw sh"/>
                <a:gd name="dsw" fmla="+- 0 sw mins"/>
                <a:gd name="dsh" fmla="+- 0 sh mins"/>
                <a:gd name="p0x0" fmla="*/ 0 w 128"/>
                <a:gd name="p0y0" fmla="*/ 1726 h 1892"/>
                <a:gd name="p0x1" fmla="*/ 0 w 128"/>
                <a:gd name="p0y1" fmla="*/ 166 h 1892"/>
                <a:gd name="p0x2" fmla="*/ 0 w 128"/>
                <a:gd name="p0y2" fmla="*/ 91 h 1892"/>
                <a:gd name="p0x3" fmla="*/ 45 w 128"/>
                <a:gd name="p0y3" fmla="*/ 27 h 1892"/>
                <a:gd name="p0x4" fmla="*/ 111 w 128"/>
                <a:gd name="p0y4" fmla="*/ 0 h 1892"/>
                <a:gd name="p0x5" fmla="*/ 128 w 128"/>
                <a:gd name="p0y5" fmla="*/ 13 h 1892"/>
                <a:gd name="p0x6" fmla="*/ 128 w 128"/>
                <a:gd name="p0y6" fmla="*/ 13 h 1892"/>
                <a:gd name="p0x7" fmla="*/ 79 w 128"/>
                <a:gd name="p0y7" fmla="*/ 38 h 1892"/>
                <a:gd name="p0x8" fmla="*/ 45 w 128"/>
                <a:gd name="p0y8" fmla="*/ 97 h 1892"/>
                <a:gd name="p0x9" fmla="*/ 45 w 128"/>
                <a:gd name="p0y9" fmla="*/ 166 h 1892"/>
                <a:gd name="p0x10" fmla="*/ 45 w 128"/>
                <a:gd name="p0y10" fmla="*/ 1726 h 1892"/>
                <a:gd name="p0x11" fmla="*/ 45 w 128"/>
                <a:gd name="p0y11" fmla="*/ 1795 h 1892"/>
                <a:gd name="p0x12" fmla="*/ 79 w 128"/>
                <a:gd name="p0y12" fmla="*/ 1853 h 1892"/>
                <a:gd name="p0x13" fmla="*/ 128 w 128"/>
                <a:gd name="p0y13" fmla="*/ 1878 h 1892"/>
                <a:gd name="p0x14" fmla="*/ 111 w 128"/>
                <a:gd name="p0y14" fmla="*/ 1892 h 1892"/>
                <a:gd name="p0x15" fmla="*/ 111 w 128"/>
                <a:gd name="p0y15" fmla="*/ 1892 h 1892"/>
                <a:gd name="p0x16" fmla="*/ 45 w 128"/>
                <a:gd name="p0y16" fmla="*/ 1865 h 1892"/>
                <a:gd name="p0x17" fmla="*/ 0 w 128"/>
                <a:gd name="p0y17" fmla="*/ 1801 h 1892"/>
                <a:gd name="p0x18" fmla="*/ 0 w 128"/>
                <a:gd name="p0y18" fmla="*/ 1726 h 189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876300" y="4007739"/>
            <a:ext cx="205740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cs typeface="+mn-lt"/>
              </a:rPr>
              <a:t>染色质可及性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876300" y="4370641"/>
            <a:ext cx="20574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A6E8E"/>
                </a:solidFill>
                <a:cs typeface="+mn-lt"/>
              </a:rPr>
              <a:t>某个区域的</a:t>
            </a:r>
            <a:r>
              <a:rPr lang="en-US" altLang="zh-CN" sz="1500">
                <a:solidFill>
                  <a:srgbClr val="4A6E8E"/>
                </a:solidFill>
                <a:cs typeface="+mn-lt"/>
              </a:rPr>
              <a:t> DNA 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是否容易被细胞接触</a:t>
            </a:r>
            <a:endParaRPr lang="zh-CN" altLang="en-US"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>
            <a:off x="3376295" y="2545080"/>
            <a:ext cx="2638425" cy="3926840"/>
          </a:xfrm>
          <a:custGeom>
            <a:avLst/>
            <a:gdLst>
              <a:gd name="sw" fmla="*/ 1 w 4155"/>
              <a:gd name="sh" fmla="*/ 1 h 6184"/>
              <a:gd name="mins" fmla="min sw sh"/>
              <a:gd name="dsw" fmla="+- 0 sw mins"/>
              <a:gd name="dsh" fmla="+- 0 sh mins"/>
              <a:gd name="p0x0" fmla="*/ 270 w 4155"/>
              <a:gd name="p0y0" fmla="*/ 0 h 6184"/>
              <a:gd name="p0x1" fmla="*/ 3885 w 4155"/>
              <a:gd name="p0y1" fmla="*/ 0 h 6184"/>
              <a:gd name="p0x2" fmla="*/ 4034 w 4155"/>
              <a:gd name="p0y2" fmla="*/ 0 h 6184"/>
              <a:gd name="p0x3" fmla="*/ 4155 w 4155"/>
              <a:gd name="p0y3" fmla="*/ 120 h 6184"/>
              <a:gd name="p0x4" fmla="*/ 4155 w 4155"/>
              <a:gd name="p0y4" fmla="*/ 270 h 6184"/>
              <a:gd name="p0x5" fmla="*/ 4155 w 4155"/>
              <a:gd name="p0y5" fmla="*/ 5914 h 6184"/>
              <a:gd name="p0x6" fmla="*/ 4155 w 4155"/>
              <a:gd name="p0y6" fmla="*/ 6063 h 6184"/>
              <a:gd name="p0x7" fmla="*/ 4034 w 4155"/>
              <a:gd name="p0y7" fmla="*/ 6184 h 6184"/>
              <a:gd name="p0x8" fmla="*/ 3885 w 4155"/>
              <a:gd name="p0y8" fmla="*/ 6184 h 6184"/>
              <a:gd name="p0x9" fmla="*/ 270 w 4155"/>
              <a:gd name="p0y9" fmla="*/ 6184 h 6184"/>
              <a:gd name="p0x10" fmla="*/ 120 w 4155"/>
              <a:gd name="p0y10" fmla="*/ 6184 h 6184"/>
              <a:gd name="p0x11" fmla="*/ 0 w 4155"/>
              <a:gd name="p0y11" fmla="*/ 6063 h 6184"/>
              <a:gd name="p0x12" fmla="*/ 0 w 4155"/>
              <a:gd name="p0y12" fmla="*/ 5914 h 6184"/>
              <a:gd name="p0x13" fmla="*/ 0 w 4155"/>
              <a:gd name="p0y13" fmla="*/ 270 h 6184"/>
              <a:gd name="p0x14" fmla="*/ 0 w 4155"/>
              <a:gd name="p0y14" fmla="*/ 120 h 6184"/>
              <a:gd name="p0x15" fmla="*/ 120 w 4155"/>
              <a:gd name="p0y15" fmla="*/ 0 h 6184"/>
              <a:gd name="p0x16" fmla="*/ 270 w 415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3533775" y="3898900"/>
            <a:ext cx="2324100" cy="1219200"/>
            <a:chOff x="5565" y="6140"/>
            <a:chExt cx="3660" cy="1920"/>
          </a:xfrm>
        </p:grpSpPr>
        <p:sp>
          <p:nvSpPr>
            <p:cNvPr id="18" name="任意多边形 17"/>
            <p:cNvSpPr/>
            <p:nvPr>
              <p:custDataLst>
                <p:tags r:id="rId14"/>
              </p:custDataLst>
            </p:nvPr>
          </p:nvSpPr>
          <p:spPr>
            <a:xfrm>
              <a:off x="5565" y="6140"/>
              <a:ext cx="3660" cy="1920"/>
            </a:xfrm>
            <a:custGeom>
              <a:avLst/>
              <a:gdLst>
                <a:gd name="sw" fmla="*/ 1 w 3660"/>
                <a:gd name="sh" fmla="*/ 1 h 1920"/>
                <a:gd name="mins" fmla="min sw sh"/>
                <a:gd name="dsw" fmla="+- 0 sw mins"/>
                <a:gd name="dsh" fmla="+- 0 sh mins"/>
                <a:gd name="p0x0" fmla="*/ 180 w 3660"/>
                <a:gd name="p0y0" fmla="*/ 0 h 1920"/>
                <a:gd name="p0x1" fmla="*/ 3480 w 3660"/>
                <a:gd name="p0y1" fmla="*/ 0 h 1920"/>
                <a:gd name="p0x2" fmla="*/ 3579 w 3660"/>
                <a:gd name="p0y2" fmla="*/ 0 h 1920"/>
                <a:gd name="p0x3" fmla="*/ 3660 w 3660"/>
                <a:gd name="p0y3" fmla="*/ 80 h 1920"/>
                <a:gd name="p0x4" fmla="*/ 3660 w 3660"/>
                <a:gd name="p0y4" fmla="*/ 180 h 1920"/>
                <a:gd name="p0x5" fmla="*/ 3660 w 3660"/>
                <a:gd name="p0y5" fmla="*/ 1740 h 1920"/>
                <a:gd name="p0x6" fmla="*/ 3660 w 3660"/>
                <a:gd name="p0y6" fmla="*/ 1839 h 1920"/>
                <a:gd name="p0x7" fmla="*/ 3579 w 3660"/>
                <a:gd name="p0y7" fmla="*/ 1920 h 1920"/>
                <a:gd name="p0x8" fmla="*/ 3480 w 3660"/>
                <a:gd name="p0y8" fmla="*/ 1920 h 1920"/>
                <a:gd name="p0x9" fmla="*/ 180 w 3660"/>
                <a:gd name="p0y9" fmla="*/ 1920 h 1920"/>
                <a:gd name="p0x10" fmla="*/ 80 w 3660"/>
                <a:gd name="p0y10" fmla="*/ 1920 h 1920"/>
                <a:gd name="p0x11" fmla="*/ 0 w 3660"/>
                <a:gd name="p0y11" fmla="*/ 1839 h 1920"/>
                <a:gd name="p0x12" fmla="*/ 0 w 3660"/>
                <a:gd name="p0y12" fmla="*/ 1740 h 1920"/>
                <a:gd name="p0x13" fmla="*/ 0 w 3660"/>
                <a:gd name="p0y13" fmla="*/ 180 h 1920"/>
                <a:gd name="p0x14" fmla="*/ 0 w 3660"/>
                <a:gd name="p0y14" fmla="*/ 80 h 1920"/>
                <a:gd name="p0x15" fmla="*/ 80 w 3660"/>
                <a:gd name="p0y15" fmla="*/ 0 h 1920"/>
                <a:gd name="p0x16" fmla="*/ 180 w 3660"/>
                <a:gd name="p0y16" fmla="*/ 0 h 19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5"/>
              </p:custDataLst>
            </p:nvPr>
          </p:nvSpPr>
          <p:spPr>
            <a:xfrm>
              <a:off x="5676" y="6140"/>
              <a:ext cx="3496" cy="63"/>
            </a:xfrm>
            <a:custGeom>
              <a:avLst/>
              <a:gdLst>
                <a:gd name="sw" fmla="*/ 1 w 3496"/>
                <a:gd name="sh" fmla="*/ 1 h 63"/>
                <a:gd name="mins" fmla="min sw sh"/>
                <a:gd name="dsw" fmla="+- 0 sw mins"/>
                <a:gd name="dsh" fmla="+- 0 sh mins"/>
                <a:gd name="p0x0" fmla="*/ 68 w 3496"/>
                <a:gd name="p0y0" fmla="*/ 0 h 63"/>
                <a:gd name="p0x1" fmla="*/ 3368 w 3496"/>
                <a:gd name="p0y1" fmla="*/ 0 h 63"/>
                <a:gd name="p0x2" fmla="*/ 3418 w 3496"/>
                <a:gd name="p0y2" fmla="*/ 0 h 63"/>
                <a:gd name="p0x3" fmla="*/ 3463 w 3496"/>
                <a:gd name="p0y3" fmla="*/ 20 h 63"/>
                <a:gd name="p0x4" fmla="*/ 3496 w 3496"/>
                <a:gd name="p0y4" fmla="*/ 52 h 63"/>
                <a:gd name="p0x5" fmla="*/ 3485 w 3496"/>
                <a:gd name="p0y5" fmla="*/ 63 h 63"/>
                <a:gd name="p0x6" fmla="*/ 3455 w 3496"/>
                <a:gd name="p0y6" fmla="*/ 33 h 63"/>
                <a:gd name="p0x7" fmla="*/ 3414 w 3496"/>
                <a:gd name="p0y7" fmla="*/ 15 h 63"/>
                <a:gd name="p0x8" fmla="*/ 3368 w 3496"/>
                <a:gd name="p0y8" fmla="*/ 15 h 63"/>
                <a:gd name="p0x9" fmla="*/ 68 w 3496"/>
                <a:gd name="p0y9" fmla="*/ 15 h 63"/>
                <a:gd name="p0x10" fmla="*/ 50 w 3496"/>
                <a:gd name="p0y10" fmla="*/ 15 h 63"/>
                <a:gd name="p0x11" fmla="*/ 33 w 3496"/>
                <a:gd name="p0y11" fmla="*/ 19 h 63"/>
                <a:gd name="p0x12" fmla="*/ 17 w 3496"/>
                <a:gd name="p0y12" fmla="*/ 27 h 63"/>
                <a:gd name="p0x13" fmla="*/ 0 w 3496"/>
                <a:gd name="p0y13" fmla="*/ 13 h 63"/>
                <a:gd name="p0x14" fmla="*/ 0 w 3496"/>
                <a:gd name="p0y14" fmla="*/ 13 h 63"/>
                <a:gd name="p0x15" fmla="*/ 21 w 3496"/>
                <a:gd name="p0y15" fmla="*/ 4 h 63"/>
                <a:gd name="p0x16" fmla="*/ 44 w 3496"/>
                <a:gd name="p0y16" fmla="*/ 0 h 63"/>
                <a:gd name="p0x17" fmla="*/ 68 w 3496"/>
                <a:gd name="p0y17" fmla="*/ 0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>
              <p:custDataLst>
                <p:tags r:id="rId16"/>
              </p:custDataLst>
            </p:nvPr>
          </p:nvSpPr>
          <p:spPr>
            <a:xfrm>
              <a:off x="9161" y="6193"/>
              <a:ext cx="64" cy="1814"/>
            </a:xfrm>
            <a:custGeom>
              <a:avLst/>
              <a:gdLst>
                <a:gd name="sw" fmla="*/ 1 w 63"/>
                <a:gd name="sh" fmla="*/ 1 h 1814"/>
                <a:gd name="mins" fmla="min sw sh"/>
                <a:gd name="dsw" fmla="+- 0 sw mins"/>
                <a:gd name="dsh" fmla="+- 0 sh mins"/>
                <a:gd name="p0x0" fmla="*/ 63 w 63"/>
                <a:gd name="p0y0" fmla="*/ 127 h 1814"/>
                <a:gd name="p0x1" fmla="*/ 63 w 63"/>
                <a:gd name="p0y1" fmla="*/ 1687 h 1814"/>
                <a:gd name="p0x2" fmla="*/ 63 w 63"/>
                <a:gd name="p0y2" fmla="*/ 1736 h 1814"/>
                <a:gd name="p0x3" fmla="*/ 43 w 63"/>
                <a:gd name="p0y3" fmla="*/ 1781 h 1814"/>
                <a:gd name="p0x4" fmla="*/ 10 w 63"/>
                <a:gd name="p0y4" fmla="*/ 1814 h 1814"/>
                <a:gd name="p0x5" fmla="*/ 0 w 63"/>
                <a:gd name="p0y5" fmla="*/ 1803 h 1814"/>
                <a:gd name="p0x6" fmla="*/ 29 w 63"/>
                <a:gd name="p0y6" fmla="*/ 1774 h 1814"/>
                <a:gd name="p0x7" fmla="*/ 48 w 63"/>
                <a:gd name="p0y7" fmla="*/ 1732 h 1814"/>
                <a:gd name="p0x8" fmla="*/ 48 w 63"/>
                <a:gd name="p0y8" fmla="*/ 1687 h 1814"/>
                <a:gd name="p0x9" fmla="*/ 48 w 63"/>
                <a:gd name="p0y9" fmla="*/ 127 h 1814"/>
                <a:gd name="p0x10" fmla="*/ 48 w 63"/>
                <a:gd name="p0y10" fmla="*/ 81 h 1814"/>
                <a:gd name="p0x11" fmla="*/ 29 w 63"/>
                <a:gd name="p0y11" fmla="*/ 40 h 1814"/>
                <a:gd name="p0x12" fmla="*/ 0 w 63"/>
                <a:gd name="p0y12" fmla="*/ 10 h 1814"/>
                <a:gd name="p0x13" fmla="*/ 10 w 63"/>
                <a:gd name="p0y13" fmla="*/ 0 h 1814"/>
                <a:gd name="p0x14" fmla="*/ 43 w 63"/>
                <a:gd name="p0y14" fmla="*/ 32 h 1814"/>
                <a:gd name="p0x15" fmla="*/ 63 w 63"/>
                <a:gd name="p0y15" fmla="*/ 77 h 1814"/>
                <a:gd name="p0x16" fmla="*/ 63 w 63"/>
                <a:gd name="p0y16" fmla="*/ 127 h 181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>
              <p:custDataLst>
                <p:tags r:id="rId17"/>
              </p:custDataLst>
            </p:nvPr>
          </p:nvSpPr>
          <p:spPr>
            <a:xfrm>
              <a:off x="5676" y="7997"/>
              <a:ext cx="3496" cy="63"/>
            </a:xfrm>
            <a:custGeom>
              <a:avLst/>
              <a:gdLst>
                <a:gd name="sw" fmla="*/ 1 w 3496"/>
                <a:gd name="sh" fmla="*/ 1 h 63"/>
                <a:gd name="mins" fmla="min sw sh"/>
                <a:gd name="dsw" fmla="+- 0 sw mins"/>
                <a:gd name="dsh" fmla="+- 0 sh mins"/>
                <a:gd name="p0x0" fmla="*/ 3368 w 3496"/>
                <a:gd name="p0y0" fmla="*/ 63 h 63"/>
                <a:gd name="p0x1" fmla="*/ 68 w 3496"/>
                <a:gd name="p0y1" fmla="*/ 63 h 63"/>
                <a:gd name="p0x2" fmla="*/ 44 w 3496"/>
                <a:gd name="p0y2" fmla="*/ 63 h 63"/>
                <a:gd name="p0x3" fmla="*/ 21 w 3496"/>
                <a:gd name="p0y3" fmla="*/ 58 h 63"/>
                <a:gd name="p0x4" fmla="*/ 0 w 3496"/>
                <a:gd name="p0y4" fmla="*/ 49 h 63"/>
                <a:gd name="p0x5" fmla="*/ 17 w 3496"/>
                <a:gd name="p0y5" fmla="*/ 35 h 63"/>
                <a:gd name="p0x6" fmla="*/ 17 w 3496"/>
                <a:gd name="p0y6" fmla="*/ 35 h 63"/>
                <a:gd name="p0x7" fmla="*/ 33 w 3496"/>
                <a:gd name="p0y7" fmla="*/ 43 h 63"/>
                <a:gd name="p0x8" fmla="*/ 50 w 3496"/>
                <a:gd name="p0y8" fmla="*/ 48 h 63"/>
                <a:gd name="p0x9" fmla="*/ 68 w 3496"/>
                <a:gd name="p0y9" fmla="*/ 48 h 63"/>
                <a:gd name="p0x10" fmla="*/ 3368 w 3496"/>
                <a:gd name="p0y10" fmla="*/ 48 h 63"/>
                <a:gd name="p0x11" fmla="*/ 3414 w 3496"/>
                <a:gd name="p0y11" fmla="*/ 48 h 63"/>
                <a:gd name="p0x12" fmla="*/ 3455 w 3496"/>
                <a:gd name="p0y12" fmla="*/ 29 h 63"/>
                <a:gd name="p0x13" fmla="*/ 3485 w 3496"/>
                <a:gd name="p0y13" fmla="*/ 0 h 63"/>
                <a:gd name="p0x14" fmla="*/ 3496 w 3496"/>
                <a:gd name="p0y14" fmla="*/ 10 h 63"/>
                <a:gd name="p0x15" fmla="*/ 3463 w 3496"/>
                <a:gd name="p0y15" fmla="*/ 43 h 63"/>
                <a:gd name="p0x16" fmla="*/ 3418 w 3496"/>
                <a:gd name="p0y16" fmla="*/ 63 h 63"/>
                <a:gd name="p0x17" fmla="*/ 3368 w 3496"/>
                <a:gd name="p0y17" fmla="*/ 63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>
              <p:custDataLst>
                <p:tags r:id="rId18"/>
              </p:custDataLst>
            </p:nvPr>
          </p:nvSpPr>
          <p:spPr>
            <a:xfrm>
              <a:off x="5565" y="6154"/>
              <a:ext cx="128" cy="1892"/>
            </a:xfrm>
            <a:custGeom>
              <a:avLst/>
              <a:gdLst>
                <a:gd name="sw" fmla="*/ 1 w 128"/>
                <a:gd name="sh" fmla="*/ 1 h 1892"/>
                <a:gd name="mins" fmla="min sw sh"/>
                <a:gd name="dsw" fmla="+- 0 sw mins"/>
                <a:gd name="dsh" fmla="+- 0 sh mins"/>
                <a:gd name="p0x0" fmla="*/ 0 w 128"/>
                <a:gd name="p0y0" fmla="*/ 1726 h 1892"/>
                <a:gd name="p0x1" fmla="*/ 0 w 128"/>
                <a:gd name="p0y1" fmla="*/ 166 h 1892"/>
                <a:gd name="p0x2" fmla="*/ 0 w 128"/>
                <a:gd name="p0y2" fmla="*/ 91 h 1892"/>
                <a:gd name="p0x3" fmla="*/ 45 w 128"/>
                <a:gd name="p0y3" fmla="*/ 27 h 1892"/>
                <a:gd name="p0x4" fmla="*/ 111 w 128"/>
                <a:gd name="p0y4" fmla="*/ 0 h 1892"/>
                <a:gd name="p0x5" fmla="*/ 128 w 128"/>
                <a:gd name="p0y5" fmla="*/ 13 h 1892"/>
                <a:gd name="p0x6" fmla="*/ 128 w 128"/>
                <a:gd name="p0y6" fmla="*/ 13 h 1892"/>
                <a:gd name="p0x7" fmla="*/ 79 w 128"/>
                <a:gd name="p0y7" fmla="*/ 38 h 1892"/>
                <a:gd name="p0x8" fmla="*/ 45 w 128"/>
                <a:gd name="p0y8" fmla="*/ 97 h 1892"/>
                <a:gd name="p0x9" fmla="*/ 45 w 128"/>
                <a:gd name="p0y9" fmla="*/ 166 h 1892"/>
                <a:gd name="p0x10" fmla="*/ 45 w 128"/>
                <a:gd name="p0y10" fmla="*/ 1726 h 1892"/>
                <a:gd name="p0x11" fmla="*/ 45 w 128"/>
                <a:gd name="p0y11" fmla="*/ 1795 h 1892"/>
                <a:gd name="p0x12" fmla="*/ 79 w 128"/>
                <a:gd name="p0y12" fmla="*/ 1853 h 1892"/>
                <a:gd name="p0x13" fmla="*/ 128 w 128"/>
                <a:gd name="p0y13" fmla="*/ 1878 h 1892"/>
                <a:gd name="p0x14" fmla="*/ 111 w 128"/>
                <a:gd name="p0y14" fmla="*/ 1892 h 1892"/>
                <a:gd name="p0x15" fmla="*/ 111 w 128"/>
                <a:gd name="p0y15" fmla="*/ 1892 h 1892"/>
                <a:gd name="p0x16" fmla="*/ 45 w 128"/>
                <a:gd name="p0y16" fmla="*/ 1865 h 1892"/>
                <a:gd name="p0x17" fmla="*/ 0 w 128"/>
                <a:gd name="p0y17" fmla="*/ 1801 h 1892"/>
                <a:gd name="p0x18" fmla="*/ 0 w 128"/>
                <a:gd name="p0y18" fmla="*/ 1726 h 189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4" name="文本框 23"/>
          <p:cNvSpPr txBox="1"/>
          <p:nvPr>
            <p:custDataLst>
              <p:tags r:id="rId19"/>
            </p:custDataLst>
          </p:nvPr>
        </p:nvSpPr>
        <p:spPr>
          <a:xfrm>
            <a:off x="3676650" y="4007739"/>
            <a:ext cx="205740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cs typeface="+mn-lt"/>
              </a:rPr>
              <a:t>转录因子结合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20"/>
            </p:custDataLst>
          </p:nvPr>
        </p:nvSpPr>
        <p:spPr>
          <a:xfrm>
            <a:off x="3676650" y="4370641"/>
            <a:ext cx="20574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E8E"/>
                </a:solidFill>
                <a:cs typeface="+mn-lt"/>
              </a:rPr>
              <a:t>某些转录因子是否可能结合到该处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26" name="任意多边形 25"/>
          <p:cNvSpPr/>
          <p:nvPr>
            <p:custDataLst>
              <p:tags r:id="rId21"/>
            </p:custDataLst>
          </p:nvPr>
        </p:nvSpPr>
        <p:spPr>
          <a:xfrm>
            <a:off x="6176645" y="2545080"/>
            <a:ext cx="2638425" cy="3926840"/>
          </a:xfrm>
          <a:custGeom>
            <a:avLst/>
            <a:gdLst>
              <a:gd name="sw" fmla="*/ 1 w 4155"/>
              <a:gd name="sh" fmla="*/ 1 h 6184"/>
              <a:gd name="mins" fmla="min sw sh"/>
              <a:gd name="dsw" fmla="+- 0 sw mins"/>
              <a:gd name="dsh" fmla="+- 0 sh mins"/>
              <a:gd name="p0x0" fmla="*/ 270 w 4155"/>
              <a:gd name="p0y0" fmla="*/ 0 h 6184"/>
              <a:gd name="p0x1" fmla="*/ 3885 w 4155"/>
              <a:gd name="p0y1" fmla="*/ 0 h 6184"/>
              <a:gd name="p0x2" fmla="*/ 4034 w 4155"/>
              <a:gd name="p0y2" fmla="*/ 0 h 6184"/>
              <a:gd name="p0x3" fmla="*/ 4155 w 4155"/>
              <a:gd name="p0y3" fmla="*/ 120 h 6184"/>
              <a:gd name="p0x4" fmla="*/ 4155 w 4155"/>
              <a:gd name="p0y4" fmla="*/ 270 h 6184"/>
              <a:gd name="p0x5" fmla="*/ 4155 w 4155"/>
              <a:gd name="p0y5" fmla="*/ 5914 h 6184"/>
              <a:gd name="p0x6" fmla="*/ 4155 w 4155"/>
              <a:gd name="p0y6" fmla="*/ 6063 h 6184"/>
              <a:gd name="p0x7" fmla="*/ 4034 w 4155"/>
              <a:gd name="p0y7" fmla="*/ 6184 h 6184"/>
              <a:gd name="p0x8" fmla="*/ 3885 w 4155"/>
              <a:gd name="p0y8" fmla="*/ 6184 h 6184"/>
              <a:gd name="p0x9" fmla="*/ 270 w 4155"/>
              <a:gd name="p0y9" fmla="*/ 6184 h 6184"/>
              <a:gd name="p0x10" fmla="*/ 120 w 4155"/>
              <a:gd name="p0y10" fmla="*/ 6184 h 6184"/>
              <a:gd name="p0x11" fmla="*/ 0 w 4155"/>
              <a:gd name="p0y11" fmla="*/ 6063 h 6184"/>
              <a:gd name="p0x12" fmla="*/ 0 w 4155"/>
              <a:gd name="p0y12" fmla="*/ 5914 h 6184"/>
              <a:gd name="p0x13" fmla="*/ 0 w 4155"/>
              <a:gd name="p0y13" fmla="*/ 270 h 6184"/>
              <a:gd name="p0x14" fmla="*/ 0 w 4155"/>
              <a:gd name="p0y14" fmla="*/ 120 h 6184"/>
              <a:gd name="p0x15" fmla="*/ 120 w 4155"/>
              <a:gd name="p0y15" fmla="*/ 0 h 6184"/>
              <a:gd name="p0x16" fmla="*/ 270 w 415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6334125" y="3898900"/>
            <a:ext cx="2324100" cy="1219200"/>
            <a:chOff x="9975" y="6140"/>
            <a:chExt cx="3660" cy="1920"/>
          </a:xfrm>
        </p:grpSpPr>
        <p:sp>
          <p:nvSpPr>
            <p:cNvPr id="27" name="任意多边形 26"/>
            <p:cNvSpPr/>
            <p:nvPr>
              <p:custDataLst>
                <p:tags r:id="rId22"/>
              </p:custDataLst>
            </p:nvPr>
          </p:nvSpPr>
          <p:spPr>
            <a:xfrm>
              <a:off x="9975" y="6140"/>
              <a:ext cx="3660" cy="1920"/>
            </a:xfrm>
            <a:custGeom>
              <a:avLst/>
              <a:gdLst>
                <a:gd name="sw" fmla="*/ 1 w 3660"/>
                <a:gd name="sh" fmla="*/ 1 h 1920"/>
                <a:gd name="mins" fmla="min sw sh"/>
                <a:gd name="dsw" fmla="+- 0 sw mins"/>
                <a:gd name="dsh" fmla="+- 0 sh mins"/>
                <a:gd name="p0x0" fmla="*/ 180 w 3660"/>
                <a:gd name="p0y0" fmla="*/ 0 h 1920"/>
                <a:gd name="p0x1" fmla="*/ 3480 w 3660"/>
                <a:gd name="p0y1" fmla="*/ 0 h 1920"/>
                <a:gd name="p0x2" fmla="*/ 3579 w 3660"/>
                <a:gd name="p0y2" fmla="*/ 0 h 1920"/>
                <a:gd name="p0x3" fmla="*/ 3660 w 3660"/>
                <a:gd name="p0y3" fmla="*/ 80 h 1920"/>
                <a:gd name="p0x4" fmla="*/ 3660 w 3660"/>
                <a:gd name="p0y4" fmla="*/ 180 h 1920"/>
                <a:gd name="p0x5" fmla="*/ 3660 w 3660"/>
                <a:gd name="p0y5" fmla="*/ 1740 h 1920"/>
                <a:gd name="p0x6" fmla="*/ 3660 w 3660"/>
                <a:gd name="p0y6" fmla="*/ 1839 h 1920"/>
                <a:gd name="p0x7" fmla="*/ 3579 w 3660"/>
                <a:gd name="p0y7" fmla="*/ 1920 h 1920"/>
                <a:gd name="p0x8" fmla="*/ 3480 w 3660"/>
                <a:gd name="p0y8" fmla="*/ 1920 h 1920"/>
                <a:gd name="p0x9" fmla="*/ 180 w 3660"/>
                <a:gd name="p0y9" fmla="*/ 1920 h 1920"/>
                <a:gd name="p0x10" fmla="*/ 80 w 3660"/>
                <a:gd name="p0y10" fmla="*/ 1920 h 1920"/>
                <a:gd name="p0x11" fmla="*/ 0 w 3660"/>
                <a:gd name="p0y11" fmla="*/ 1839 h 1920"/>
                <a:gd name="p0x12" fmla="*/ 0 w 3660"/>
                <a:gd name="p0y12" fmla="*/ 1740 h 1920"/>
                <a:gd name="p0x13" fmla="*/ 0 w 3660"/>
                <a:gd name="p0y13" fmla="*/ 180 h 1920"/>
                <a:gd name="p0x14" fmla="*/ 0 w 3660"/>
                <a:gd name="p0y14" fmla="*/ 80 h 1920"/>
                <a:gd name="p0x15" fmla="*/ 80 w 3660"/>
                <a:gd name="p0y15" fmla="*/ 0 h 1920"/>
                <a:gd name="p0x16" fmla="*/ 180 w 3660"/>
                <a:gd name="p0y16" fmla="*/ 0 h 19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>
              <p:custDataLst>
                <p:tags r:id="rId23"/>
              </p:custDataLst>
            </p:nvPr>
          </p:nvSpPr>
          <p:spPr>
            <a:xfrm>
              <a:off x="10086" y="6140"/>
              <a:ext cx="3496" cy="63"/>
            </a:xfrm>
            <a:custGeom>
              <a:avLst/>
              <a:gdLst>
                <a:gd name="sw" fmla="*/ 1 w 3496"/>
                <a:gd name="sh" fmla="*/ 1 h 63"/>
                <a:gd name="mins" fmla="min sw sh"/>
                <a:gd name="dsw" fmla="+- 0 sw mins"/>
                <a:gd name="dsh" fmla="+- 0 sh mins"/>
                <a:gd name="p0x0" fmla="*/ 68 w 3496"/>
                <a:gd name="p0y0" fmla="*/ 0 h 63"/>
                <a:gd name="p0x1" fmla="*/ 3368 w 3496"/>
                <a:gd name="p0y1" fmla="*/ 0 h 63"/>
                <a:gd name="p0x2" fmla="*/ 3418 w 3496"/>
                <a:gd name="p0y2" fmla="*/ 0 h 63"/>
                <a:gd name="p0x3" fmla="*/ 3463 w 3496"/>
                <a:gd name="p0y3" fmla="*/ 20 h 63"/>
                <a:gd name="p0x4" fmla="*/ 3496 w 3496"/>
                <a:gd name="p0y4" fmla="*/ 52 h 63"/>
                <a:gd name="p0x5" fmla="*/ 3485 w 3496"/>
                <a:gd name="p0y5" fmla="*/ 63 h 63"/>
                <a:gd name="p0x6" fmla="*/ 3455 w 3496"/>
                <a:gd name="p0y6" fmla="*/ 33 h 63"/>
                <a:gd name="p0x7" fmla="*/ 3414 w 3496"/>
                <a:gd name="p0y7" fmla="*/ 15 h 63"/>
                <a:gd name="p0x8" fmla="*/ 3368 w 3496"/>
                <a:gd name="p0y8" fmla="*/ 15 h 63"/>
                <a:gd name="p0x9" fmla="*/ 68 w 3496"/>
                <a:gd name="p0y9" fmla="*/ 15 h 63"/>
                <a:gd name="p0x10" fmla="*/ 50 w 3496"/>
                <a:gd name="p0y10" fmla="*/ 15 h 63"/>
                <a:gd name="p0x11" fmla="*/ 33 w 3496"/>
                <a:gd name="p0y11" fmla="*/ 19 h 63"/>
                <a:gd name="p0x12" fmla="*/ 17 w 3496"/>
                <a:gd name="p0y12" fmla="*/ 27 h 63"/>
                <a:gd name="p0x13" fmla="*/ 0 w 3496"/>
                <a:gd name="p0y13" fmla="*/ 13 h 63"/>
                <a:gd name="p0x14" fmla="*/ 0 w 3496"/>
                <a:gd name="p0y14" fmla="*/ 13 h 63"/>
                <a:gd name="p0x15" fmla="*/ 21 w 3496"/>
                <a:gd name="p0y15" fmla="*/ 4 h 63"/>
                <a:gd name="p0x16" fmla="*/ 44 w 3496"/>
                <a:gd name="p0y16" fmla="*/ 0 h 63"/>
                <a:gd name="p0x17" fmla="*/ 68 w 3496"/>
                <a:gd name="p0y17" fmla="*/ 0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>
              <p:custDataLst>
                <p:tags r:id="rId24"/>
              </p:custDataLst>
            </p:nvPr>
          </p:nvSpPr>
          <p:spPr>
            <a:xfrm>
              <a:off x="13571" y="6193"/>
              <a:ext cx="64" cy="1814"/>
            </a:xfrm>
            <a:custGeom>
              <a:avLst/>
              <a:gdLst>
                <a:gd name="sw" fmla="*/ 1 w 63"/>
                <a:gd name="sh" fmla="*/ 1 h 1814"/>
                <a:gd name="mins" fmla="min sw sh"/>
                <a:gd name="dsw" fmla="+- 0 sw mins"/>
                <a:gd name="dsh" fmla="+- 0 sh mins"/>
                <a:gd name="p0x0" fmla="*/ 63 w 63"/>
                <a:gd name="p0y0" fmla="*/ 127 h 1814"/>
                <a:gd name="p0x1" fmla="*/ 63 w 63"/>
                <a:gd name="p0y1" fmla="*/ 1687 h 1814"/>
                <a:gd name="p0x2" fmla="*/ 63 w 63"/>
                <a:gd name="p0y2" fmla="*/ 1736 h 1814"/>
                <a:gd name="p0x3" fmla="*/ 43 w 63"/>
                <a:gd name="p0y3" fmla="*/ 1781 h 1814"/>
                <a:gd name="p0x4" fmla="*/ 10 w 63"/>
                <a:gd name="p0y4" fmla="*/ 1814 h 1814"/>
                <a:gd name="p0x5" fmla="*/ 0 w 63"/>
                <a:gd name="p0y5" fmla="*/ 1803 h 1814"/>
                <a:gd name="p0x6" fmla="*/ 29 w 63"/>
                <a:gd name="p0y6" fmla="*/ 1774 h 1814"/>
                <a:gd name="p0x7" fmla="*/ 48 w 63"/>
                <a:gd name="p0y7" fmla="*/ 1732 h 1814"/>
                <a:gd name="p0x8" fmla="*/ 48 w 63"/>
                <a:gd name="p0y8" fmla="*/ 1687 h 1814"/>
                <a:gd name="p0x9" fmla="*/ 48 w 63"/>
                <a:gd name="p0y9" fmla="*/ 127 h 1814"/>
                <a:gd name="p0x10" fmla="*/ 48 w 63"/>
                <a:gd name="p0y10" fmla="*/ 81 h 1814"/>
                <a:gd name="p0x11" fmla="*/ 29 w 63"/>
                <a:gd name="p0y11" fmla="*/ 40 h 1814"/>
                <a:gd name="p0x12" fmla="*/ 0 w 63"/>
                <a:gd name="p0y12" fmla="*/ 10 h 1814"/>
                <a:gd name="p0x13" fmla="*/ 10 w 63"/>
                <a:gd name="p0y13" fmla="*/ 0 h 1814"/>
                <a:gd name="p0x14" fmla="*/ 43 w 63"/>
                <a:gd name="p0y14" fmla="*/ 32 h 1814"/>
                <a:gd name="p0x15" fmla="*/ 63 w 63"/>
                <a:gd name="p0y15" fmla="*/ 77 h 1814"/>
                <a:gd name="p0x16" fmla="*/ 63 w 63"/>
                <a:gd name="p0y16" fmla="*/ 127 h 181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>
              <p:custDataLst>
                <p:tags r:id="rId25"/>
              </p:custDataLst>
            </p:nvPr>
          </p:nvSpPr>
          <p:spPr>
            <a:xfrm>
              <a:off x="10086" y="7997"/>
              <a:ext cx="3496" cy="63"/>
            </a:xfrm>
            <a:custGeom>
              <a:avLst/>
              <a:gdLst>
                <a:gd name="sw" fmla="*/ 1 w 3496"/>
                <a:gd name="sh" fmla="*/ 1 h 63"/>
                <a:gd name="mins" fmla="min sw sh"/>
                <a:gd name="dsw" fmla="+- 0 sw mins"/>
                <a:gd name="dsh" fmla="+- 0 sh mins"/>
                <a:gd name="p0x0" fmla="*/ 3368 w 3496"/>
                <a:gd name="p0y0" fmla="*/ 63 h 63"/>
                <a:gd name="p0x1" fmla="*/ 68 w 3496"/>
                <a:gd name="p0y1" fmla="*/ 63 h 63"/>
                <a:gd name="p0x2" fmla="*/ 44 w 3496"/>
                <a:gd name="p0y2" fmla="*/ 63 h 63"/>
                <a:gd name="p0x3" fmla="*/ 21 w 3496"/>
                <a:gd name="p0y3" fmla="*/ 58 h 63"/>
                <a:gd name="p0x4" fmla="*/ 0 w 3496"/>
                <a:gd name="p0y4" fmla="*/ 49 h 63"/>
                <a:gd name="p0x5" fmla="*/ 17 w 3496"/>
                <a:gd name="p0y5" fmla="*/ 35 h 63"/>
                <a:gd name="p0x6" fmla="*/ 17 w 3496"/>
                <a:gd name="p0y6" fmla="*/ 35 h 63"/>
                <a:gd name="p0x7" fmla="*/ 33 w 3496"/>
                <a:gd name="p0y7" fmla="*/ 43 h 63"/>
                <a:gd name="p0x8" fmla="*/ 50 w 3496"/>
                <a:gd name="p0y8" fmla="*/ 48 h 63"/>
                <a:gd name="p0x9" fmla="*/ 68 w 3496"/>
                <a:gd name="p0y9" fmla="*/ 48 h 63"/>
                <a:gd name="p0x10" fmla="*/ 3368 w 3496"/>
                <a:gd name="p0y10" fmla="*/ 48 h 63"/>
                <a:gd name="p0x11" fmla="*/ 3414 w 3496"/>
                <a:gd name="p0y11" fmla="*/ 48 h 63"/>
                <a:gd name="p0x12" fmla="*/ 3455 w 3496"/>
                <a:gd name="p0y12" fmla="*/ 29 h 63"/>
                <a:gd name="p0x13" fmla="*/ 3485 w 3496"/>
                <a:gd name="p0y13" fmla="*/ 0 h 63"/>
                <a:gd name="p0x14" fmla="*/ 3496 w 3496"/>
                <a:gd name="p0y14" fmla="*/ 10 h 63"/>
                <a:gd name="p0x15" fmla="*/ 3463 w 3496"/>
                <a:gd name="p0y15" fmla="*/ 43 h 63"/>
                <a:gd name="p0x16" fmla="*/ 3418 w 3496"/>
                <a:gd name="p0y16" fmla="*/ 63 h 63"/>
                <a:gd name="p0x17" fmla="*/ 3368 w 3496"/>
                <a:gd name="p0y17" fmla="*/ 63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>
              <p:custDataLst>
                <p:tags r:id="rId26"/>
              </p:custDataLst>
            </p:nvPr>
          </p:nvSpPr>
          <p:spPr>
            <a:xfrm>
              <a:off x="9975" y="6154"/>
              <a:ext cx="128" cy="1892"/>
            </a:xfrm>
            <a:custGeom>
              <a:avLst/>
              <a:gdLst>
                <a:gd name="sw" fmla="*/ 1 w 128"/>
                <a:gd name="sh" fmla="*/ 1 h 1892"/>
                <a:gd name="mins" fmla="min sw sh"/>
                <a:gd name="dsw" fmla="+- 0 sw mins"/>
                <a:gd name="dsh" fmla="+- 0 sh mins"/>
                <a:gd name="p0x0" fmla="*/ 0 w 128"/>
                <a:gd name="p0y0" fmla="*/ 1726 h 1892"/>
                <a:gd name="p0x1" fmla="*/ 0 w 128"/>
                <a:gd name="p0y1" fmla="*/ 166 h 1892"/>
                <a:gd name="p0x2" fmla="*/ 0 w 128"/>
                <a:gd name="p0y2" fmla="*/ 91 h 1892"/>
                <a:gd name="p0x3" fmla="*/ 45 w 128"/>
                <a:gd name="p0y3" fmla="*/ 27 h 1892"/>
                <a:gd name="p0x4" fmla="*/ 111 w 128"/>
                <a:gd name="p0y4" fmla="*/ 0 h 1892"/>
                <a:gd name="p0x5" fmla="*/ 128 w 128"/>
                <a:gd name="p0y5" fmla="*/ 13 h 1892"/>
                <a:gd name="p0x6" fmla="*/ 128 w 128"/>
                <a:gd name="p0y6" fmla="*/ 13 h 1892"/>
                <a:gd name="p0x7" fmla="*/ 79 w 128"/>
                <a:gd name="p0y7" fmla="*/ 38 h 1892"/>
                <a:gd name="p0x8" fmla="*/ 45 w 128"/>
                <a:gd name="p0y8" fmla="*/ 97 h 1892"/>
                <a:gd name="p0x9" fmla="*/ 45 w 128"/>
                <a:gd name="p0y9" fmla="*/ 166 h 1892"/>
                <a:gd name="p0x10" fmla="*/ 45 w 128"/>
                <a:gd name="p0y10" fmla="*/ 1726 h 1892"/>
                <a:gd name="p0x11" fmla="*/ 45 w 128"/>
                <a:gd name="p0y11" fmla="*/ 1795 h 1892"/>
                <a:gd name="p0x12" fmla="*/ 79 w 128"/>
                <a:gd name="p0y12" fmla="*/ 1853 h 1892"/>
                <a:gd name="p0x13" fmla="*/ 128 w 128"/>
                <a:gd name="p0y13" fmla="*/ 1878 h 1892"/>
                <a:gd name="p0x14" fmla="*/ 111 w 128"/>
                <a:gd name="p0y14" fmla="*/ 1892 h 1892"/>
                <a:gd name="p0x15" fmla="*/ 111 w 128"/>
                <a:gd name="p0y15" fmla="*/ 1892 h 1892"/>
                <a:gd name="p0x16" fmla="*/ 45 w 128"/>
                <a:gd name="p0y16" fmla="*/ 1865 h 1892"/>
                <a:gd name="p0x17" fmla="*/ 0 w 128"/>
                <a:gd name="p0y17" fmla="*/ 1801 h 1892"/>
                <a:gd name="p0x18" fmla="*/ 0 w 128"/>
                <a:gd name="p0y18" fmla="*/ 1726 h 189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3" name="文本框 32"/>
          <p:cNvSpPr txBox="1"/>
          <p:nvPr>
            <p:custDataLst>
              <p:tags r:id="rId27"/>
            </p:custDataLst>
          </p:nvPr>
        </p:nvSpPr>
        <p:spPr>
          <a:xfrm>
            <a:off x="6477000" y="4007739"/>
            <a:ext cx="205740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cs typeface="+mn-lt"/>
              </a:rPr>
              <a:t>基因表达强度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4" name="文本框 33"/>
          <p:cNvSpPr txBox="1"/>
          <p:nvPr>
            <p:custDataLst>
              <p:tags r:id="rId28"/>
            </p:custDataLst>
          </p:nvPr>
        </p:nvSpPr>
        <p:spPr>
          <a:xfrm>
            <a:off x="6477000" y="4370641"/>
            <a:ext cx="20574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E8E"/>
                </a:solidFill>
                <a:cs typeface="+mn-lt"/>
              </a:rPr>
              <a:t>基因表达或转录活动可能有多强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35" name="任意多边形 34"/>
          <p:cNvSpPr/>
          <p:nvPr>
            <p:custDataLst>
              <p:tags r:id="rId29"/>
            </p:custDataLst>
          </p:nvPr>
        </p:nvSpPr>
        <p:spPr>
          <a:xfrm>
            <a:off x="8976995" y="2545080"/>
            <a:ext cx="2638425" cy="3926840"/>
          </a:xfrm>
          <a:custGeom>
            <a:avLst/>
            <a:gdLst>
              <a:gd name="sw" fmla="*/ 1 w 4155"/>
              <a:gd name="sh" fmla="*/ 1 h 6184"/>
              <a:gd name="mins" fmla="min sw sh"/>
              <a:gd name="dsw" fmla="+- 0 sw mins"/>
              <a:gd name="dsh" fmla="+- 0 sh mins"/>
              <a:gd name="p0x0" fmla="*/ 270 w 4155"/>
              <a:gd name="p0y0" fmla="*/ 0 h 6184"/>
              <a:gd name="p0x1" fmla="*/ 3885 w 4155"/>
              <a:gd name="p0y1" fmla="*/ 0 h 6184"/>
              <a:gd name="p0x2" fmla="*/ 4034 w 4155"/>
              <a:gd name="p0y2" fmla="*/ 0 h 6184"/>
              <a:gd name="p0x3" fmla="*/ 4155 w 4155"/>
              <a:gd name="p0y3" fmla="*/ 120 h 6184"/>
              <a:gd name="p0x4" fmla="*/ 4155 w 4155"/>
              <a:gd name="p0y4" fmla="*/ 270 h 6184"/>
              <a:gd name="p0x5" fmla="*/ 4155 w 4155"/>
              <a:gd name="p0y5" fmla="*/ 5914 h 6184"/>
              <a:gd name="p0x6" fmla="*/ 4155 w 4155"/>
              <a:gd name="p0y6" fmla="*/ 6063 h 6184"/>
              <a:gd name="p0x7" fmla="*/ 4034 w 4155"/>
              <a:gd name="p0y7" fmla="*/ 6184 h 6184"/>
              <a:gd name="p0x8" fmla="*/ 3885 w 4155"/>
              <a:gd name="p0y8" fmla="*/ 6184 h 6184"/>
              <a:gd name="p0x9" fmla="*/ 270 w 4155"/>
              <a:gd name="p0y9" fmla="*/ 6184 h 6184"/>
              <a:gd name="p0x10" fmla="*/ 120 w 4155"/>
              <a:gd name="p0y10" fmla="*/ 6184 h 6184"/>
              <a:gd name="p0x11" fmla="*/ 0 w 4155"/>
              <a:gd name="p0y11" fmla="*/ 6063 h 6184"/>
              <a:gd name="p0x12" fmla="*/ 0 w 4155"/>
              <a:gd name="p0y12" fmla="*/ 5914 h 6184"/>
              <a:gd name="p0x13" fmla="*/ 0 w 4155"/>
              <a:gd name="p0y13" fmla="*/ 270 h 6184"/>
              <a:gd name="p0x14" fmla="*/ 0 w 4155"/>
              <a:gd name="p0y14" fmla="*/ 120 h 6184"/>
              <a:gd name="p0x15" fmla="*/ 120 w 4155"/>
              <a:gd name="p0y15" fmla="*/ 0 h 6184"/>
              <a:gd name="p0x16" fmla="*/ 270 w 415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7" name="组合 46"/>
          <p:cNvGrpSpPr/>
          <p:nvPr/>
        </p:nvGrpSpPr>
        <p:grpSpPr>
          <a:xfrm>
            <a:off x="9134475" y="3746500"/>
            <a:ext cx="2324100" cy="1524000"/>
            <a:chOff x="14385" y="5900"/>
            <a:chExt cx="3660" cy="2400"/>
          </a:xfrm>
        </p:grpSpPr>
        <p:sp>
          <p:nvSpPr>
            <p:cNvPr id="36" name="任意多边形 35"/>
            <p:cNvSpPr/>
            <p:nvPr>
              <p:custDataLst>
                <p:tags r:id="rId30"/>
              </p:custDataLst>
            </p:nvPr>
          </p:nvSpPr>
          <p:spPr>
            <a:xfrm>
              <a:off x="14385" y="5900"/>
              <a:ext cx="3660" cy="2400"/>
            </a:xfrm>
            <a:custGeom>
              <a:avLst/>
              <a:gdLst>
                <a:gd name="sw" fmla="*/ 1 w 3660"/>
                <a:gd name="sh" fmla="*/ 1 h 2400"/>
                <a:gd name="mins" fmla="min sw sh"/>
                <a:gd name="dsw" fmla="+- 0 sw mins"/>
                <a:gd name="dsh" fmla="+- 0 sh mins"/>
                <a:gd name="p0x0" fmla="*/ 180 w 3660"/>
                <a:gd name="p0y0" fmla="*/ 0 h 2400"/>
                <a:gd name="p0x1" fmla="*/ 3480 w 3660"/>
                <a:gd name="p0y1" fmla="*/ 0 h 2400"/>
                <a:gd name="p0x2" fmla="*/ 3579 w 3660"/>
                <a:gd name="p0y2" fmla="*/ 0 h 2400"/>
                <a:gd name="p0x3" fmla="*/ 3660 w 3660"/>
                <a:gd name="p0y3" fmla="*/ 80 h 2400"/>
                <a:gd name="p0x4" fmla="*/ 3660 w 3660"/>
                <a:gd name="p0y4" fmla="*/ 180 h 2400"/>
                <a:gd name="p0x5" fmla="*/ 3660 w 3660"/>
                <a:gd name="p0y5" fmla="*/ 2220 h 2400"/>
                <a:gd name="p0x6" fmla="*/ 3660 w 3660"/>
                <a:gd name="p0y6" fmla="*/ 2319 h 2400"/>
                <a:gd name="p0x7" fmla="*/ 3579 w 3660"/>
                <a:gd name="p0y7" fmla="*/ 2400 h 2400"/>
                <a:gd name="p0x8" fmla="*/ 3480 w 3660"/>
                <a:gd name="p0y8" fmla="*/ 2400 h 2400"/>
                <a:gd name="p0x9" fmla="*/ 180 w 3660"/>
                <a:gd name="p0y9" fmla="*/ 2400 h 2400"/>
                <a:gd name="p0x10" fmla="*/ 80 w 3660"/>
                <a:gd name="p0y10" fmla="*/ 2400 h 2400"/>
                <a:gd name="p0x11" fmla="*/ 0 w 3660"/>
                <a:gd name="p0y11" fmla="*/ 2319 h 2400"/>
                <a:gd name="p0x12" fmla="*/ 0 w 3660"/>
                <a:gd name="p0y12" fmla="*/ 2220 h 2400"/>
                <a:gd name="p0x13" fmla="*/ 0 w 3660"/>
                <a:gd name="p0y13" fmla="*/ 180 h 2400"/>
                <a:gd name="p0x14" fmla="*/ 0 w 3660"/>
                <a:gd name="p0y14" fmla="*/ 80 h 2400"/>
                <a:gd name="p0x15" fmla="*/ 80 w 3660"/>
                <a:gd name="p0y15" fmla="*/ 0 h 2400"/>
                <a:gd name="p0x16" fmla="*/ 180 w 3660"/>
                <a:gd name="p0y16" fmla="*/ 0 h 24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>
              <p:custDataLst>
                <p:tags r:id="rId31"/>
              </p:custDataLst>
            </p:nvPr>
          </p:nvSpPr>
          <p:spPr>
            <a:xfrm>
              <a:off x="14496" y="5900"/>
              <a:ext cx="3496" cy="63"/>
            </a:xfrm>
            <a:custGeom>
              <a:avLst/>
              <a:gdLst>
                <a:gd name="sw" fmla="*/ 1 w 3496"/>
                <a:gd name="sh" fmla="*/ 1 h 63"/>
                <a:gd name="mins" fmla="min sw sh"/>
                <a:gd name="dsw" fmla="+- 0 sw mins"/>
                <a:gd name="dsh" fmla="+- 0 sh mins"/>
                <a:gd name="p0x0" fmla="*/ 68 w 3496"/>
                <a:gd name="p0y0" fmla="*/ 0 h 63"/>
                <a:gd name="p0x1" fmla="*/ 3368 w 3496"/>
                <a:gd name="p0y1" fmla="*/ 0 h 63"/>
                <a:gd name="p0x2" fmla="*/ 3418 w 3496"/>
                <a:gd name="p0y2" fmla="*/ 0 h 63"/>
                <a:gd name="p0x3" fmla="*/ 3463 w 3496"/>
                <a:gd name="p0y3" fmla="*/ 20 h 63"/>
                <a:gd name="p0x4" fmla="*/ 3496 w 3496"/>
                <a:gd name="p0y4" fmla="*/ 52 h 63"/>
                <a:gd name="p0x5" fmla="*/ 3485 w 3496"/>
                <a:gd name="p0y5" fmla="*/ 63 h 63"/>
                <a:gd name="p0x6" fmla="*/ 3455 w 3496"/>
                <a:gd name="p0y6" fmla="*/ 33 h 63"/>
                <a:gd name="p0x7" fmla="*/ 3414 w 3496"/>
                <a:gd name="p0y7" fmla="*/ 15 h 63"/>
                <a:gd name="p0x8" fmla="*/ 3368 w 3496"/>
                <a:gd name="p0y8" fmla="*/ 15 h 63"/>
                <a:gd name="p0x9" fmla="*/ 68 w 3496"/>
                <a:gd name="p0y9" fmla="*/ 15 h 63"/>
                <a:gd name="p0x10" fmla="*/ 50 w 3496"/>
                <a:gd name="p0y10" fmla="*/ 15 h 63"/>
                <a:gd name="p0x11" fmla="*/ 33 w 3496"/>
                <a:gd name="p0y11" fmla="*/ 19 h 63"/>
                <a:gd name="p0x12" fmla="*/ 17 w 3496"/>
                <a:gd name="p0y12" fmla="*/ 27 h 63"/>
                <a:gd name="p0x13" fmla="*/ 0 w 3496"/>
                <a:gd name="p0y13" fmla="*/ 13 h 63"/>
                <a:gd name="p0x14" fmla="*/ 0 w 3496"/>
                <a:gd name="p0y14" fmla="*/ 13 h 63"/>
                <a:gd name="p0x15" fmla="*/ 21 w 3496"/>
                <a:gd name="p0y15" fmla="*/ 4 h 63"/>
                <a:gd name="p0x16" fmla="*/ 44 w 3496"/>
                <a:gd name="p0y16" fmla="*/ 0 h 63"/>
                <a:gd name="p0x17" fmla="*/ 68 w 3496"/>
                <a:gd name="p0y17" fmla="*/ 0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>
              <p:custDataLst>
                <p:tags r:id="rId32"/>
              </p:custDataLst>
            </p:nvPr>
          </p:nvSpPr>
          <p:spPr>
            <a:xfrm>
              <a:off x="17981" y="5953"/>
              <a:ext cx="64" cy="2294"/>
            </a:xfrm>
            <a:custGeom>
              <a:avLst/>
              <a:gdLst>
                <a:gd name="sw" fmla="*/ 1 w 63"/>
                <a:gd name="sh" fmla="*/ 1 h 2294"/>
                <a:gd name="mins" fmla="min sw sh"/>
                <a:gd name="dsw" fmla="+- 0 sw mins"/>
                <a:gd name="dsh" fmla="+- 0 sh mins"/>
                <a:gd name="p0x0" fmla="*/ 63 w 63"/>
                <a:gd name="p0y0" fmla="*/ 127 h 2294"/>
                <a:gd name="p0x1" fmla="*/ 63 w 63"/>
                <a:gd name="p0y1" fmla="*/ 2167 h 2294"/>
                <a:gd name="p0x2" fmla="*/ 63 w 63"/>
                <a:gd name="p0y2" fmla="*/ 2216 h 2294"/>
                <a:gd name="p0x3" fmla="*/ 43 w 63"/>
                <a:gd name="p0y3" fmla="*/ 2261 h 2294"/>
                <a:gd name="p0x4" fmla="*/ 10 w 63"/>
                <a:gd name="p0y4" fmla="*/ 2294 h 2294"/>
                <a:gd name="p0x5" fmla="*/ 0 w 63"/>
                <a:gd name="p0y5" fmla="*/ 2283 h 2294"/>
                <a:gd name="p0x6" fmla="*/ 29 w 63"/>
                <a:gd name="p0y6" fmla="*/ 2254 h 2294"/>
                <a:gd name="p0x7" fmla="*/ 48 w 63"/>
                <a:gd name="p0y7" fmla="*/ 2212 h 2294"/>
                <a:gd name="p0x8" fmla="*/ 48 w 63"/>
                <a:gd name="p0y8" fmla="*/ 2167 h 2294"/>
                <a:gd name="p0x9" fmla="*/ 48 w 63"/>
                <a:gd name="p0y9" fmla="*/ 127 h 2294"/>
                <a:gd name="p0x10" fmla="*/ 48 w 63"/>
                <a:gd name="p0y10" fmla="*/ 81 h 2294"/>
                <a:gd name="p0x11" fmla="*/ 29 w 63"/>
                <a:gd name="p0y11" fmla="*/ 40 h 2294"/>
                <a:gd name="p0x12" fmla="*/ 0 w 63"/>
                <a:gd name="p0y12" fmla="*/ 10 h 2294"/>
                <a:gd name="p0x13" fmla="*/ 10 w 63"/>
                <a:gd name="p0y13" fmla="*/ 0 h 2294"/>
                <a:gd name="p0x14" fmla="*/ 43 w 63"/>
                <a:gd name="p0y14" fmla="*/ 32 h 2294"/>
                <a:gd name="p0x15" fmla="*/ 63 w 63"/>
                <a:gd name="p0y15" fmla="*/ 77 h 2294"/>
                <a:gd name="p0x16" fmla="*/ 63 w 63"/>
                <a:gd name="p0y16" fmla="*/ 127 h 229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>
              <p:custDataLst>
                <p:tags r:id="rId33"/>
              </p:custDataLst>
            </p:nvPr>
          </p:nvSpPr>
          <p:spPr>
            <a:xfrm>
              <a:off x="14496" y="8237"/>
              <a:ext cx="3496" cy="63"/>
            </a:xfrm>
            <a:custGeom>
              <a:avLst/>
              <a:gdLst>
                <a:gd name="sw" fmla="*/ 1 w 3496"/>
                <a:gd name="sh" fmla="*/ 1 h 63"/>
                <a:gd name="mins" fmla="min sw sh"/>
                <a:gd name="dsw" fmla="+- 0 sw mins"/>
                <a:gd name="dsh" fmla="+- 0 sh mins"/>
                <a:gd name="p0x0" fmla="*/ 3368 w 3496"/>
                <a:gd name="p0y0" fmla="*/ 63 h 63"/>
                <a:gd name="p0x1" fmla="*/ 68 w 3496"/>
                <a:gd name="p0y1" fmla="*/ 63 h 63"/>
                <a:gd name="p0x2" fmla="*/ 44 w 3496"/>
                <a:gd name="p0y2" fmla="*/ 63 h 63"/>
                <a:gd name="p0x3" fmla="*/ 21 w 3496"/>
                <a:gd name="p0y3" fmla="*/ 58 h 63"/>
                <a:gd name="p0x4" fmla="*/ 0 w 3496"/>
                <a:gd name="p0y4" fmla="*/ 49 h 63"/>
                <a:gd name="p0x5" fmla="*/ 17 w 3496"/>
                <a:gd name="p0y5" fmla="*/ 35 h 63"/>
                <a:gd name="p0x6" fmla="*/ 17 w 3496"/>
                <a:gd name="p0y6" fmla="*/ 35 h 63"/>
                <a:gd name="p0x7" fmla="*/ 33 w 3496"/>
                <a:gd name="p0y7" fmla="*/ 43 h 63"/>
                <a:gd name="p0x8" fmla="*/ 50 w 3496"/>
                <a:gd name="p0y8" fmla="*/ 48 h 63"/>
                <a:gd name="p0x9" fmla="*/ 68 w 3496"/>
                <a:gd name="p0y9" fmla="*/ 48 h 63"/>
                <a:gd name="p0x10" fmla="*/ 3368 w 3496"/>
                <a:gd name="p0y10" fmla="*/ 48 h 63"/>
                <a:gd name="p0x11" fmla="*/ 3414 w 3496"/>
                <a:gd name="p0y11" fmla="*/ 48 h 63"/>
                <a:gd name="p0x12" fmla="*/ 3455 w 3496"/>
                <a:gd name="p0y12" fmla="*/ 29 h 63"/>
                <a:gd name="p0x13" fmla="*/ 3485 w 3496"/>
                <a:gd name="p0y13" fmla="*/ 0 h 63"/>
                <a:gd name="p0x14" fmla="*/ 3496 w 3496"/>
                <a:gd name="p0y14" fmla="*/ 10 h 63"/>
                <a:gd name="p0x15" fmla="*/ 3463 w 3496"/>
                <a:gd name="p0y15" fmla="*/ 43 h 63"/>
                <a:gd name="p0x16" fmla="*/ 3418 w 3496"/>
                <a:gd name="p0y16" fmla="*/ 63 h 63"/>
                <a:gd name="p0x17" fmla="*/ 3368 w 3496"/>
                <a:gd name="p0y17" fmla="*/ 63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>
              <p:custDataLst>
                <p:tags r:id="rId34"/>
              </p:custDataLst>
            </p:nvPr>
          </p:nvSpPr>
          <p:spPr>
            <a:xfrm>
              <a:off x="14385" y="5914"/>
              <a:ext cx="128" cy="2372"/>
            </a:xfrm>
            <a:custGeom>
              <a:avLst/>
              <a:gdLst>
                <a:gd name="sw" fmla="*/ 1 w 128"/>
                <a:gd name="sh" fmla="*/ 1 h 2372"/>
                <a:gd name="mins" fmla="min sw sh"/>
                <a:gd name="dsw" fmla="+- 0 sw mins"/>
                <a:gd name="dsh" fmla="+- 0 sh mins"/>
                <a:gd name="p0x0" fmla="*/ 0 w 128"/>
                <a:gd name="p0y0" fmla="*/ 2206 h 2372"/>
                <a:gd name="p0x1" fmla="*/ 0 w 128"/>
                <a:gd name="p0y1" fmla="*/ 166 h 2372"/>
                <a:gd name="p0x2" fmla="*/ 0 w 128"/>
                <a:gd name="p0y2" fmla="*/ 91 h 2372"/>
                <a:gd name="p0x3" fmla="*/ 45 w 128"/>
                <a:gd name="p0y3" fmla="*/ 27 h 2372"/>
                <a:gd name="p0x4" fmla="*/ 111 w 128"/>
                <a:gd name="p0y4" fmla="*/ 0 h 2372"/>
                <a:gd name="p0x5" fmla="*/ 128 w 128"/>
                <a:gd name="p0y5" fmla="*/ 13 h 2372"/>
                <a:gd name="p0x6" fmla="*/ 128 w 128"/>
                <a:gd name="p0y6" fmla="*/ 13 h 2372"/>
                <a:gd name="p0x7" fmla="*/ 79 w 128"/>
                <a:gd name="p0y7" fmla="*/ 38 h 2372"/>
                <a:gd name="p0x8" fmla="*/ 45 w 128"/>
                <a:gd name="p0y8" fmla="*/ 97 h 2372"/>
                <a:gd name="p0x9" fmla="*/ 45 w 128"/>
                <a:gd name="p0y9" fmla="*/ 166 h 2372"/>
                <a:gd name="p0x10" fmla="*/ 45 w 128"/>
                <a:gd name="p0y10" fmla="*/ 2206 h 2372"/>
                <a:gd name="p0x11" fmla="*/ 45 w 128"/>
                <a:gd name="p0y11" fmla="*/ 2275 h 2372"/>
                <a:gd name="p0x12" fmla="*/ 79 w 128"/>
                <a:gd name="p0y12" fmla="*/ 2333 h 2372"/>
                <a:gd name="p0x13" fmla="*/ 128 w 128"/>
                <a:gd name="p0y13" fmla="*/ 2358 h 2372"/>
                <a:gd name="p0x14" fmla="*/ 111 w 128"/>
                <a:gd name="p0y14" fmla="*/ 2372 h 2372"/>
                <a:gd name="p0x15" fmla="*/ 111 w 128"/>
                <a:gd name="p0y15" fmla="*/ 2372 h 2372"/>
                <a:gd name="p0x16" fmla="*/ 45 w 128"/>
                <a:gd name="p0y16" fmla="*/ 2345 h 2372"/>
                <a:gd name="p0x17" fmla="*/ 0 w 128"/>
                <a:gd name="p0y17" fmla="*/ 2281 h 2372"/>
                <a:gd name="p0x18" fmla="*/ 0 w 128"/>
                <a:gd name="p0y18" fmla="*/ 2206 h 23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2" name="文本框 41"/>
          <p:cNvSpPr txBox="1"/>
          <p:nvPr>
            <p:custDataLst>
              <p:tags r:id="rId35"/>
            </p:custDataLst>
          </p:nvPr>
        </p:nvSpPr>
        <p:spPr>
          <a:xfrm>
            <a:off x="9277350" y="3855339"/>
            <a:ext cx="205740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chemeClr val="tx2"/>
                </a:solidFill>
                <a:cs typeface="+mn-lt"/>
              </a:rPr>
              <a:t>RNA </a:t>
            </a:r>
            <a:r>
              <a:rPr lang="zh-CN" b="1">
                <a:solidFill>
                  <a:schemeClr val="tx2"/>
                </a:solidFill>
                <a:cs typeface="+mn-lt"/>
              </a:rPr>
              <a:t>剪接</a:t>
            </a:r>
            <a:endParaRPr lang="zh-CN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43" name="文本框 42"/>
          <p:cNvSpPr txBox="1"/>
          <p:nvPr>
            <p:custDataLst>
              <p:tags r:id="rId36"/>
            </p:custDataLst>
          </p:nvPr>
        </p:nvSpPr>
        <p:spPr>
          <a:xfrm>
            <a:off x="9277350" y="4218241"/>
            <a:ext cx="205740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4A6E8E"/>
                </a:solidFill>
                <a:cs typeface="+mn-lt"/>
              </a:rPr>
              <a:t>RNA </a:t>
            </a:r>
            <a:r>
              <a:rPr lang="zh-CN" sz="1500">
                <a:solidFill>
                  <a:srgbClr val="4A6E8E"/>
                </a:solidFill>
                <a:cs typeface="+mn-lt"/>
              </a:rPr>
              <a:t>剪接可能如何发生，某些片段是否被保留或跳过</a:t>
            </a:r>
            <a:endParaRPr lang="zh-CN" sz="1500">
              <a:solidFill>
                <a:srgbClr val="4A6E8E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变异效应</a:t>
            </a:r>
            <a:r>
              <a:rPr lang="en-US" altLang="zh-CN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 </a:t>
            </a: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替代减参考</a:t>
            </a:r>
            <a:endParaRPr lang="zh-CN" altLang="en-US"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10" name="任意多边形 9"/>
          <p:cNvSpPr/>
          <p:nvPr>
            <p:custDataLst>
              <p:tags r:id="rId3"/>
            </p:custDataLst>
          </p:nvPr>
        </p:nvSpPr>
        <p:spPr>
          <a:xfrm>
            <a:off x="571500" y="6200775"/>
            <a:ext cx="1474470" cy="276225"/>
          </a:xfrm>
          <a:custGeom>
            <a:avLst/>
            <a:gdLst>
              <a:gd name="sw" fmla="*/ 1 w 2322"/>
              <a:gd name="sh" fmla="*/ 1 h 435"/>
              <a:gd name="mins" fmla="min sw sh"/>
              <a:gd name="dsw" fmla="+- 0 sw mins"/>
              <a:gd name="dsh" fmla="+- 0 sh mins"/>
              <a:gd name="p0x0" fmla="*/ 217 w 2322"/>
              <a:gd name="p0y0" fmla="*/ 0 h 435"/>
              <a:gd name="p0x1" fmla="*/ 2104 w 2322"/>
              <a:gd name="p0y1" fmla="*/ 0 h 435"/>
              <a:gd name="p0x2" fmla="*/ 2224 w 2322"/>
              <a:gd name="p0y2" fmla="*/ 0 h 435"/>
              <a:gd name="p0x3" fmla="*/ 2322 w 2322"/>
              <a:gd name="p0y3" fmla="*/ 97 h 435"/>
              <a:gd name="p0x4" fmla="*/ 2322 w 2322"/>
              <a:gd name="p0y4" fmla="*/ 217 h 435"/>
              <a:gd name="p0x5" fmla="*/ 2322 w 2322"/>
              <a:gd name="p0y5" fmla="*/ 337 h 435"/>
              <a:gd name="p0x6" fmla="*/ 2224 w 2322"/>
              <a:gd name="p0y6" fmla="*/ 435 h 435"/>
              <a:gd name="p0x7" fmla="*/ 2104 w 2322"/>
              <a:gd name="p0y7" fmla="*/ 435 h 435"/>
              <a:gd name="p0x8" fmla="*/ 217 w 2322"/>
              <a:gd name="p0y8" fmla="*/ 435 h 435"/>
              <a:gd name="p0x9" fmla="*/ 97 w 2322"/>
              <a:gd name="p0y9" fmla="*/ 435 h 435"/>
              <a:gd name="p0x10" fmla="*/ 0 w 2322"/>
              <a:gd name="p0y10" fmla="*/ 337 h 435"/>
              <a:gd name="p0x11" fmla="*/ 0 w 2322"/>
              <a:gd name="p0y11" fmla="*/ 217 h 435"/>
              <a:gd name="p0x12" fmla="*/ 0 w 2322"/>
              <a:gd name="p0y12" fmla="*/ 97 h 435"/>
              <a:gd name="p0x13" fmla="*/ 97 w 2322"/>
              <a:gd name="p0y13" fmla="*/ 0 h 435"/>
              <a:gd name="p0x14" fmla="*/ 217 w 2322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647700" y="6238875"/>
            <a:ext cx="147466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参考序列</a:t>
            </a:r>
            <a:r>
              <a:rPr lang="en-US" altLang="zh-CN"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 ref : 0.80</a:t>
            </a:r>
            <a:endParaRPr lang="en-US" altLang="zh-CN" sz="1200" b="1">
              <a:solidFill>
                <a:schemeClr val="accent1">
                  <a:lumMod val="56651"/>
                </a:schemeClr>
              </a:solidFill>
              <a:cs typeface="+mn-lt"/>
            </a:endParaRPr>
          </a:p>
        </p:txBody>
      </p:sp>
      <p:sp>
        <p:nvSpPr>
          <p:cNvPr id="12" name="任意多边形 11"/>
          <p:cNvSpPr/>
          <p:nvPr>
            <p:custDataLst>
              <p:tags r:id="rId5"/>
            </p:custDataLst>
          </p:nvPr>
        </p:nvSpPr>
        <p:spPr>
          <a:xfrm>
            <a:off x="2160270" y="6200775"/>
            <a:ext cx="1448435" cy="276225"/>
          </a:xfrm>
          <a:custGeom>
            <a:avLst/>
            <a:gdLst>
              <a:gd name="sw" fmla="*/ 1 w 2281"/>
              <a:gd name="sh" fmla="*/ 1 h 435"/>
              <a:gd name="mins" fmla="min sw sh"/>
              <a:gd name="dsw" fmla="+- 0 sw mins"/>
              <a:gd name="dsh" fmla="+- 0 sh mins"/>
              <a:gd name="p0x0" fmla="*/ 217 w 2281"/>
              <a:gd name="p0y0" fmla="*/ 0 h 435"/>
              <a:gd name="p0x1" fmla="*/ 2063 w 2281"/>
              <a:gd name="p0y1" fmla="*/ 0 h 435"/>
              <a:gd name="p0x2" fmla="*/ 2183 w 2281"/>
              <a:gd name="p0y2" fmla="*/ 0 h 435"/>
              <a:gd name="p0x3" fmla="*/ 2281 w 2281"/>
              <a:gd name="p0y3" fmla="*/ 97 h 435"/>
              <a:gd name="p0x4" fmla="*/ 2281 w 2281"/>
              <a:gd name="p0y4" fmla="*/ 217 h 435"/>
              <a:gd name="p0x5" fmla="*/ 2281 w 2281"/>
              <a:gd name="p0y5" fmla="*/ 337 h 435"/>
              <a:gd name="p0x6" fmla="*/ 2183 w 2281"/>
              <a:gd name="p0y6" fmla="*/ 435 h 435"/>
              <a:gd name="p0x7" fmla="*/ 2063 w 2281"/>
              <a:gd name="p0y7" fmla="*/ 435 h 435"/>
              <a:gd name="p0x8" fmla="*/ 217 w 2281"/>
              <a:gd name="p0y8" fmla="*/ 435 h 435"/>
              <a:gd name="p0x9" fmla="*/ 97 w 2281"/>
              <a:gd name="p0y9" fmla="*/ 435 h 435"/>
              <a:gd name="p0x10" fmla="*/ 0 w 2281"/>
              <a:gd name="p0y10" fmla="*/ 337 h 435"/>
              <a:gd name="p0x11" fmla="*/ 0 w 2281"/>
              <a:gd name="p0y11" fmla="*/ 217 h 435"/>
              <a:gd name="p0x12" fmla="*/ 0 w 2281"/>
              <a:gd name="p0y12" fmla="*/ 97 h 435"/>
              <a:gd name="p0x13" fmla="*/ 97 w 2281"/>
              <a:gd name="p0y13" fmla="*/ 0 h 435"/>
              <a:gd name="p0x14" fmla="*/ 217 w 2281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B8F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2236661" y="6238875"/>
            <a:ext cx="144846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chemeClr val="accent2">
                    <a:lumMod val="55435"/>
                  </a:schemeClr>
                </a:solidFill>
                <a:cs typeface="+mn-lt"/>
              </a:rPr>
              <a:t>替代序列</a:t>
            </a:r>
            <a:r>
              <a:rPr lang="en-US" altLang="zh-CN" sz="1200" b="1">
                <a:solidFill>
                  <a:schemeClr val="accent2">
                    <a:lumMod val="55435"/>
                  </a:schemeClr>
                </a:solidFill>
                <a:cs typeface="+mn-lt"/>
              </a:rPr>
              <a:t> alt : 0.45</a:t>
            </a:r>
            <a:endParaRPr lang="en-US" altLang="zh-CN" sz="1200" b="1">
              <a:solidFill>
                <a:schemeClr val="accent2">
                  <a:lumMod val="55435"/>
                </a:schemeClr>
              </a:solidFill>
              <a:cs typeface="+mn-lt"/>
            </a:endParaRPr>
          </a:p>
        </p:txBody>
      </p:sp>
      <p:sp>
        <p:nvSpPr>
          <p:cNvPr id="4" name="任意多边形 3"/>
          <p:cNvSpPr/>
          <p:nvPr>
            <p:custDataLst>
              <p:tags r:id="rId7"/>
            </p:custDataLst>
          </p:nvPr>
        </p:nvSpPr>
        <p:spPr>
          <a:xfrm>
            <a:off x="571500" y="1104900"/>
            <a:ext cx="11049000" cy="925830"/>
          </a:xfrm>
          <a:custGeom>
            <a:avLst/>
            <a:gdLst>
              <a:gd name="sw" fmla="*/ 1 w 17400"/>
              <a:gd name="sh" fmla="*/ 1 h 1458"/>
              <a:gd name="mins" fmla="min sw sh"/>
              <a:gd name="dsw" fmla="+- 0 sw mins"/>
              <a:gd name="dsh" fmla="+- 0 sh mins"/>
              <a:gd name="p0x0" fmla="*/ 180 w 17400"/>
              <a:gd name="p0y0" fmla="*/ 0 h 1458"/>
              <a:gd name="p0x1" fmla="*/ 17220 w 17400"/>
              <a:gd name="p0y1" fmla="*/ 0 h 1458"/>
              <a:gd name="p0x2" fmla="*/ 17319 w 17400"/>
              <a:gd name="p0y2" fmla="*/ 0 h 1458"/>
              <a:gd name="p0x3" fmla="*/ 17400 w 17400"/>
              <a:gd name="p0y3" fmla="*/ 80 h 1458"/>
              <a:gd name="p0x4" fmla="*/ 17400 w 17400"/>
              <a:gd name="p0y4" fmla="*/ 180 h 1458"/>
              <a:gd name="p0x5" fmla="*/ 17400 w 17400"/>
              <a:gd name="p0y5" fmla="*/ 1278 h 1458"/>
              <a:gd name="p0x6" fmla="*/ 17400 w 17400"/>
              <a:gd name="p0y6" fmla="*/ 1377 h 1458"/>
              <a:gd name="p0x7" fmla="*/ 17319 w 17400"/>
              <a:gd name="p0y7" fmla="*/ 1458 h 1458"/>
              <a:gd name="p0x8" fmla="*/ 17220 w 17400"/>
              <a:gd name="p0y8" fmla="*/ 1458 h 1458"/>
              <a:gd name="p0x9" fmla="*/ 180 w 17400"/>
              <a:gd name="p0y9" fmla="*/ 1458 h 1458"/>
              <a:gd name="p0x10" fmla="*/ 80 w 17400"/>
              <a:gd name="p0y10" fmla="*/ 1458 h 1458"/>
              <a:gd name="p0x11" fmla="*/ 0 w 17400"/>
              <a:gd name="p0y11" fmla="*/ 1377 h 1458"/>
              <a:gd name="p0x12" fmla="*/ 0 w 17400"/>
              <a:gd name="p0y12" fmla="*/ 1278 h 1458"/>
              <a:gd name="p0x13" fmla="*/ 0 w 17400"/>
              <a:gd name="p0y13" fmla="*/ 180 h 1458"/>
              <a:gd name="p0x14" fmla="*/ 0 w 17400"/>
              <a:gd name="p0y14" fmla="*/ 80 h 1458"/>
              <a:gd name="p0x15" fmla="*/ 80 w 17400"/>
              <a:gd name="p0y15" fmla="*/ 0 h 1458"/>
              <a:gd name="p0x16" fmla="*/ 180 w 17400"/>
              <a:gd name="p0y16" fmla="*/ 0 h 145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329"/>
              <a:lumOff val="82671"/>
            </a:schemeClr>
          </a:solidFill>
          <a:ln>
            <a:noFill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762000" y="1409719"/>
            <a:ext cx="10740180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>
                <a:solidFill>
                  <a:srgbClr val="1D3E5E"/>
                </a:solidFill>
                <a:cs typeface="+mn-lt"/>
              </a:rPr>
              <a:t>参考序列</a:t>
            </a:r>
            <a:r>
              <a:rPr lang="en-US" altLang="zh-CN">
                <a:solidFill>
                  <a:srgbClr val="1D3E5E"/>
                </a:solidFill>
                <a:cs typeface="+mn-lt"/>
              </a:rPr>
              <a:t> ref </a:t>
            </a:r>
            <a:r>
              <a:rPr lang="zh-CN" altLang="en-US">
                <a:solidFill>
                  <a:srgbClr val="1D3E5E"/>
                </a:solidFill>
                <a:cs typeface="+mn-lt"/>
              </a:rPr>
              <a:t>与替代序列</a:t>
            </a:r>
            <a:r>
              <a:rPr lang="en-US" altLang="zh-CN">
                <a:solidFill>
                  <a:srgbClr val="1D3E5E"/>
                </a:solidFill>
                <a:cs typeface="+mn-lt"/>
              </a:rPr>
              <a:t> alt </a:t>
            </a:r>
            <a:r>
              <a:rPr lang="zh-CN" altLang="en-US">
                <a:solidFill>
                  <a:srgbClr val="1D3E5E"/>
                </a:solidFill>
                <a:cs typeface="+mn-lt"/>
              </a:rPr>
              <a:t>的预测表达信号分别为</a:t>
            </a:r>
            <a:r>
              <a:rPr lang="en-US" altLang="zh-CN">
                <a:solidFill>
                  <a:srgbClr val="1D3E5E"/>
                </a:solidFill>
                <a:cs typeface="+mn-lt"/>
              </a:rPr>
              <a:t> </a:t>
            </a:r>
            <a:r>
              <a:rPr b="1">
                <a:solidFill>
                  <a:srgbClr val="0E5A9E"/>
                </a:solidFill>
                <a:cs typeface="+mn-lt"/>
              </a:rPr>
              <a:t>0.80</a:t>
            </a:r>
            <a:r>
              <a:rPr lang="en-US">
                <a:solidFill>
                  <a:srgbClr val="1D3E5E"/>
                </a:solidFill>
                <a:cs typeface="+mn-lt"/>
              </a:rPr>
              <a:t> </a:t>
            </a:r>
            <a:r>
              <a:rPr lang="zh-CN" altLang="en-US">
                <a:solidFill>
                  <a:srgbClr val="1D3E5E"/>
                </a:solidFill>
                <a:cs typeface="+mn-lt"/>
              </a:rPr>
              <a:t>与</a:t>
            </a:r>
            <a:r>
              <a:rPr lang="en-US" altLang="zh-CN">
                <a:solidFill>
                  <a:srgbClr val="1D3E5E"/>
                </a:solidFill>
                <a:cs typeface="+mn-lt"/>
              </a:rPr>
              <a:t> </a:t>
            </a:r>
            <a:r>
              <a:rPr b="1">
                <a:solidFill>
                  <a:srgbClr val="0E5A9E"/>
                </a:solidFill>
                <a:cs typeface="+mn-lt"/>
              </a:rPr>
              <a:t>0.45</a:t>
            </a:r>
            <a:r>
              <a:rPr>
                <a:solidFill>
                  <a:srgbClr val="1D3E5E"/>
                </a:solidFill>
                <a:cs typeface="+mn-lt"/>
              </a:rPr>
              <a:t>，变异效应为负，</a:t>
            </a:r>
            <a:r>
              <a:rPr b="1">
                <a:solidFill>
                  <a:srgbClr val="0E5A9E"/>
                </a:solidFill>
                <a:cs typeface="+mn-lt"/>
              </a:rPr>
              <a:t>预测为信号减弱</a:t>
            </a:r>
            <a:r>
              <a:rPr>
                <a:solidFill>
                  <a:srgbClr val="1D3E5E"/>
                </a:solidFill>
                <a:cs typeface="+mn-lt"/>
              </a:rPr>
              <a:t>。</a:t>
            </a:r>
            <a:endParaRPr>
              <a:solidFill>
                <a:srgbClr val="1D3E5E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9"/>
            </p:custDataLst>
          </p:nvPr>
        </p:nvSpPr>
        <p:spPr>
          <a:xfrm>
            <a:off x="575945" y="2263775"/>
            <a:ext cx="11039475" cy="3741420"/>
          </a:xfrm>
          <a:custGeom>
            <a:avLst/>
            <a:gdLst>
              <a:gd name="sw" fmla="*/ 1 w 17385"/>
              <a:gd name="sh" fmla="*/ 1 h 5891"/>
              <a:gd name="mins" fmla="min sw sh"/>
              <a:gd name="dsw" fmla="+- 0 sw mins"/>
              <a:gd name="dsh" fmla="+- 0 sh mins"/>
              <a:gd name="p0x0" fmla="*/ 420 w 17385"/>
              <a:gd name="p0y0" fmla="*/ 0 h 5891"/>
              <a:gd name="p0x1" fmla="*/ 16965 w 17385"/>
              <a:gd name="p0y1" fmla="*/ 0 h 5891"/>
              <a:gd name="p0x2" fmla="*/ 17196 w 17385"/>
              <a:gd name="p0y2" fmla="*/ 0 h 5891"/>
              <a:gd name="p0x3" fmla="*/ 17385 w 17385"/>
              <a:gd name="p0y3" fmla="*/ 188 h 5891"/>
              <a:gd name="p0x4" fmla="*/ 17385 w 17385"/>
              <a:gd name="p0y4" fmla="*/ 420 h 5891"/>
              <a:gd name="p0x5" fmla="*/ 17385 w 17385"/>
              <a:gd name="p0y5" fmla="*/ 5471 h 5891"/>
              <a:gd name="p0x6" fmla="*/ 17385 w 17385"/>
              <a:gd name="p0y6" fmla="*/ 5703 h 5891"/>
              <a:gd name="p0x7" fmla="*/ 17196 w 17385"/>
              <a:gd name="p0y7" fmla="*/ 5891 h 5891"/>
              <a:gd name="p0x8" fmla="*/ 16965 w 17385"/>
              <a:gd name="p0y8" fmla="*/ 5891 h 5891"/>
              <a:gd name="p0x9" fmla="*/ 420 w 17385"/>
              <a:gd name="p0y9" fmla="*/ 5891 h 5891"/>
              <a:gd name="p0x10" fmla="*/ 188 w 17385"/>
              <a:gd name="p0y10" fmla="*/ 5891 h 5891"/>
              <a:gd name="p0x11" fmla="*/ 0 w 17385"/>
              <a:gd name="p0y11" fmla="*/ 5703 h 5891"/>
              <a:gd name="p0x12" fmla="*/ 0 w 17385"/>
              <a:gd name="p0y12" fmla="*/ 5471 h 5891"/>
              <a:gd name="p0x13" fmla="*/ 0 w 17385"/>
              <a:gd name="p0y13" fmla="*/ 420 h 5891"/>
              <a:gd name="p0x14" fmla="*/ 0 w 17385"/>
              <a:gd name="p0y14" fmla="*/ 188 h 5891"/>
              <a:gd name="p0x15" fmla="*/ 188 w 17385"/>
              <a:gd name="p0y15" fmla="*/ 0 h 5891"/>
              <a:gd name="p0x16" fmla="*/ 420 w 17385"/>
              <a:gd name="p0y16" fmla="*/ 0 h 589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  <a:alpha val="4000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" name="图表 7"/>
          <p:cNvGraphicFramePr/>
          <p:nvPr/>
        </p:nvGraphicFramePr>
        <p:xfrm>
          <a:off x="771525" y="2459355"/>
          <a:ext cx="1064895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预测准确不等于理解机制</a:t>
            </a:r>
            <a:endParaRPr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4228465" y="1293495"/>
            <a:ext cx="3734435" cy="506730"/>
          </a:xfrm>
          <a:custGeom>
            <a:avLst/>
            <a:gdLst>
              <a:gd name="sw" fmla="*/ 1 w 5880"/>
              <a:gd name="sh" fmla="*/ 1 h 797"/>
              <a:gd name="mins" fmla="min sw sh"/>
              <a:gd name="dsw" fmla="+- 0 sw mins"/>
              <a:gd name="dsh" fmla="+- 0 sh mins"/>
              <a:gd name="p0x0" fmla="*/ 180 w 5880"/>
              <a:gd name="p0y0" fmla="*/ 0 h 797"/>
              <a:gd name="p0x1" fmla="*/ 5700 w 5880"/>
              <a:gd name="p0y1" fmla="*/ 0 h 797"/>
              <a:gd name="p0x2" fmla="*/ 5799 w 5880"/>
              <a:gd name="p0y2" fmla="*/ 0 h 797"/>
              <a:gd name="p0x3" fmla="*/ 5880 w 5880"/>
              <a:gd name="p0y3" fmla="*/ 80 h 797"/>
              <a:gd name="p0x4" fmla="*/ 5880 w 5880"/>
              <a:gd name="p0y4" fmla="*/ 180 h 797"/>
              <a:gd name="p0x5" fmla="*/ 5880 w 5880"/>
              <a:gd name="p0y5" fmla="*/ 617 h 797"/>
              <a:gd name="p0x6" fmla="*/ 5880 w 5880"/>
              <a:gd name="p0y6" fmla="*/ 717 h 797"/>
              <a:gd name="p0x7" fmla="*/ 5799 w 5880"/>
              <a:gd name="p0y7" fmla="*/ 797 h 797"/>
              <a:gd name="p0x8" fmla="*/ 5700 w 5880"/>
              <a:gd name="p0y8" fmla="*/ 797 h 797"/>
              <a:gd name="p0x9" fmla="*/ 180 w 5880"/>
              <a:gd name="p0y9" fmla="*/ 797 h 797"/>
              <a:gd name="p0x10" fmla="*/ 80 w 5880"/>
              <a:gd name="p0y10" fmla="*/ 797 h 797"/>
              <a:gd name="p0x11" fmla="*/ 0 w 5880"/>
              <a:gd name="p0y11" fmla="*/ 717 h 797"/>
              <a:gd name="p0x12" fmla="*/ 0 w 5880"/>
              <a:gd name="p0y12" fmla="*/ 617 h 797"/>
              <a:gd name="p0x13" fmla="*/ 0 w 5880"/>
              <a:gd name="p0y13" fmla="*/ 180 h 797"/>
              <a:gd name="p0x14" fmla="*/ 0 w 5880"/>
              <a:gd name="p0y14" fmla="*/ 80 h 797"/>
              <a:gd name="p0x15" fmla="*/ 80 w 5880"/>
              <a:gd name="p0y15" fmla="*/ 0 h 797"/>
              <a:gd name="p0x16" fmla="*/ 180 w 5880"/>
              <a:gd name="p0y16" fmla="*/ 0 h 7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381424" y="1353922"/>
            <a:ext cx="3657676" cy="3800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i="1">
                <a:solidFill>
                  <a:srgbClr val="4A6E8E"/>
                </a:solidFill>
                <a:cs typeface="+mn-lt"/>
              </a:rPr>
              <a:t>预测准确，不自动等于理解机制。</a:t>
            </a:r>
            <a:endParaRPr i="1">
              <a:solidFill>
                <a:srgbClr val="4A6E8E"/>
              </a:solidFill>
              <a:cs typeface="+mn-lt"/>
            </a:endParaRPr>
          </a:p>
        </p:txBody>
      </p:sp>
      <p:sp>
        <p:nvSpPr>
          <p:cNvPr id="43" name="任意多边形 42"/>
          <p:cNvSpPr/>
          <p:nvPr>
            <p:custDataLst>
              <p:tags r:id="rId4"/>
            </p:custDataLst>
          </p:nvPr>
        </p:nvSpPr>
        <p:spPr>
          <a:xfrm>
            <a:off x="3128645" y="5781040"/>
            <a:ext cx="5934075" cy="506730"/>
          </a:xfrm>
          <a:custGeom>
            <a:avLst/>
            <a:gdLst>
              <a:gd name="sw" fmla="*/ 1 w 9344"/>
              <a:gd name="sh" fmla="*/ 1 h 797"/>
              <a:gd name="mins" fmla="min sw sh"/>
              <a:gd name="dsw" fmla="+- 0 sw mins"/>
              <a:gd name="dsh" fmla="+- 0 sh mins"/>
              <a:gd name="p0x0" fmla="*/ 180 w 9344"/>
              <a:gd name="p0y0" fmla="*/ 0 h 797"/>
              <a:gd name="p0x1" fmla="*/ 9164 w 9344"/>
              <a:gd name="p0y1" fmla="*/ 0 h 797"/>
              <a:gd name="p0x2" fmla="*/ 9264 w 9344"/>
              <a:gd name="p0y2" fmla="*/ 0 h 797"/>
              <a:gd name="p0x3" fmla="*/ 9344 w 9344"/>
              <a:gd name="p0y3" fmla="*/ 80 h 797"/>
              <a:gd name="p0x4" fmla="*/ 9344 w 9344"/>
              <a:gd name="p0y4" fmla="*/ 180 h 797"/>
              <a:gd name="p0x5" fmla="*/ 9344 w 9344"/>
              <a:gd name="p0y5" fmla="*/ 617 h 797"/>
              <a:gd name="p0x6" fmla="*/ 9344 w 9344"/>
              <a:gd name="p0y6" fmla="*/ 717 h 797"/>
              <a:gd name="p0x7" fmla="*/ 9264 w 9344"/>
              <a:gd name="p0y7" fmla="*/ 797 h 797"/>
              <a:gd name="p0x8" fmla="*/ 9164 w 9344"/>
              <a:gd name="p0y8" fmla="*/ 797 h 797"/>
              <a:gd name="p0x9" fmla="*/ 180 w 9344"/>
              <a:gd name="p0y9" fmla="*/ 797 h 797"/>
              <a:gd name="p0x10" fmla="*/ 80 w 9344"/>
              <a:gd name="p0y10" fmla="*/ 797 h 797"/>
              <a:gd name="p0x11" fmla="*/ 0 w 9344"/>
              <a:gd name="p0y11" fmla="*/ 717 h 797"/>
              <a:gd name="p0x12" fmla="*/ 0 w 9344"/>
              <a:gd name="p0y12" fmla="*/ 617 h 797"/>
              <a:gd name="p0x13" fmla="*/ 0 w 9344"/>
              <a:gd name="p0y13" fmla="*/ 180 h 797"/>
              <a:gd name="p0x14" fmla="*/ 0 w 9344"/>
              <a:gd name="p0y14" fmla="*/ 80 h 797"/>
              <a:gd name="p0x15" fmla="*/ 80 w 9344"/>
              <a:gd name="p0y15" fmla="*/ 0 h 797"/>
              <a:gd name="p0x16" fmla="*/ 180 w 9344"/>
              <a:gd name="p0y16" fmla="*/ 0 h 7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5"/>
            </p:custDataLst>
          </p:nvPr>
        </p:nvSpPr>
        <p:spPr>
          <a:xfrm>
            <a:off x="3281439" y="5841387"/>
            <a:ext cx="6086322" cy="3800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lang="zh-CN" altLang="en-US" i="1">
                <a:solidFill>
                  <a:srgbClr val="4A6E8E"/>
                </a:solidFill>
                <a:cs typeface="+mn-lt"/>
              </a:rPr>
              <a:t>模型能预测</a:t>
            </a:r>
            <a:r>
              <a:rPr lang="en-US" altLang="zh-CN" i="1">
                <a:solidFill>
                  <a:srgbClr val="4A6E8E"/>
                </a:solidFill>
                <a:cs typeface="+mn-lt"/>
              </a:rPr>
              <a:t>"</a:t>
            </a:r>
            <a:r>
              <a:rPr lang="zh-CN" altLang="en-US" i="1">
                <a:solidFill>
                  <a:srgbClr val="4A6E8E"/>
                </a:solidFill>
                <a:cs typeface="+mn-lt"/>
              </a:rPr>
              <a:t>会发生什么</a:t>
            </a:r>
            <a:r>
              <a:rPr lang="en-US" altLang="zh-CN" i="1">
                <a:solidFill>
                  <a:srgbClr val="4A6E8E"/>
                </a:solidFill>
                <a:cs typeface="+mn-lt"/>
              </a:rPr>
              <a:t>"</a:t>
            </a:r>
            <a:r>
              <a:rPr lang="zh-CN" altLang="en-US" i="1">
                <a:solidFill>
                  <a:srgbClr val="4A6E8E"/>
                </a:solidFill>
                <a:cs typeface="+mn-lt"/>
              </a:rPr>
              <a:t>，实验还要验证</a:t>
            </a:r>
            <a:r>
              <a:rPr lang="en-US" altLang="zh-CN" i="1">
                <a:solidFill>
                  <a:srgbClr val="4A6E8E"/>
                </a:solidFill>
                <a:cs typeface="+mn-lt"/>
              </a:rPr>
              <a:t>"</a:t>
            </a:r>
            <a:r>
              <a:rPr lang="zh-CN" altLang="en-US" i="1">
                <a:solidFill>
                  <a:srgbClr val="4A6E8E"/>
                </a:solidFill>
                <a:cs typeface="+mn-lt"/>
              </a:rPr>
              <a:t>为什么发生</a:t>
            </a:r>
            <a:r>
              <a:rPr lang="en-US" altLang="zh-CN" i="1">
                <a:solidFill>
                  <a:srgbClr val="4A6E8E"/>
                </a:solidFill>
                <a:cs typeface="+mn-lt"/>
              </a:rPr>
              <a:t>"</a:t>
            </a:r>
            <a:r>
              <a:rPr lang="zh-CN" altLang="en-US" i="1">
                <a:solidFill>
                  <a:srgbClr val="4A6E8E"/>
                </a:solidFill>
                <a:cs typeface="+mn-lt"/>
              </a:rPr>
              <a:t>。</a:t>
            </a:r>
            <a:endParaRPr lang="zh-CN" altLang="en-US" i="1">
              <a:solidFill>
                <a:srgbClr val="4A6E8E"/>
              </a:solidFill>
              <a:cs typeface="+mn-lt"/>
            </a:endParaRPr>
          </a:p>
        </p:txBody>
      </p:sp>
      <p:sp>
        <p:nvSpPr>
          <p:cNvPr id="6" name="任意多边形 5"/>
          <p:cNvSpPr/>
          <p:nvPr>
            <p:custDataLst>
              <p:tags r:id="rId6"/>
            </p:custDataLst>
          </p:nvPr>
        </p:nvSpPr>
        <p:spPr>
          <a:xfrm>
            <a:off x="575945" y="2222500"/>
            <a:ext cx="11039475" cy="3136265"/>
          </a:xfrm>
          <a:custGeom>
            <a:avLst/>
            <a:gdLst>
              <a:gd name="sw" fmla="*/ 1 w 17385"/>
              <a:gd name="sh" fmla="*/ 1 h 4938"/>
              <a:gd name="mins" fmla="min sw sh"/>
              <a:gd name="dsw" fmla="+- 0 sw mins"/>
              <a:gd name="dsh" fmla="+- 0 sh mins"/>
              <a:gd name="p0x0" fmla="*/ 270 w 17385"/>
              <a:gd name="p0y0" fmla="*/ 0 h 4938"/>
              <a:gd name="p0x1" fmla="*/ 17115 w 17385"/>
              <a:gd name="p0y1" fmla="*/ 0 h 4938"/>
              <a:gd name="p0x2" fmla="*/ 17264 w 17385"/>
              <a:gd name="p0y2" fmla="*/ 0 h 4938"/>
              <a:gd name="p0x3" fmla="*/ 17385 w 17385"/>
              <a:gd name="p0y3" fmla="*/ 120 h 4938"/>
              <a:gd name="p0x4" fmla="*/ 17385 w 17385"/>
              <a:gd name="p0y4" fmla="*/ 270 h 4938"/>
              <a:gd name="p0x5" fmla="*/ 17385 w 17385"/>
              <a:gd name="p0y5" fmla="*/ 4668 h 4938"/>
              <a:gd name="p0x6" fmla="*/ 17385 w 17385"/>
              <a:gd name="p0y6" fmla="*/ 4817 h 4938"/>
              <a:gd name="p0x7" fmla="*/ 17264 w 17385"/>
              <a:gd name="p0y7" fmla="*/ 4938 h 4938"/>
              <a:gd name="p0x8" fmla="*/ 17115 w 17385"/>
              <a:gd name="p0y8" fmla="*/ 4938 h 4938"/>
              <a:gd name="p0x9" fmla="*/ 270 w 17385"/>
              <a:gd name="p0y9" fmla="*/ 4938 h 4938"/>
              <a:gd name="p0x10" fmla="*/ 120 w 17385"/>
              <a:gd name="p0y10" fmla="*/ 4938 h 4938"/>
              <a:gd name="p0x11" fmla="*/ 0 w 17385"/>
              <a:gd name="p0y11" fmla="*/ 4817 h 4938"/>
              <a:gd name="p0x12" fmla="*/ 0 w 17385"/>
              <a:gd name="p0y12" fmla="*/ 4668 h 4938"/>
              <a:gd name="p0x13" fmla="*/ 0 w 17385"/>
              <a:gd name="p0y13" fmla="*/ 270 h 4938"/>
              <a:gd name="p0x14" fmla="*/ 0 w 17385"/>
              <a:gd name="p0y14" fmla="*/ 120 h 4938"/>
              <a:gd name="p0x15" fmla="*/ 120 w 17385"/>
              <a:gd name="p0y15" fmla="*/ 0 h 4938"/>
              <a:gd name="p0x16" fmla="*/ 270 w 17385"/>
              <a:gd name="p0y16" fmla="*/ 0 h 49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771525" y="2418080"/>
            <a:ext cx="10648950" cy="466090"/>
            <a:chOff x="1215" y="3808"/>
            <a:chExt cx="16770" cy="734"/>
          </a:xfrm>
        </p:grpSpPr>
        <p:sp>
          <p:nvSpPr>
            <p:cNvPr id="7" name="任意多边形 6"/>
            <p:cNvSpPr/>
            <p:nvPr>
              <p:custDataLst>
                <p:tags r:id="rId7"/>
              </p:custDataLst>
            </p:nvPr>
          </p:nvSpPr>
          <p:spPr>
            <a:xfrm>
              <a:off x="1215" y="3808"/>
              <a:ext cx="16770" cy="735"/>
            </a:xfrm>
            <a:custGeom>
              <a:avLst/>
              <a:gdLst>
                <a:gd name="sw" fmla="*/ 1 w 16770"/>
                <a:gd name="sh" fmla="*/ 1 h 735"/>
                <a:gd name="mins" fmla="min sw sh"/>
                <a:gd name="dsw" fmla="+- 0 sw mins"/>
                <a:gd name="dsh" fmla="+- 0 sh mins"/>
                <a:gd name="p0x0" fmla="*/ 0 w 16770"/>
                <a:gd name="p0y0" fmla="*/ 0 h 735"/>
                <a:gd name="p0x1" fmla="*/ 16770 w 16770"/>
                <a:gd name="p0y1" fmla="*/ 0 h 735"/>
                <a:gd name="p0x2" fmla="*/ 16770 w 16770"/>
                <a:gd name="p0y2" fmla="*/ 735 h 735"/>
                <a:gd name="p0x3" fmla="*/ 0 w 16770"/>
                <a:gd name="p0y3" fmla="*/ 735 h 735"/>
                <a:gd name="p0x4" fmla="*/ 0 w 1677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8"/>
              </p:custDataLst>
            </p:nvPr>
          </p:nvSpPr>
          <p:spPr>
            <a:xfrm>
              <a:off x="1215" y="4528"/>
              <a:ext cx="16770" cy="15"/>
            </a:xfrm>
            <a:custGeom>
              <a:avLst/>
              <a:gdLst>
                <a:gd name="sw" fmla="*/ 1 w 16770"/>
                <a:gd name="sh" fmla="*/ 1 h 15"/>
                <a:gd name="mins" fmla="min sw sh"/>
                <a:gd name="dsw" fmla="+- 0 sw mins"/>
                <a:gd name="dsh" fmla="+- 0 sh mins"/>
                <a:gd name="p0x0" fmla="*/ 16770 w 16770"/>
                <a:gd name="p0y0" fmla="*/ 15 h 15"/>
                <a:gd name="p0x1" fmla="*/ 0 w 16770"/>
                <a:gd name="p0y1" fmla="*/ 15 h 15"/>
                <a:gd name="p0x2" fmla="*/ 0 w 16770"/>
                <a:gd name="p0y2" fmla="*/ 0 h 15"/>
                <a:gd name="p0x3" fmla="*/ 16770 w 16770"/>
                <a:gd name="p0y3" fmla="*/ 0 h 15"/>
                <a:gd name="p0x4" fmla="*/ 16770 w 167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lumMod val="20577"/>
                <a:lumOff val="7942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任意多边形 9"/>
          <p:cNvSpPr/>
          <p:nvPr>
            <p:custDataLst>
              <p:tags r:id="rId9"/>
            </p:custDataLst>
          </p:nvPr>
        </p:nvSpPr>
        <p:spPr>
          <a:xfrm>
            <a:off x="775970" y="2422525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80 w 525"/>
              <a:gd name="p0y0" fmla="*/ 0 h 525"/>
              <a:gd name="p0x1" fmla="*/ 345 w 525"/>
              <a:gd name="p0y1" fmla="*/ 0 h 525"/>
              <a:gd name="p0x2" fmla="*/ 444 w 525"/>
              <a:gd name="p0y2" fmla="*/ 0 h 525"/>
              <a:gd name="p0x3" fmla="*/ 525 w 525"/>
              <a:gd name="p0y3" fmla="*/ 80 h 525"/>
              <a:gd name="p0x4" fmla="*/ 525 w 525"/>
              <a:gd name="p0y4" fmla="*/ 180 h 525"/>
              <a:gd name="p0x5" fmla="*/ 525 w 525"/>
              <a:gd name="p0y5" fmla="*/ 345 h 525"/>
              <a:gd name="p0x6" fmla="*/ 525 w 525"/>
              <a:gd name="p0y6" fmla="*/ 444 h 525"/>
              <a:gd name="p0x7" fmla="*/ 444 w 525"/>
              <a:gd name="p0y7" fmla="*/ 525 h 525"/>
              <a:gd name="p0x8" fmla="*/ 345 w 525"/>
              <a:gd name="p0y8" fmla="*/ 525 h 525"/>
              <a:gd name="p0x9" fmla="*/ 180 w 525"/>
              <a:gd name="p0y9" fmla="*/ 525 h 525"/>
              <a:gd name="p0x10" fmla="*/ 80 w 525"/>
              <a:gd name="p0y10" fmla="*/ 525 h 525"/>
              <a:gd name="p0x11" fmla="*/ 0 w 525"/>
              <a:gd name="p0y11" fmla="*/ 444 h 525"/>
              <a:gd name="p0x12" fmla="*/ 0 w 525"/>
              <a:gd name="p0y12" fmla="*/ 345 h 525"/>
              <a:gd name="p0x13" fmla="*/ 0 w 525"/>
              <a:gd name="p0y13" fmla="*/ 180 h 525"/>
              <a:gd name="p0x14" fmla="*/ 0 w 525"/>
              <a:gd name="p0y14" fmla="*/ 80 h 525"/>
              <a:gd name="p0x15" fmla="*/ 80 w 525"/>
              <a:gd name="p0y15" fmla="*/ 0 h 525"/>
              <a:gd name="p0x16" fmla="*/ 18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 w="9525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bd5be76f-c317-11f1-be87-02fce3d28087"/>
          <p:cNvPicPr/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-74" b="74"/>
          <a:stretch>
            <a:fillRect/>
          </a:stretch>
        </p:blipFill>
        <p:spPr>
          <a:xfrm>
            <a:off x="838200" y="2484755"/>
            <a:ext cx="209550" cy="20955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1228725" y="2406806"/>
            <a:ext cx="92279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D3E5E"/>
                </a:solidFill>
                <a:cs typeface="+mn-lt"/>
              </a:rPr>
              <a:t>模型与实验的分工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14"/>
            </p:custDataLst>
          </p:nvPr>
        </p:nvSpPr>
        <p:spPr>
          <a:xfrm>
            <a:off x="10575290" y="2446655"/>
            <a:ext cx="840105" cy="285750"/>
          </a:xfrm>
          <a:custGeom>
            <a:avLst/>
            <a:gdLst>
              <a:gd name="sw" fmla="*/ 1 w 1322"/>
              <a:gd name="sh" fmla="*/ 1 h 450"/>
              <a:gd name="mins" fmla="min sw sh"/>
              <a:gd name="dsw" fmla="+- 0 sw mins"/>
              <a:gd name="dsh" fmla="+- 0 sh mins"/>
              <a:gd name="p0x0" fmla="*/ 225 w 1322"/>
              <a:gd name="p0y0" fmla="*/ 0 h 450"/>
              <a:gd name="p0x1" fmla="*/ 1097 w 1322"/>
              <a:gd name="p0y1" fmla="*/ 0 h 450"/>
              <a:gd name="p0x2" fmla="*/ 1222 w 1322"/>
              <a:gd name="p0y2" fmla="*/ 0 h 450"/>
              <a:gd name="p0x3" fmla="*/ 1322 w 1322"/>
              <a:gd name="p0y3" fmla="*/ 100 h 450"/>
              <a:gd name="p0x4" fmla="*/ 1322 w 1322"/>
              <a:gd name="p0y4" fmla="*/ 225 h 450"/>
              <a:gd name="p0x5" fmla="*/ 1322 w 1322"/>
              <a:gd name="p0y5" fmla="*/ 349 h 450"/>
              <a:gd name="p0x6" fmla="*/ 1222 w 1322"/>
              <a:gd name="p0y6" fmla="*/ 450 h 450"/>
              <a:gd name="p0x7" fmla="*/ 1097 w 1322"/>
              <a:gd name="p0y7" fmla="*/ 450 h 450"/>
              <a:gd name="p0x8" fmla="*/ 225 w 1322"/>
              <a:gd name="p0y8" fmla="*/ 450 h 450"/>
              <a:gd name="p0x9" fmla="*/ 100 w 1322"/>
              <a:gd name="p0y9" fmla="*/ 450 h 450"/>
              <a:gd name="p0x10" fmla="*/ 0 w 1322"/>
              <a:gd name="p0y10" fmla="*/ 349 h 450"/>
              <a:gd name="p0x11" fmla="*/ 0 w 1322"/>
              <a:gd name="p0y11" fmla="*/ 225 h 450"/>
              <a:gd name="p0x12" fmla="*/ 0 w 1322"/>
              <a:gd name="p0y12" fmla="*/ 100 h 450"/>
              <a:gd name="p0x13" fmla="*/ 100 w 1322"/>
              <a:gd name="p0y13" fmla="*/ 0 h 450"/>
              <a:gd name="p0x14" fmla="*/ 225 w 1322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 w="9525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10694794" y="2489673"/>
            <a:ext cx="75426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2 </a:t>
            </a:r>
            <a:r>
              <a:rPr lang="zh-CN"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个层面</a:t>
            </a:r>
            <a:endParaRPr lang="zh-CN" sz="1200" b="1">
              <a:solidFill>
                <a:schemeClr val="accent1">
                  <a:lumMod val="56651"/>
                </a:schemeClr>
              </a:solidFill>
              <a:cs typeface="+mn-lt"/>
            </a:endParaRPr>
          </a:p>
        </p:txBody>
      </p:sp>
      <p:sp>
        <p:nvSpPr>
          <p:cNvPr id="17" name="任意多边形 16"/>
          <p:cNvSpPr/>
          <p:nvPr>
            <p:custDataLst>
              <p:tags r:id="rId16"/>
            </p:custDataLst>
          </p:nvPr>
        </p:nvSpPr>
        <p:spPr>
          <a:xfrm>
            <a:off x="775970" y="3003550"/>
            <a:ext cx="5158105" cy="2155190"/>
          </a:xfrm>
          <a:custGeom>
            <a:avLst/>
            <a:gdLst>
              <a:gd name="sw" fmla="*/ 1 w 8122"/>
              <a:gd name="sh" fmla="*/ 1 h 3393"/>
              <a:gd name="mins" fmla="min sw sh"/>
              <a:gd name="dsw" fmla="+- 0 sw mins"/>
              <a:gd name="dsh" fmla="+- 0 sh mins"/>
              <a:gd name="p0x0" fmla="*/ 180 w 8122"/>
              <a:gd name="p0y0" fmla="*/ 0 h 3393"/>
              <a:gd name="p0x1" fmla="*/ 7942 w 8122"/>
              <a:gd name="p0y1" fmla="*/ 0 h 3393"/>
              <a:gd name="p0x2" fmla="*/ 8041 w 8122"/>
              <a:gd name="p0y2" fmla="*/ 0 h 3393"/>
              <a:gd name="p0x3" fmla="*/ 8122 w 8122"/>
              <a:gd name="p0y3" fmla="*/ 80 h 3393"/>
              <a:gd name="p0x4" fmla="*/ 8122 w 8122"/>
              <a:gd name="p0y4" fmla="*/ 180 h 3393"/>
              <a:gd name="p0x5" fmla="*/ 8122 w 8122"/>
              <a:gd name="p0y5" fmla="*/ 3213 h 3393"/>
              <a:gd name="p0x6" fmla="*/ 8122 w 8122"/>
              <a:gd name="p0y6" fmla="*/ 3313 h 3393"/>
              <a:gd name="p0x7" fmla="*/ 8041 w 8122"/>
              <a:gd name="p0y7" fmla="*/ 3393 h 3393"/>
              <a:gd name="p0x8" fmla="*/ 7942 w 8122"/>
              <a:gd name="p0y8" fmla="*/ 3393 h 3393"/>
              <a:gd name="p0x9" fmla="*/ 180 w 8122"/>
              <a:gd name="p0y9" fmla="*/ 3393 h 3393"/>
              <a:gd name="p0x10" fmla="*/ 80 w 8122"/>
              <a:gd name="p0y10" fmla="*/ 3393 h 3393"/>
              <a:gd name="p0x11" fmla="*/ 0 w 8122"/>
              <a:gd name="p0y11" fmla="*/ 3313 h 3393"/>
              <a:gd name="p0x12" fmla="*/ 0 w 8122"/>
              <a:gd name="p0y12" fmla="*/ 3213 h 3393"/>
              <a:gd name="p0x13" fmla="*/ 0 w 8122"/>
              <a:gd name="p0y13" fmla="*/ 180 h 3393"/>
              <a:gd name="p0x14" fmla="*/ 0 w 8122"/>
              <a:gd name="p0y14" fmla="*/ 80 h 3393"/>
              <a:gd name="p0x15" fmla="*/ 80 w 8122"/>
              <a:gd name="p0y15" fmla="*/ 0 h 3393"/>
              <a:gd name="p0x16" fmla="*/ 180 w 8122"/>
              <a:gd name="p0y16" fmla="*/ 0 h 339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895350" y="3107846"/>
            <a:ext cx="4919663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cs typeface="+mn-lt"/>
              </a:rPr>
              <a:t>模型能告诉我们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895350" y="3710940"/>
            <a:ext cx="4918710" cy="400050"/>
            <a:chOff x="1410" y="5844"/>
            <a:chExt cx="7746" cy="630"/>
          </a:xfrm>
        </p:grpSpPr>
        <p:sp>
          <p:nvSpPr>
            <p:cNvPr id="19" name="任意多边形 18"/>
            <p:cNvSpPr/>
            <p:nvPr>
              <p:custDataLst>
                <p:tags r:id="rId18"/>
              </p:custDataLst>
            </p:nvPr>
          </p:nvSpPr>
          <p:spPr>
            <a:xfrm>
              <a:off x="1410" y="5844"/>
              <a:ext cx="7747" cy="630"/>
            </a:xfrm>
            <a:custGeom>
              <a:avLst/>
              <a:gdLst>
                <a:gd name="sw" fmla="*/ 1 w 7747"/>
                <a:gd name="sh" fmla="*/ 1 h 630"/>
                <a:gd name="mins" fmla="min sw sh"/>
                <a:gd name="dsw" fmla="+- 0 sw mins"/>
                <a:gd name="dsh" fmla="+- 0 sh mins"/>
                <a:gd name="p0x0" fmla="*/ 180 w 7747"/>
                <a:gd name="p0y0" fmla="*/ 0 h 630"/>
                <a:gd name="p0x1" fmla="*/ 7567 w 7747"/>
                <a:gd name="p0y1" fmla="*/ 0 h 630"/>
                <a:gd name="p0x2" fmla="*/ 7666 w 7747"/>
                <a:gd name="p0y2" fmla="*/ 0 h 630"/>
                <a:gd name="p0x3" fmla="*/ 7747 w 7747"/>
                <a:gd name="p0y3" fmla="*/ 80 h 630"/>
                <a:gd name="p0x4" fmla="*/ 7747 w 7747"/>
                <a:gd name="p0y4" fmla="*/ 180 h 630"/>
                <a:gd name="p0x5" fmla="*/ 7747 w 7747"/>
                <a:gd name="p0y5" fmla="*/ 450 h 630"/>
                <a:gd name="p0x6" fmla="*/ 7747 w 7747"/>
                <a:gd name="p0y6" fmla="*/ 549 h 630"/>
                <a:gd name="p0x7" fmla="*/ 7666 w 7747"/>
                <a:gd name="p0y7" fmla="*/ 630 h 630"/>
                <a:gd name="p0x8" fmla="*/ 7567 w 7747"/>
                <a:gd name="p0y8" fmla="*/ 630 h 630"/>
                <a:gd name="p0x9" fmla="*/ 180 w 7747"/>
                <a:gd name="p0y9" fmla="*/ 630 h 630"/>
                <a:gd name="p0x10" fmla="*/ 80 w 7747"/>
                <a:gd name="p0y10" fmla="*/ 630 h 630"/>
                <a:gd name="p0x11" fmla="*/ 0 w 7747"/>
                <a:gd name="p0y11" fmla="*/ 549 h 630"/>
                <a:gd name="p0x12" fmla="*/ 0 w 7747"/>
                <a:gd name="p0y12" fmla="*/ 450 h 630"/>
                <a:gd name="p0x13" fmla="*/ 0 w 7747"/>
                <a:gd name="p0y13" fmla="*/ 180 h 630"/>
                <a:gd name="p0x14" fmla="*/ 0 w 7747"/>
                <a:gd name="p0y14" fmla="*/ 80 h 630"/>
                <a:gd name="p0x15" fmla="*/ 80 w 7747"/>
                <a:gd name="p0y15" fmla="*/ 0 h 630"/>
                <a:gd name="p0x16" fmla="*/ 180 w 7747"/>
                <a:gd name="p0y16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53347"/>
                <a:lumOff val="4665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>
              <p:custDataLst>
                <p:tags r:id="rId19"/>
              </p:custDataLst>
            </p:nvPr>
          </p:nvSpPr>
          <p:spPr>
            <a:xfrm>
              <a:off x="1521" y="5844"/>
              <a:ext cx="7583" cy="63"/>
            </a:xfrm>
            <a:custGeom>
              <a:avLst/>
              <a:gdLst>
                <a:gd name="sw" fmla="*/ 1 w 7583"/>
                <a:gd name="sh" fmla="*/ 1 h 63"/>
                <a:gd name="mins" fmla="min sw sh"/>
                <a:gd name="dsw" fmla="+- 0 sw mins"/>
                <a:gd name="dsh" fmla="+- 0 sh mins"/>
                <a:gd name="p0x0" fmla="*/ 68 w 7583"/>
                <a:gd name="p0y0" fmla="*/ 0 h 63"/>
                <a:gd name="p0x1" fmla="*/ 7456 w 7583"/>
                <a:gd name="p0y1" fmla="*/ 0 h 63"/>
                <a:gd name="p0x2" fmla="*/ 7506 w 7583"/>
                <a:gd name="p0y2" fmla="*/ 0 h 63"/>
                <a:gd name="p0x3" fmla="*/ 7551 w 7583"/>
                <a:gd name="p0y3" fmla="*/ 20 h 63"/>
                <a:gd name="p0x4" fmla="*/ 7583 w 7583"/>
                <a:gd name="p0y4" fmla="*/ 52 h 63"/>
                <a:gd name="p0x5" fmla="*/ 7573 w 7583"/>
                <a:gd name="p0y5" fmla="*/ 63 h 63"/>
                <a:gd name="p0x6" fmla="*/ 7543 w 7583"/>
                <a:gd name="p0y6" fmla="*/ 33 h 63"/>
                <a:gd name="p0x7" fmla="*/ 7502 w 7583"/>
                <a:gd name="p0y7" fmla="*/ 15 h 63"/>
                <a:gd name="p0x8" fmla="*/ 7456 w 7583"/>
                <a:gd name="p0y8" fmla="*/ 15 h 63"/>
                <a:gd name="p0x9" fmla="*/ 68 w 7583"/>
                <a:gd name="p0y9" fmla="*/ 15 h 63"/>
                <a:gd name="p0x10" fmla="*/ 50 w 7583"/>
                <a:gd name="p0y10" fmla="*/ 15 h 63"/>
                <a:gd name="p0x11" fmla="*/ 33 w 7583"/>
                <a:gd name="p0y11" fmla="*/ 19 h 63"/>
                <a:gd name="p0x12" fmla="*/ 17 w 7583"/>
                <a:gd name="p0y12" fmla="*/ 27 h 63"/>
                <a:gd name="p0x13" fmla="*/ 0 w 7583"/>
                <a:gd name="p0y13" fmla="*/ 13 h 63"/>
                <a:gd name="p0x14" fmla="*/ 0 w 7583"/>
                <a:gd name="p0y14" fmla="*/ 13 h 63"/>
                <a:gd name="p0x15" fmla="*/ 21 w 7583"/>
                <a:gd name="p0y15" fmla="*/ 4 h 63"/>
                <a:gd name="p0x16" fmla="*/ 44 w 7583"/>
                <a:gd name="p0y16" fmla="*/ 0 h 63"/>
                <a:gd name="p0x17" fmla="*/ 68 w 7583"/>
                <a:gd name="p0y17" fmla="*/ 0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>
              <p:custDataLst>
                <p:tags r:id="rId20"/>
              </p:custDataLst>
            </p:nvPr>
          </p:nvSpPr>
          <p:spPr>
            <a:xfrm>
              <a:off x="9094" y="5897"/>
              <a:ext cx="63" cy="524"/>
            </a:xfrm>
            <a:custGeom>
              <a:avLst/>
              <a:gdLst>
                <a:gd name="sw" fmla="*/ 1 w 63"/>
                <a:gd name="sh" fmla="*/ 1 h 524"/>
                <a:gd name="mins" fmla="min sw sh"/>
                <a:gd name="dsw" fmla="+- 0 sw mins"/>
                <a:gd name="dsh" fmla="+- 0 sh mins"/>
                <a:gd name="p0x0" fmla="*/ 63 w 63"/>
                <a:gd name="p0y0" fmla="*/ 127 h 524"/>
                <a:gd name="p0x1" fmla="*/ 63 w 63"/>
                <a:gd name="p0y1" fmla="*/ 397 h 524"/>
                <a:gd name="p0x2" fmla="*/ 63 w 63"/>
                <a:gd name="p0y2" fmla="*/ 446 h 524"/>
                <a:gd name="p0x3" fmla="*/ 43 w 63"/>
                <a:gd name="p0y3" fmla="*/ 491 h 524"/>
                <a:gd name="p0x4" fmla="*/ 10 w 63"/>
                <a:gd name="p0y4" fmla="*/ 524 h 524"/>
                <a:gd name="p0x5" fmla="*/ 0 w 63"/>
                <a:gd name="p0y5" fmla="*/ 513 h 524"/>
                <a:gd name="p0x6" fmla="*/ 29 w 63"/>
                <a:gd name="p0y6" fmla="*/ 484 h 524"/>
                <a:gd name="p0x7" fmla="*/ 48 w 63"/>
                <a:gd name="p0y7" fmla="*/ 442 h 524"/>
                <a:gd name="p0x8" fmla="*/ 48 w 63"/>
                <a:gd name="p0y8" fmla="*/ 397 h 524"/>
                <a:gd name="p0x9" fmla="*/ 48 w 63"/>
                <a:gd name="p0y9" fmla="*/ 127 h 524"/>
                <a:gd name="p0x10" fmla="*/ 48 w 63"/>
                <a:gd name="p0y10" fmla="*/ 81 h 524"/>
                <a:gd name="p0x11" fmla="*/ 29 w 63"/>
                <a:gd name="p0y11" fmla="*/ 40 h 524"/>
                <a:gd name="p0x12" fmla="*/ 0 w 63"/>
                <a:gd name="p0y12" fmla="*/ 10 h 524"/>
                <a:gd name="p0x13" fmla="*/ 10 w 63"/>
                <a:gd name="p0y13" fmla="*/ 0 h 524"/>
                <a:gd name="p0x14" fmla="*/ 43 w 63"/>
                <a:gd name="p0y14" fmla="*/ 32 h 524"/>
                <a:gd name="p0x15" fmla="*/ 63 w 63"/>
                <a:gd name="p0y15" fmla="*/ 77 h 524"/>
                <a:gd name="p0x16" fmla="*/ 63 w 63"/>
                <a:gd name="p0y16" fmla="*/ 127 h 52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>
              <p:custDataLst>
                <p:tags r:id="rId21"/>
              </p:custDataLst>
            </p:nvPr>
          </p:nvSpPr>
          <p:spPr>
            <a:xfrm>
              <a:off x="1521" y="6411"/>
              <a:ext cx="7583" cy="63"/>
            </a:xfrm>
            <a:custGeom>
              <a:avLst/>
              <a:gdLst>
                <a:gd name="sw" fmla="*/ 1 w 7583"/>
                <a:gd name="sh" fmla="*/ 1 h 63"/>
                <a:gd name="mins" fmla="min sw sh"/>
                <a:gd name="dsw" fmla="+- 0 sw mins"/>
                <a:gd name="dsh" fmla="+- 0 sh mins"/>
                <a:gd name="p0x0" fmla="*/ 7456 w 7583"/>
                <a:gd name="p0y0" fmla="*/ 63 h 63"/>
                <a:gd name="p0x1" fmla="*/ 68 w 7583"/>
                <a:gd name="p0y1" fmla="*/ 63 h 63"/>
                <a:gd name="p0x2" fmla="*/ 44 w 7583"/>
                <a:gd name="p0y2" fmla="*/ 63 h 63"/>
                <a:gd name="p0x3" fmla="*/ 21 w 7583"/>
                <a:gd name="p0y3" fmla="*/ 58 h 63"/>
                <a:gd name="p0x4" fmla="*/ 0 w 7583"/>
                <a:gd name="p0y4" fmla="*/ 49 h 63"/>
                <a:gd name="p0x5" fmla="*/ 17 w 7583"/>
                <a:gd name="p0y5" fmla="*/ 35 h 63"/>
                <a:gd name="p0x6" fmla="*/ 17 w 7583"/>
                <a:gd name="p0y6" fmla="*/ 35 h 63"/>
                <a:gd name="p0x7" fmla="*/ 33 w 7583"/>
                <a:gd name="p0y7" fmla="*/ 43 h 63"/>
                <a:gd name="p0x8" fmla="*/ 50 w 7583"/>
                <a:gd name="p0y8" fmla="*/ 48 h 63"/>
                <a:gd name="p0x9" fmla="*/ 68 w 7583"/>
                <a:gd name="p0y9" fmla="*/ 48 h 63"/>
                <a:gd name="p0x10" fmla="*/ 7456 w 7583"/>
                <a:gd name="p0y10" fmla="*/ 48 h 63"/>
                <a:gd name="p0x11" fmla="*/ 7501 w 7583"/>
                <a:gd name="p0y11" fmla="*/ 48 h 63"/>
                <a:gd name="p0x12" fmla="*/ 7543 w 7583"/>
                <a:gd name="p0y12" fmla="*/ 29 h 63"/>
                <a:gd name="p0x13" fmla="*/ 7573 w 7583"/>
                <a:gd name="p0y13" fmla="*/ 0 h 63"/>
                <a:gd name="p0x14" fmla="*/ 7583 w 7583"/>
                <a:gd name="p0y14" fmla="*/ 10 h 63"/>
                <a:gd name="p0x15" fmla="*/ 7551 w 7583"/>
                <a:gd name="p0y15" fmla="*/ 43 h 63"/>
                <a:gd name="p0x16" fmla="*/ 7506 w 7583"/>
                <a:gd name="p0y16" fmla="*/ 63 h 63"/>
                <a:gd name="p0x17" fmla="*/ 7456 w 7583"/>
                <a:gd name="p0y17" fmla="*/ 63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22"/>
              </p:custDataLst>
            </p:nvPr>
          </p:nvSpPr>
          <p:spPr>
            <a:xfrm>
              <a:off x="1410" y="5858"/>
              <a:ext cx="128" cy="602"/>
            </a:xfrm>
            <a:custGeom>
              <a:avLst/>
              <a:gdLst>
                <a:gd name="sw" fmla="*/ 1 w 128"/>
                <a:gd name="sh" fmla="*/ 1 h 602"/>
                <a:gd name="mins" fmla="min sw sh"/>
                <a:gd name="dsw" fmla="+- 0 sw mins"/>
                <a:gd name="dsh" fmla="+- 0 sh mins"/>
                <a:gd name="p0x0" fmla="*/ 0 w 128"/>
                <a:gd name="p0y0" fmla="*/ 436 h 602"/>
                <a:gd name="p0x1" fmla="*/ 0 w 128"/>
                <a:gd name="p0y1" fmla="*/ 166 h 602"/>
                <a:gd name="p0x2" fmla="*/ 0 w 128"/>
                <a:gd name="p0y2" fmla="*/ 91 h 602"/>
                <a:gd name="p0x3" fmla="*/ 45 w 128"/>
                <a:gd name="p0y3" fmla="*/ 27 h 602"/>
                <a:gd name="p0x4" fmla="*/ 111 w 128"/>
                <a:gd name="p0y4" fmla="*/ 0 h 602"/>
                <a:gd name="p0x5" fmla="*/ 128 w 128"/>
                <a:gd name="p0y5" fmla="*/ 13 h 602"/>
                <a:gd name="p0x6" fmla="*/ 128 w 128"/>
                <a:gd name="p0y6" fmla="*/ 13 h 602"/>
                <a:gd name="p0x7" fmla="*/ 79 w 128"/>
                <a:gd name="p0y7" fmla="*/ 38 h 602"/>
                <a:gd name="p0x8" fmla="*/ 45 w 128"/>
                <a:gd name="p0y8" fmla="*/ 97 h 602"/>
                <a:gd name="p0x9" fmla="*/ 45 w 128"/>
                <a:gd name="p0y9" fmla="*/ 166 h 602"/>
                <a:gd name="p0x10" fmla="*/ 45 w 128"/>
                <a:gd name="p0y10" fmla="*/ 436 h 602"/>
                <a:gd name="p0x11" fmla="*/ 45 w 128"/>
                <a:gd name="p0y11" fmla="*/ 505 h 602"/>
                <a:gd name="p0x12" fmla="*/ 79 w 128"/>
                <a:gd name="p0y12" fmla="*/ 563 h 602"/>
                <a:gd name="p0x13" fmla="*/ 128 w 128"/>
                <a:gd name="p0y13" fmla="*/ 588 h 602"/>
                <a:gd name="p0x14" fmla="*/ 111 w 128"/>
                <a:gd name="p0y14" fmla="*/ 602 h 602"/>
                <a:gd name="p0x15" fmla="*/ 111 w 128"/>
                <a:gd name="p0y15" fmla="*/ 602 h 602"/>
                <a:gd name="p0x16" fmla="*/ 45 w 128"/>
                <a:gd name="p0y16" fmla="*/ 575 h 602"/>
                <a:gd name="p0x17" fmla="*/ 0 w 128"/>
                <a:gd name="p0y17" fmla="*/ 511 h 602"/>
                <a:gd name="p0x18" fmla="*/ 0 w 128"/>
                <a:gd name="p0y18" fmla="*/ 436 h 60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1038225" y="3744516"/>
            <a:ext cx="3238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/>
                </a:solidFill>
                <a:cs typeface="+mn-lt"/>
              </a:rPr>
              <a:t>这个变异可能让某个信号</a:t>
            </a:r>
            <a:r>
              <a:rPr sz="1500" b="1">
                <a:solidFill>
                  <a:schemeClr val="tx2"/>
                </a:solidFill>
                <a:cs typeface="+mn-lt"/>
              </a:rPr>
              <a:t>变强或变弱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895350" y="4413250"/>
            <a:ext cx="4918710" cy="400050"/>
            <a:chOff x="1410" y="6950"/>
            <a:chExt cx="7746" cy="630"/>
          </a:xfrm>
        </p:grpSpPr>
        <p:sp>
          <p:nvSpPr>
            <p:cNvPr id="26" name="任意多边形 25"/>
            <p:cNvSpPr/>
            <p:nvPr>
              <p:custDataLst>
                <p:tags r:id="rId24"/>
              </p:custDataLst>
            </p:nvPr>
          </p:nvSpPr>
          <p:spPr>
            <a:xfrm>
              <a:off x="1410" y="6950"/>
              <a:ext cx="7747" cy="630"/>
            </a:xfrm>
            <a:custGeom>
              <a:avLst/>
              <a:gdLst>
                <a:gd name="sw" fmla="*/ 1 w 7747"/>
                <a:gd name="sh" fmla="*/ 1 h 630"/>
                <a:gd name="mins" fmla="min sw sh"/>
                <a:gd name="dsw" fmla="+- 0 sw mins"/>
                <a:gd name="dsh" fmla="+- 0 sh mins"/>
                <a:gd name="p0x0" fmla="*/ 180 w 7747"/>
                <a:gd name="p0y0" fmla="*/ 0 h 630"/>
                <a:gd name="p0x1" fmla="*/ 7567 w 7747"/>
                <a:gd name="p0y1" fmla="*/ 0 h 630"/>
                <a:gd name="p0x2" fmla="*/ 7666 w 7747"/>
                <a:gd name="p0y2" fmla="*/ 0 h 630"/>
                <a:gd name="p0x3" fmla="*/ 7747 w 7747"/>
                <a:gd name="p0y3" fmla="*/ 80 h 630"/>
                <a:gd name="p0x4" fmla="*/ 7747 w 7747"/>
                <a:gd name="p0y4" fmla="*/ 180 h 630"/>
                <a:gd name="p0x5" fmla="*/ 7747 w 7747"/>
                <a:gd name="p0y5" fmla="*/ 450 h 630"/>
                <a:gd name="p0x6" fmla="*/ 7747 w 7747"/>
                <a:gd name="p0y6" fmla="*/ 549 h 630"/>
                <a:gd name="p0x7" fmla="*/ 7666 w 7747"/>
                <a:gd name="p0y7" fmla="*/ 630 h 630"/>
                <a:gd name="p0x8" fmla="*/ 7567 w 7747"/>
                <a:gd name="p0y8" fmla="*/ 630 h 630"/>
                <a:gd name="p0x9" fmla="*/ 180 w 7747"/>
                <a:gd name="p0y9" fmla="*/ 630 h 630"/>
                <a:gd name="p0x10" fmla="*/ 80 w 7747"/>
                <a:gd name="p0y10" fmla="*/ 630 h 630"/>
                <a:gd name="p0x11" fmla="*/ 0 w 7747"/>
                <a:gd name="p0y11" fmla="*/ 549 h 630"/>
                <a:gd name="p0x12" fmla="*/ 0 w 7747"/>
                <a:gd name="p0y12" fmla="*/ 450 h 630"/>
                <a:gd name="p0x13" fmla="*/ 0 w 7747"/>
                <a:gd name="p0y13" fmla="*/ 180 h 630"/>
                <a:gd name="p0x14" fmla="*/ 0 w 7747"/>
                <a:gd name="p0y14" fmla="*/ 80 h 630"/>
                <a:gd name="p0x15" fmla="*/ 80 w 7747"/>
                <a:gd name="p0y15" fmla="*/ 0 h 630"/>
                <a:gd name="p0x16" fmla="*/ 180 w 7747"/>
                <a:gd name="p0y16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53347"/>
                <a:lumOff val="4665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25"/>
              </p:custDataLst>
            </p:nvPr>
          </p:nvSpPr>
          <p:spPr>
            <a:xfrm>
              <a:off x="1521" y="6950"/>
              <a:ext cx="7583" cy="63"/>
            </a:xfrm>
            <a:custGeom>
              <a:avLst/>
              <a:gdLst>
                <a:gd name="sw" fmla="*/ 1 w 7583"/>
                <a:gd name="sh" fmla="*/ 1 h 63"/>
                <a:gd name="mins" fmla="min sw sh"/>
                <a:gd name="dsw" fmla="+- 0 sw mins"/>
                <a:gd name="dsh" fmla="+- 0 sh mins"/>
                <a:gd name="p0x0" fmla="*/ 68 w 7583"/>
                <a:gd name="p0y0" fmla="*/ 0 h 63"/>
                <a:gd name="p0x1" fmla="*/ 7456 w 7583"/>
                <a:gd name="p0y1" fmla="*/ 0 h 63"/>
                <a:gd name="p0x2" fmla="*/ 7506 w 7583"/>
                <a:gd name="p0y2" fmla="*/ 0 h 63"/>
                <a:gd name="p0x3" fmla="*/ 7551 w 7583"/>
                <a:gd name="p0y3" fmla="*/ 20 h 63"/>
                <a:gd name="p0x4" fmla="*/ 7583 w 7583"/>
                <a:gd name="p0y4" fmla="*/ 52 h 63"/>
                <a:gd name="p0x5" fmla="*/ 7573 w 7583"/>
                <a:gd name="p0y5" fmla="*/ 63 h 63"/>
                <a:gd name="p0x6" fmla="*/ 7543 w 7583"/>
                <a:gd name="p0y6" fmla="*/ 33 h 63"/>
                <a:gd name="p0x7" fmla="*/ 7502 w 7583"/>
                <a:gd name="p0y7" fmla="*/ 15 h 63"/>
                <a:gd name="p0x8" fmla="*/ 7456 w 7583"/>
                <a:gd name="p0y8" fmla="*/ 15 h 63"/>
                <a:gd name="p0x9" fmla="*/ 68 w 7583"/>
                <a:gd name="p0y9" fmla="*/ 15 h 63"/>
                <a:gd name="p0x10" fmla="*/ 50 w 7583"/>
                <a:gd name="p0y10" fmla="*/ 15 h 63"/>
                <a:gd name="p0x11" fmla="*/ 33 w 7583"/>
                <a:gd name="p0y11" fmla="*/ 19 h 63"/>
                <a:gd name="p0x12" fmla="*/ 17 w 7583"/>
                <a:gd name="p0y12" fmla="*/ 27 h 63"/>
                <a:gd name="p0x13" fmla="*/ 0 w 7583"/>
                <a:gd name="p0y13" fmla="*/ 13 h 63"/>
                <a:gd name="p0x14" fmla="*/ 0 w 7583"/>
                <a:gd name="p0y14" fmla="*/ 13 h 63"/>
                <a:gd name="p0x15" fmla="*/ 21 w 7583"/>
                <a:gd name="p0y15" fmla="*/ 4 h 63"/>
                <a:gd name="p0x16" fmla="*/ 44 w 7583"/>
                <a:gd name="p0y16" fmla="*/ 0 h 63"/>
                <a:gd name="p0x17" fmla="*/ 68 w 7583"/>
                <a:gd name="p0y17" fmla="*/ 0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>
              <p:custDataLst>
                <p:tags r:id="rId26"/>
              </p:custDataLst>
            </p:nvPr>
          </p:nvSpPr>
          <p:spPr>
            <a:xfrm>
              <a:off x="9094" y="7003"/>
              <a:ext cx="63" cy="524"/>
            </a:xfrm>
            <a:custGeom>
              <a:avLst/>
              <a:gdLst>
                <a:gd name="sw" fmla="*/ 1 w 63"/>
                <a:gd name="sh" fmla="*/ 1 h 524"/>
                <a:gd name="mins" fmla="min sw sh"/>
                <a:gd name="dsw" fmla="+- 0 sw mins"/>
                <a:gd name="dsh" fmla="+- 0 sh mins"/>
                <a:gd name="p0x0" fmla="*/ 63 w 63"/>
                <a:gd name="p0y0" fmla="*/ 127 h 524"/>
                <a:gd name="p0x1" fmla="*/ 63 w 63"/>
                <a:gd name="p0y1" fmla="*/ 397 h 524"/>
                <a:gd name="p0x2" fmla="*/ 63 w 63"/>
                <a:gd name="p0y2" fmla="*/ 446 h 524"/>
                <a:gd name="p0x3" fmla="*/ 43 w 63"/>
                <a:gd name="p0y3" fmla="*/ 491 h 524"/>
                <a:gd name="p0x4" fmla="*/ 10 w 63"/>
                <a:gd name="p0y4" fmla="*/ 524 h 524"/>
                <a:gd name="p0x5" fmla="*/ 0 w 63"/>
                <a:gd name="p0y5" fmla="*/ 513 h 524"/>
                <a:gd name="p0x6" fmla="*/ 29 w 63"/>
                <a:gd name="p0y6" fmla="*/ 484 h 524"/>
                <a:gd name="p0x7" fmla="*/ 48 w 63"/>
                <a:gd name="p0y7" fmla="*/ 442 h 524"/>
                <a:gd name="p0x8" fmla="*/ 48 w 63"/>
                <a:gd name="p0y8" fmla="*/ 397 h 524"/>
                <a:gd name="p0x9" fmla="*/ 48 w 63"/>
                <a:gd name="p0y9" fmla="*/ 127 h 524"/>
                <a:gd name="p0x10" fmla="*/ 48 w 63"/>
                <a:gd name="p0y10" fmla="*/ 81 h 524"/>
                <a:gd name="p0x11" fmla="*/ 29 w 63"/>
                <a:gd name="p0y11" fmla="*/ 40 h 524"/>
                <a:gd name="p0x12" fmla="*/ 0 w 63"/>
                <a:gd name="p0y12" fmla="*/ 10 h 524"/>
                <a:gd name="p0x13" fmla="*/ 10 w 63"/>
                <a:gd name="p0y13" fmla="*/ 0 h 524"/>
                <a:gd name="p0x14" fmla="*/ 43 w 63"/>
                <a:gd name="p0y14" fmla="*/ 32 h 524"/>
                <a:gd name="p0x15" fmla="*/ 63 w 63"/>
                <a:gd name="p0y15" fmla="*/ 77 h 524"/>
                <a:gd name="p0x16" fmla="*/ 63 w 63"/>
                <a:gd name="p0y16" fmla="*/ 127 h 52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>
              <p:custDataLst>
                <p:tags r:id="rId27"/>
              </p:custDataLst>
            </p:nvPr>
          </p:nvSpPr>
          <p:spPr>
            <a:xfrm>
              <a:off x="1521" y="7517"/>
              <a:ext cx="7583" cy="63"/>
            </a:xfrm>
            <a:custGeom>
              <a:avLst/>
              <a:gdLst>
                <a:gd name="sw" fmla="*/ 1 w 7583"/>
                <a:gd name="sh" fmla="*/ 1 h 63"/>
                <a:gd name="mins" fmla="min sw sh"/>
                <a:gd name="dsw" fmla="+- 0 sw mins"/>
                <a:gd name="dsh" fmla="+- 0 sh mins"/>
                <a:gd name="p0x0" fmla="*/ 7456 w 7583"/>
                <a:gd name="p0y0" fmla="*/ 63 h 63"/>
                <a:gd name="p0x1" fmla="*/ 68 w 7583"/>
                <a:gd name="p0y1" fmla="*/ 63 h 63"/>
                <a:gd name="p0x2" fmla="*/ 44 w 7583"/>
                <a:gd name="p0y2" fmla="*/ 63 h 63"/>
                <a:gd name="p0x3" fmla="*/ 21 w 7583"/>
                <a:gd name="p0y3" fmla="*/ 58 h 63"/>
                <a:gd name="p0x4" fmla="*/ 0 w 7583"/>
                <a:gd name="p0y4" fmla="*/ 49 h 63"/>
                <a:gd name="p0x5" fmla="*/ 17 w 7583"/>
                <a:gd name="p0y5" fmla="*/ 35 h 63"/>
                <a:gd name="p0x6" fmla="*/ 17 w 7583"/>
                <a:gd name="p0y6" fmla="*/ 35 h 63"/>
                <a:gd name="p0x7" fmla="*/ 33 w 7583"/>
                <a:gd name="p0y7" fmla="*/ 43 h 63"/>
                <a:gd name="p0x8" fmla="*/ 50 w 7583"/>
                <a:gd name="p0y8" fmla="*/ 48 h 63"/>
                <a:gd name="p0x9" fmla="*/ 68 w 7583"/>
                <a:gd name="p0y9" fmla="*/ 48 h 63"/>
                <a:gd name="p0x10" fmla="*/ 7456 w 7583"/>
                <a:gd name="p0y10" fmla="*/ 48 h 63"/>
                <a:gd name="p0x11" fmla="*/ 7501 w 7583"/>
                <a:gd name="p0y11" fmla="*/ 48 h 63"/>
                <a:gd name="p0x12" fmla="*/ 7543 w 7583"/>
                <a:gd name="p0y12" fmla="*/ 29 h 63"/>
                <a:gd name="p0x13" fmla="*/ 7573 w 7583"/>
                <a:gd name="p0y13" fmla="*/ 0 h 63"/>
                <a:gd name="p0x14" fmla="*/ 7583 w 7583"/>
                <a:gd name="p0y14" fmla="*/ 10 h 63"/>
                <a:gd name="p0x15" fmla="*/ 7551 w 7583"/>
                <a:gd name="p0y15" fmla="*/ 43 h 63"/>
                <a:gd name="p0x16" fmla="*/ 7506 w 7583"/>
                <a:gd name="p0y16" fmla="*/ 63 h 63"/>
                <a:gd name="p0x17" fmla="*/ 7456 w 7583"/>
                <a:gd name="p0y17" fmla="*/ 63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>
              <p:custDataLst>
                <p:tags r:id="rId28"/>
              </p:custDataLst>
            </p:nvPr>
          </p:nvSpPr>
          <p:spPr>
            <a:xfrm>
              <a:off x="1410" y="6964"/>
              <a:ext cx="128" cy="602"/>
            </a:xfrm>
            <a:custGeom>
              <a:avLst/>
              <a:gdLst>
                <a:gd name="sw" fmla="*/ 1 w 128"/>
                <a:gd name="sh" fmla="*/ 1 h 602"/>
                <a:gd name="mins" fmla="min sw sh"/>
                <a:gd name="dsw" fmla="+- 0 sw mins"/>
                <a:gd name="dsh" fmla="+- 0 sh mins"/>
                <a:gd name="p0x0" fmla="*/ 0 w 128"/>
                <a:gd name="p0y0" fmla="*/ 436 h 602"/>
                <a:gd name="p0x1" fmla="*/ 0 w 128"/>
                <a:gd name="p0y1" fmla="*/ 166 h 602"/>
                <a:gd name="p0x2" fmla="*/ 0 w 128"/>
                <a:gd name="p0y2" fmla="*/ 91 h 602"/>
                <a:gd name="p0x3" fmla="*/ 45 w 128"/>
                <a:gd name="p0y3" fmla="*/ 27 h 602"/>
                <a:gd name="p0x4" fmla="*/ 111 w 128"/>
                <a:gd name="p0y4" fmla="*/ 0 h 602"/>
                <a:gd name="p0x5" fmla="*/ 128 w 128"/>
                <a:gd name="p0y5" fmla="*/ 13 h 602"/>
                <a:gd name="p0x6" fmla="*/ 128 w 128"/>
                <a:gd name="p0y6" fmla="*/ 13 h 602"/>
                <a:gd name="p0x7" fmla="*/ 79 w 128"/>
                <a:gd name="p0y7" fmla="*/ 38 h 602"/>
                <a:gd name="p0x8" fmla="*/ 45 w 128"/>
                <a:gd name="p0y8" fmla="*/ 97 h 602"/>
                <a:gd name="p0x9" fmla="*/ 45 w 128"/>
                <a:gd name="p0y9" fmla="*/ 166 h 602"/>
                <a:gd name="p0x10" fmla="*/ 45 w 128"/>
                <a:gd name="p0y10" fmla="*/ 436 h 602"/>
                <a:gd name="p0x11" fmla="*/ 45 w 128"/>
                <a:gd name="p0y11" fmla="*/ 505 h 602"/>
                <a:gd name="p0x12" fmla="*/ 79 w 128"/>
                <a:gd name="p0y12" fmla="*/ 563 h 602"/>
                <a:gd name="p0x13" fmla="*/ 128 w 128"/>
                <a:gd name="p0y13" fmla="*/ 588 h 602"/>
                <a:gd name="p0x14" fmla="*/ 111 w 128"/>
                <a:gd name="p0y14" fmla="*/ 602 h 602"/>
                <a:gd name="p0x15" fmla="*/ 111 w 128"/>
                <a:gd name="p0y15" fmla="*/ 602 h 602"/>
                <a:gd name="p0x16" fmla="*/ 45 w 128"/>
                <a:gd name="p0y16" fmla="*/ 575 h 602"/>
                <a:gd name="p0x17" fmla="*/ 0 w 128"/>
                <a:gd name="p0y17" fmla="*/ 511 h 602"/>
                <a:gd name="p0x18" fmla="*/ 0 w 128"/>
                <a:gd name="p0y18" fmla="*/ 436 h 60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2" name="文本框 31"/>
          <p:cNvSpPr txBox="1"/>
          <p:nvPr>
            <p:custDataLst>
              <p:tags r:id="rId29"/>
            </p:custDataLst>
          </p:nvPr>
        </p:nvSpPr>
        <p:spPr>
          <a:xfrm>
            <a:off x="1038225" y="4446908"/>
            <a:ext cx="4762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/>
                </a:solidFill>
                <a:cs typeface="+mn-lt"/>
              </a:rPr>
              <a:t>作用：筛选候选变异，优化搜索顺序，</a:t>
            </a:r>
            <a:r>
              <a:rPr sz="1500" b="1">
                <a:solidFill>
                  <a:schemeClr val="tx2"/>
                </a:solidFill>
                <a:cs typeface="+mn-lt"/>
              </a:rPr>
              <a:t>提高实验效率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3" name="矩形 32"/>
          <p:cNvSpPr/>
          <p:nvPr>
            <p:custDataLst>
              <p:tags r:id="rId30"/>
            </p:custDataLst>
          </p:nvPr>
        </p:nvSpPr>
        <p:spPr>
          <a:xfrm>
            <a:off x="6090920" y="2999105"/>
            <a:ext cx="9525" cy="2164080"/>
          </a:xfrm>
          <a:prstGeom prst="rect">
            <a:avLst/>
          </a:prstGeom>
          <a:solidFill>
            <a:schemeClr val="bg2">
              <a:lumMod val="53347"/>
              <a:lumOff val="4665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31"/>
            </p:custDataLst>
          </p:nvPr>
        </p:nvSpPr>
        <p:spPr>
          <a:xfrm>
            <a:off x="6257925" y="3003550"/>
            <a:ext cx="5157470" cy="2155190"/>
          </a:xfrm>
          <a:custGeom>
            <a:avLst/>
            <a:gdLst>
              <a:gd name="sw" fmla="*/ 1 w 8122"/>
              <a:gd name="sh" fmla="*/ 1 h 3393"/>
              <a:gd name="mins" fmla="min sw sh"/>
              <a:gd name="dsw" fmla="+- 0 sw mins"/>
              <a:gd name="dsh" fmla="+- 0 sh mins"/>
              <a:gd name="p0x0" fmla="*/ 180 w 8122"/>
              <a:gd name="p0y0" fmla="*/ 0 h 3393"/>
              <a:gd name="p0x1" fmla="*/ 7942 w 8122"/>
              <a:gd name="p0y1" fmla="*/ 0 h 3393"/>
              <a:gd name="p0x2" fmla="*/ 8041 w 8122"/>
              <a:gd name="p0y2" fmla="*/ 0 h 3393"/>
              <a:gd name="p0x3" fmla="*/ 8122 w 8122"/>
              <a:gd name="p0y3" fmla="*/ 80 h 3393"/>
              <a:gd name="p0x4" fmla="*/ 8122 w 8122"/>
              <a:gd name="p0y4" fmla="*/ 180 h 3393"/>
              <a:gd name="p0x5" fmla="*/ 8122 w 8122"/>
              <a:gd name="p0y5" fmla="*/ 3213 h 3393"/>
              <a:gd name="p0x6" fmla="*/ 8122 w 8122"/>
              <a:gd name="p0y6" fmla="*/ 3313 h 3393"/>
              <a:gd name="p0x7" fmla="*/ 8041 w 8122"/>
              <a:gd name="p0y7" fmla="*/ 3393 h 3393"/>
              <a:gd name="p0x8" fmla="*/ 7942 w 8122"/>
              <a:gd name="p0y8" fmla="*/ 3393 h 3393"/>
              <a:gd name="p0x9" fmla="*/ 180 w 8122"/>
              <a:gd name="p0y9" fmla="*/ 3393 h 3393"/>
              <a:gd name="p0x10" fmla="*/ 80 w 8122"/>
              <a:gd name="p0y10" fmla="*/ 3393 h 3393"/>
              <a:gd name="p0x11" fmla="*/ 0 w 8122"/>
              <a:gd name="p0y11" fmla="*/ 3313 h 3393"/>
              <a:gd name="p0x12" fmla="*/ 0 w 8122"/>
              <a:gd name="p0y12" fmla="*/ 3213 h 3393"/>
              <a:gd name="p0x13" fmla="*/ 0 w 8122"/>
              <a:gd name="p0y13" fmla="*/ 180 h 3393"/>
              <a:gd name="p0x14" fmla="*/ 0 w 8122"/>
              <a:gd name="p0y14" fmla="*/ 80 h 3393"/>
              <a:gd name="p0x15" fmla="*/ 80 w 8122"/>
              <a:gd name="p0y15" fmla="*/ 0 h 3393"/>
              <a:gd name="p0x16" fmla="*/ 180 w 8122"/>
              <a:gd name="p0y16" fmla="*/ 0 h 339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2"/>
            </p:custDataLst>
          </p:nvPr>
        </p:nvSpPr>
        <p:spPr>
          <a:xfrm>
            <a:off x="6376988" y="3107846"/>
            <a:ext cx="4919663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cs typeface="+mn-lt"/>
              </a:rPr>
              <a:t>实验还要确认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6376670" y="4062095"/>
            <a:ext cx="4919980" cy="400050"/>
            <a:chOff x="10042" y="6397"/>
            <a:chExt cx="7748" cy="630"/>
          </a:xfrm>
        </p:grpSpPr>
        <p:sp>
          <p:nvSpPr>
            <p:cNvPr id="36" name="任意多边形 35"/>
            <p:cNvSpPr/>
            <p:nvPr>
              <p:custDataLst>
                <p:tags r:id="rId33"/>
              </p:custDataLst>
            </p:nvPr>
          </p:nvSpPr>
          <p:spPr>
            <a:xfrm>
              <a:off x="10042" y="6397"/>
              <a:ext cx="7748" cy="630"/>
            </a:xfrm>
            <a:custGeom>
              <a:avLst/>
              <a:gdLst>
                <a:gd name="sw" fmla="*/ 1 w 7747"/>
                <a:gd name="sh" fmla="*/ 1 h 630"/>
                <a:gd name="mins" fmla="min sw sh"/>
                <a:gd name="dsw" fmla="+- 0 sw mins"/>
                <a:gd name="dsh" fmla="+- 0 sh mins"/>
                <a:gd name="p0x0" fmla="*/ 180 w 7747"/>
                <a:gd name="p0y0" fmla="*/ 0 h 630"/>
                <a:gd name="p0x1" fmla="*/ 7567 w 7747"/>
                <a:gd name="p0y1" fmla="*/ 0 h 630"/>
                <a:gd name="p0x2" fmla="*/ 7666 w 7747"/>
                <a:gd name="p0y2" fmla="*/ 0 h 630"/>
                <a:gd name="p0x3" fmla="*/ 7747 w 7747"/>
                <a:gd name="p0y3" fmla="*/ 80 h 630"/>
                <a:gd name="p0x4" fmla="*/ 7747 w 7747"/>
                <a:gd name="p0y4" fmla="*/ 180 h 630"/>
                <a:gd name="p0x5" fmla="*/ 7747 w 7747"/>
                <a:gd name="p0y5" fmla="*/ 450 h 630"/>
                <a:gd name="p0x6" fmla="*/ 7747 w 7747"/>
                <a:gd name="p0y6" fmla="*/ 549 h 630"/>
                <a:gd name="p0x7" fmla="*/ 7666 w 7747"/>
                <a:gd name="p0y7" fmla="*/ 630 h 630"/>
                <a:gd name="p0x8" fmla="*/ 7567 w 7747"/>
                <a:gd name="p0y8" fmla="*/ 630 h 630"/>
                <a:gd name="p0x9" fmla="*/ 180 w 7747"/>
                <a:gd name="p0y9" fmla="*/ 630 h 630"/>
                <a:gd name="p0x10" fmla="*/ 80 w 7747"/>
                <a:gd name="p0y10" fmla="*/ 630 h 630"/>
                <a:gd name="p0x11" fmla="*/ 0 w 7747"/>
                <a:gd name="p0y11" fmla="*/ 549 h 630"/>
                <a:gd name="p0x12" fmla="*/ 0 w 7747"/>
                <a:gd name="p0y12" fmla="*/ 450 h 630"/>
                <a:gd name="p0x13" fmla="*/ 0 w 7747"/>
                <a:gd name="p0y13" fmla="*/ 180 h 630"/>
                <a:gd name="p0x14" fmla="*/ 0 w 7747"/>
                <a:gd name="p0y14" fmla="*/ 80 h 630"/>
                <a:gd name="p0x15" fmla="*/ 80 w 7747"/>
                <a:gd name="p0y15" fmla="*/ 0 h 630"/>
                <a:gd name="p0x16" fmla="*/ 180 w 7747"/>
                <a:gd name="p0y16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53347"/>
                <a:lumOff val="4665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>
              <p:custDataLst>
                <p:tags r:id="rId34"/>
              </p:custDataLst>
            </p:nvPr>
          </p:nvSpPr>
          <p:spPr>
            <a:xfrm>
              <a:off x="10153" y="6397"/>
              <a:ext cx="7584" cy="63"/>
            </a:xfrm>
            <a:custGeom>
              <a:avLst/>
              <a:gdLst>
                <a:gd name="sw" fmla="*/ 1 w 7583"/>
                <a:gd name="sh" fmla="*/ 1 h 63"/>
                <a:gd name="mins" fmla="min sw sh"/>
                <a:gd name="dsw" fmla="+- 0 sw mins"/>
                <a:gd name="dsh" fmla="+- 0 sh mins"/>
                <a:gd name="p0x0" fmla="*/ 68 w 7583"/>
                <a:gd name="p0y0" fmla="*/ 0 h 63"/>
                <a:gd name="p0x1" fmla="*/ 7456 w 7583"/>
                <a:gd name="p0y1" fmla="*/ 0 h 63"/>
                <a:gd name="p0x2" fmla="*/ 7506 w 7583"/>
                <a:gd name="p0y2" fmla="*/ 0 h 63"/>
                <a:gd name="p0x3" fmla="*/ 7551 w 7583"/>
                <a:gd name="p0y3" fmla="*/ 20 h 63"/>
                <a:gd name="p0x4" fmla="*/ 7583 w 7583"/>
                <a:gd name="p0y4" fmla="*/ 52 h 63"/>
                <a:gd name="p0x5" fmla="*/ 7573 w 7583"/>
                <a:gd name="p0y5" fmla="*/ 63 h 63"/>
                <a:gd name="p0x6" fmla="*/ 7543 w 7583"/>
                <a:gd name="p0y6" fmla="*/ 33 h 63"/>
                <a:gd name="p0x7" fmla="*/ 7502 w 7583"/>
                <a:gd name="p0y7" fmla="*/ 15 h 63"/>
                <a:gd name="p0x8" fmla="*/ 7456 w 7583"/>
                <a:gd name="p0y8" fmla="*/ 15 h 63"/>
                <a:gd name="p0x9" fmla="*/ 68 w 7583"/>
                <a:gd name="p0y9" fmla="*/ 15 h 63"/>
                <a:gd name="p0x10" fmla="*/ 50 w 7583"/>
                <a:gd name="p0y10" fmla="*/ 15 h 63"/>
                <a:gd name="p0x11" fmla="*/ 33 w 7583"/>
                <a:gd name="p0y11" fmla="*/ 19 h 63"/>
                <a:gd name="p0x12" fmla="*/ 17 w 7583"/>
                <a:gd name="p0y12" fmla="*/ 27 h 63"/>
                <a:gd name="p0x13" fmla="*/ 0 w 7583"/>
                <a:gd name="p0y13" fmla="*/ 13 h 63"/>
                <a:gd name="p0x14" fmla="*/ 0 w 7583"/>
                <a:gd name="p0y14" fmla="*/ 13 h 63"/>
                <a:gd name="p0x15" fmla="*/ 21 w 7583"/>
                <a:gd name="p0y15" fmla="*/ 4 h 63"/>
                <a:gd name="p0x16" fmla="*/ 44 w 7583"/>
                <a:gd name="p0y16" fmla="*/ 0 h 63"/>
                <a:gd name="p0x17" fmla="*/ 68 w 7583"/>
                <a:gd name="p0y17" fmla="*/ 0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>
              <p:custDataLst>
                <p:tags r:id="rId35"/>
              </p:custDataLst>
            </p:nvPr>
          </p:nvSpPr>
          <p:spPr>
            <a:xfrm>
              <a:off x="17726" y="6450"/>
              <a:ext cx="64" cy="524"/>
            </a:xfrm>
            <a:custGeom>
              <a:avLst/>
              <a:gdLst>
                <a:gd name="sw" fmla="*/ 1 w 63"/>
                <a:gd name="sh" fmla="*/ 1 h 524"/>
                <a:gd name="mins" fmla="min sw sh"/>
                <a:gd name="dsw" fmla="+- 0 sw mins"/>
                <a:gd name="dsh" fmla="+- 0 sh mins"/>
                <a:gd name="p0x0" fmla="*/ 63 w 63"/>
                <a:gd name="p0y0" fmla="*/ 127 h 524"/>
                <a:gd name="p0x1" fmla="*/ 63 w 63"/>
                <a:gd name="p0y1" fmla="*/ 397 h 524"/>
                <a:gd name="p0x2" fmla="*/ 63 w 63"/>
                <a:gd name="p0y2" fmla="*/ 446 h 524"/>
                <a:gd name="p0x3" fmla="*/ 43 w 63"/>
                <a:gd name="p0y3" fmla="*/ 491 h 524"/>
                <a:gd name="p0x4" fmla="*/ 10 w 63"/>
                <a:gd name="p0y4" fmla="*/ 524 h 524"/>
                <a:gd name="p0x5" fmla="*/ 0 w 63"/>
                <a:gd name="p0y5" fmla="*/ 513 h 524"/>
                <a:gd name="p0x6" fmla="*/ 29 w 63"/>
                <a:gd name="p0y6" fmla="*/ 484 h 524"/>
                <a:gd name="p0x7" fmla="*/ 48 w 63"/>
                <a:gd name="p0y7" fmla="*/ 442 h 524"/>
                <a:gd name="p0x8" fmla="*/ 48 w 63"/>
                <a:gd name="p0y8" fmla="*/ 397 h 524"/>
                <a:gd name="p0x9" fmla="*/ 48 w 63"/>
                <a:gd name="p0y9" fmla="*/ 127 h 524"/>
                <a:gd name="p0x10" fmla="*/ 48 w 63"/>
                <a:gd name="p0y10" fmla="*/ 81 h 524"/>
                <a:gd name="p0x11" fmla="*/ 29 w 63"/>
                <a:gd name="p0y11" fmla="*/ 40 h 524"/>
                <a:gd name="p0x12" fmla="*/ 0 w 63"/>
                <a:gd name="p0y12" fmla="*/ 10 h 524"/>
                <a:gd name="p0x13" fmla="*/ 10 w 63"/>
                <a:gd name="p0y13" fmla="*/ 0 h 524"/>
                <a:gd name="p0x14" fmla="*/ 43 w 63"/>
                <a:gd name="p0y14" fmla="*/ 32 h 524"/>
                <a:gd name="p0x15" fmla="*/ 63 w 63"/>
                <a:gd name="p0y15" fmla="*/ 77 h 524"/>
                <a:gd name="p0x16" fmla="*/ 63 w 63"/>
                <a:gd name="p0y16" fmla="*/ 127 h 52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>
              <p:custDataLst>
                <p:tags r:id="rId36"/>
              </p:custDataLst>
            </p:nvPr>
          </p:nvSpPr>
          <p:spPr>
            <a:xfrm>
              <a:off x="10153" y="6964"/>
              <a:ext cx="7584" cy="63"/>
            </a:xfrm>
            <a:custGeom>
              <a:avLst/>
              <a:gdLst>
                <a:gd name="sw" fmla="*/ 1 w 7583"/>
                <a:gd name="sh" fmla="*/ 1 h 63"/>
                <a:gd name="mins" fmla="min sw sh"/>
                <a:gd name="dsw" fmla="+- 0 sw mins"/>
                <a:gd name="dsh" fmla="+- 0 sh mins"/>
                <a:gd name="p0x0" fmla="*/ 7456 w 7583"/>
                <a:gd name="p0y0" fmla="*/ 63 h 63"/>
                <a:gd name="p0x1" fmla="*/ 68 w 7583"/>
                <a:gd name="p0y1" fmla="*/ 63 h 63"/>
                <a:gd name="p0x2" fmla="*/ 44 w 7583"/>
                <a:gd name="p0y2" fmla="*/ 63 h 63"/>
                <a:gd name="p0x3" fmla="*/ 21 w 7583"/>
                <a:gd name="p0y3" fmla="*/ 58 h 63"/>
                <a:gd name="p0x4" fmla="*/ 0 w 7583"/>
                <a:gd name="p0y4" fmla="*/ 49 h 63"/>
                <a:gd name="p0x5" fmla="*/ 17 w 7583"/>
                <a:gd name="p0y5" fmla="*/ 35 h 63"/>
                <a:gd name="p0x6" fmla="*/ 17 w 7583"/>
                <a:gd name="p0y6" fmla="*/ 35 h 63"/>
                <a:gd name="p0x7" fmla="*/ 33 w 7583"/>
                <a:gd name="p0y7" fmla="*/ 43 h 63"/>
                <a:gd name="p0x8" fmla="*/ 50 w 7583"/>
                <a:gd name="p0y8" fmla="*/ 48 h 63"/>
                <a:gd name="p0x9" fmla="*/ 68 w 7583"/>
                <a:gd name="p0y9" fmla="*/ 48 h 63"/>
                <a:gd name="p0x10" fmla="*/ 7456 w 7583"/>
                <a:gd name="p0y10" fmla="*/ 48 h 63"/>
                <a:gd name="p0x11" fmla="*/ 7501 w 7583"/>
                <a:gd name="p0y11" fmla="*/ 48 h 63"/>
                <a:gd name="p0x12" fmla="*/ 7543 w 7583"/>
                <a:gd name="p0y12" fmla="*/ 29 h 63"/>
                <a:gd name="p0x13" fmla="*/ 7573 w 7583"/>
                <a:gd name="p0y13" fmla="*/ 0 h 63"/>
                <a:gd name="p0x14" fmla="*/ 7583 w 7583"/>
                <a:gd name="p0y14" fmla="*/ 10 h 63"/>
                <a:gd name="p0x15" fmla="*/ 7551 w 7583"/>
                <a:gd name="p0y15" fmla="*/ 43 h 63"/>
                <a:gd name="p0x16" fmla="*/ 7506 w 7583"/>
                <a:gd name="p0y16" fmla="*/ 63 h 63"/>
                <a:gd name="p0x17" fmla="*/ 7456 w 7583"/>
                <a:gd name="p0y17" fmla="*/ 63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>
              <p:custDataLst>
                <p:tags r:id="rId37"/>
              </p:custDataLst>
            </p:nvPr>
          </p:nvSpPr>
          <p:spPr>
            <a:xfrm>
              <a:off x="10042" y="6411"/>
              <a:ext cx="128" cy="602"/>
            </a:xfrm>
            <a:custGeom>
              <a:avLst/>
              <a:gdLst>
                <a:gd name="sw" fmla="*/ 1 w 128"/>
                <a:gd name="sh" fmla="*/ 1 h 602"/>
                <a:gd name="mins" fmla="min sw sh"/>
                <a:gd name="dsw" fmla="+- 0 sw mins"/>
                <a:gd name="dsh" fmla="+- 0 sh mins"/>
                <a:gd name="p0x0" fmla="*/ 0 w 128"/>
                <a:gd name="p0y0" fmla="*/ 436 h 602"/>
                <a:gd name="p0x1" fmla="*/ 0 w 128"/>
                <a:gd name="p0y1" fmla="*/ 166 h 602"/>
                <a:gd name="p0x2" fmla="*/ 0 w 128"/>
                <a:gd name="p0y2" fmla="*/ 91 h 602"/>
                <a:gd name="p0x3" fmla="*/ 45 w 128"/>
                <a:gd name="p0y3" fmla="*/ 27 h 602"/>
                <a:gd name="p0x4" fmla="*/ 111 w 128"/>
                <a:gd name="p0y4" fmla="*/ 0 h 602"/>
                <a:gd name="p0x5" fmla="*/ 128 w 128"/>
                <a:gd name="p0y5" fmla="*/ 13 h 602"/>
                <a:gd name="p0x6" fmla="*/ 128 w 128"/>
                <a:gd name="p0y6" fmla="*/ 13 h 602"/>
                <a:gd name="p0x7" fmla="*/ 79 w 128"/>
                <a:gd name="p0y7" fmla="*/ 38 h 602"/>
                <a:gd name="p0x8" fmla="*/ 45 w 128"/>
                <a:gd name="p0y8" fmla="*/ 97 h 602"/>
                <a:gd name="p0x9" fmla="*/ 45 w 128"/>
                <a:gd name="p0y9" fmla="*/ 166 h 602"/>
                <a:gd name="p0x10" fmla="*/ 45 w 128"/>
                <a:gd name="p0y10" fmla="*/ 436 h 602"/>
                <a:gd name="p0x11" fmla="*/ 45 w 128"/>
                <a:gd name="p0y11" fmla="*/ 505 h 602"/>
                <a:gd name="p0x12" fmla="*/ 79 w 128"/>
                <a:gd name="p0y12" fmla="*/ 563 h 602"/>
                <a:gd name="p0x13" fmla="*/ 128 w 128"/>
                <a:gd name="p0y13" fmla="*/ 588 h 602"/>
                <a:gd name="p0x14" fmla="*/ 111 w 128"/>
                <a:gd name="p0y14" fmla="*/ 602 h 602"/>
                <a:gd name="p0x15" fmla="*/ 111 w 128"/>
                <a:gd name="p0y15" fmla="*/ 602 h 602"/>
                <a:gd name="p0x16" fmla="*/ 45 w 128"/>
                <a:gd name="p0y16" fmla="*/ 575 h 602"/>
                <a:gd name="p0x17" fmla="*/ 0 w 128"/>
                <a:gd name="p0y17" fmla="*/ 511 h 602"/>
                <a:gd name="p0x18" fmla="*/ 0 w 128"/>
                <a:gd name="p0y18" fmla="*/ 436 h 60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2" name="文本框 41"/>
          <p:cNvSpPr txBox="1"/>
          <p:nvPr>
            <p:custDataLst>
              <p:tags r:id="rId38"/>
            </p:custDataLst>
          </p:nvPr>
        </p:nvSpPr>
        <p:spPr>
          <a:xfrm>
            <a:off x="6519863" y="4095750"/>
            <a:ext cx="4572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/>
                </a:solidFill>
                <a:cs typeface="+mn-lt"/>
              </a:rPr>
              <a:t>改变调控片段或相关因子后，结果是否</a:t>
            </a:r>
            <a:r>
              <a:rPr sz="1500" b="1">
                <a:solidFill>
                  <a:schemeClr val="tx2"/>
                </a:solidFill>
                <a:cs typeface="+mn-lt"/>
              </a:rPr>
              <a:t>按预期变化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09625" y="2817019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1B7FCE"/>
                </a:solidFill>
                <a:cs typeface="+mn-lt"/>
              </a:rPr>
              <a:t>CHAPTER</a:t>
            </a:r>
            <a:endParaRPr sz="1050" b="1" spc="315">
              <a:solidFill>
                <a:srgbClr val="1B7FCE"/>
              </a:solidFill>
              <a:cs typeface="+mn-lt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66750" y="3227546"/>
            <a:ext cx="2667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数据解读</a:t>
            </a:r>
            <a:endParaRPr sz="42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66750" y="4231005"/>
            <a:ext cx="5705475" cy="9525"/>
          </a:xfrm>
          <a:prstGeom prst="rect">
            <a:avLst/>
          </a:prstGeom>
          <a:solidFill>
            <a:schemeClr val="accent1">
              <a:lumMod val="38990"/>
              <a:lumOff val="6101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666750" y="4531519"/>
            <a:ext cx="193930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6E8E"/>
                </a:solidFill>
                <a:cs typeface="+mn-lt"/>
              </a:rPr>
              <a:t>配套资料与数据入口</a:t>
            </a:r>
            <a:endParaRPr sz="1500" spc="30">
              <a:solidFill>
                <a:srgbClr val="4A6E8E"/>
              </a:solidFill>
              <a:cs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666750" y="5078730"/>
            <a:ext cx="770890" cy="314325"/>
          </a:xfrm>
          <a:custGeom>
            <a:avLst/>
            <a:gdLst>
              <a:gd name="sw" fmla="*/ 1 w 1214"/>
              <a:gd name="sh" fmla="*/ 1 h 495"/>
              <a:gd name="mins" fmla="min sw sh"/>
              <a:gd name="dsw" fmla="+- 0 sw mins"/>
              <a:gd name="dsh" fmla="+- 0 sh mins"/>
              <a:gd name="p0x0" fmla="*/ 247 w 1214"/>
              <a:gd name="p0y0" fmla="*/ 0 h 495"/>
              <a:gd name="p0x1" fmla="*/ 966 w 1214"/>
              <a:gd name="p0y1" fmla="*/ 0 h 495"/>
              <a:gd name="p0x2" fmla="*/ 1103 w 1214"/>
              <a:gd name="p0y2" fmla="*/ 0 h 495"/>
              <a:gd name="p0x3" fmla="*/ 1214 w 1214"/>
              <a:gd name="p0y3" fmla="*/ 110 h 495"/>
              <a:gd name="p0x4" fmla="*/ 1214 w 1214"/>
              <a:gd name="p0y4" fmla="*/ 247 h 495"/>
              <a:gd name="p0x5" fmla="*/ 1214 w 1214"/>
              <a:gd name="p0y5" fmla="*/ 384 h 495"/>
              <a:gd name="p0x6" fmla="*/ 1103 w 1214"/>
              <a:gd name="p0y6" fmla="*/ 495 h 495"/>
              <a:gd name="p0x7" fmla="*/ 966 w 1214"/>
              <a:gd name="p0y7" fmla="*/ 495 h 495"/>
              <a:gd name="p0x8" fmla="*/ 247 w 1214"/>
              <a:gd name="p0y8" fmla="*/ 495 h 495"/>
              <a:gd name="p0x9" fmla="*/ 110 w 1214"/>
              <a:gd name="p0y9" fmla="*/ 495 h 495"/>
              <a:gd name="p0x10" fmla="*/ 0 w 1214"/>
              <a:gd name="p0y10" fmla="*/ 384 h 495"/>
              <a:gd name="p0x11" fmla="*/ 0 w 1214"/>
              <a:gd name="p0y11" fmla="*/ 247 h 495"/>
              <a:gd name="p0x12" fmla="*/ 0 w 1214"/>
              <a:gd name="p0y12" fmla="*/ 110 h 495"/>
              <a:gd name="p0x13" fmla="*/ 110 w 1214"/>
              <a:gd name="p0y13" fmla="*/ 0 h 495"/>
              <a:gd name="p0x14" fmla="*/ 247 w 1214"/>
              <a:gd name="p0y14" fmla="*/ 0 h 4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819150" y="5136356"/>
            <a:ext cx="61875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24">
                <a:solidFill>
                  <a:srgbClr val="4A6E8E"/>
                </a:solidFill>
                <a:cs typeface="+mn-lt"/>
              </a:rPr>
              <a:t>主讲人</a:t>
            </a:r>
            <a:endParaRPr sz="1200" spc="24">
              <a:solidFill>
                <a:srgbClr val="4A6E8E"/>
              </a:solidFill>
              <a:cs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1552204" y="5136356"/>
            <a:ext cx="61875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24">
                <a:solidFill>
                  <a:srgbClr val="4A6E8E"/>
                </a:solidFill>
                <a:cs typeface="+mn-lt"/>
              </a:rPr>
              <a:t>顾原弘</a:t>
            </a:r>
            <a:endParaRPr sz="1200" spc="24">
              <a:solidFill>
                <a:srgbClr val="4A6E8E"/>
              </a:solidFill>
              <a:cs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666750" y="1473994"/>
            <a:ext cx="2355352" cy="11763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8250" b="1">
                <a:solidFill>
                  <a:srgbClr val="1B7FCE">
                    <a:alpha val="90001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02</a:t>
            </a:r>
            <a:endParaRPr sz="8250" b="1">
              <a:solidFill>
                <a:srgbClr val="1B7FCE">
                  <a:alpha val="90001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矩形 3"/>
          <p:cNvSpPr/>
          <p:nvPr>
            <p:custDataLst>
              <p:tags r:id="rId9"/>
            </p:custDataLst>
          </p:nvPr>
        </p:nvSpPr>
        <p:spPr>
          <a:xfrm rot="2700000">
            <a:off x="666750" y="2880995"/>
            <a:ext cx="47625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0"/>
            </p:custDataLst>
          </p:nvPr>
        </p:nvSpPr>
        <p:spPr>
          <a:xfrm>
            <a:off x="1819910" y="290004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70255" y="342265"/>
            <a:ext cx="5646420" cy="503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 baseline="-250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与实验测量的相关</a:t>
            </a:r>
            <a:endParaRPr lang="zh-CN" altLang="en-US" sz="6600" baseline="-2500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0855" y="1336040"/>
            <a:ext cx="3877945" cy="4620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输入是序列，真值是已经测到的信号，对照是上一代模型。</a:t>
            </a:r>
            <a:r>
              <a:rPr lang="en-US" altLang="zh-CN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AlphaGenome </a:t>
            </a:r>
            <a:r>
              <a:rPr lang="zh-CN" altLang="en-US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在留出的基因组区间上，24 项轨道预测里 22 项超过当时最强外部模型，26 项变异效应评估里 25 项达到或超过最强外部模型。下图只保留能与 </a:t>
            </a:r>
            <a:r>
              <a:rPr lang="en-US" altLang="zh-CN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Borzoi </a:t>
            </a:r>
            <a:r>
              <a:rPr lang="zh-CN" altLang="en-US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直接比较的三项。</a:t>
            </a:r>
            <a:endParaRPr lang="zh-CN" altLang="en-US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</p:txBody>
      </p:sp>
      <p:pic>
        <p:nvPicPr>
          <p:cNvPr id="5" name="图片 4" descr="alphageno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8430" y="1336040"/>
            <a:ext cx="6563360" cy="39827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23215" y="4152900"/>
            <a:ext cx="4757420" cy="1165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高置信 eQTL 的相关系数是 0.73，Borzoi 是 0.61；APA 是 0.894 对 0.790。因果 eQTL 的 auROC 是 0.75 对 0.71，其中 0.75 已经是多模态分数再经随机森林的结果，模型自己只有 0.68。全体 17,675 个精细定位 eQTL 的有符号 Spearman 相关是 0.50，只看绝对值则降到 0.10。有效性集中在强信号子集。</a:t>
            </a:r>
            <a:endParaRPr lang="zh-CN" altLang="en-US" sz="180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  <a:p>
            <a:r>
              <a:rPr lang="zh-CN" altLang="en-US" sz="18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Avsec, Ž. et al. Nature (2026). https://doi.org/10.1038/s41586-025-10014</a:t>
            </a:r>
            <a:endParaRPr lang="zh-CN" altLang="en-US" sz="180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19455" y="342265"/>
            <a:ext cx="5646420" cy="503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 baseline="-250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通过率</a:t>
            </a:r>
            <a:endParaRPr lang="zh-CN" altLang="en-US" sz="6600" baseline="-2500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0855" y="1336040"/>
            <a:ext cx="3877945" cy="4620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事先定一条阈值，再数有多少样本越过它。</a:t>
            </a:r>
            <a:r>
              <a:rPr lang="en-US" altLang="zh-CN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ESMFold2 </a:t>
            </a:r>
            <a:r>
              <a:rPr lang="zh-CN" altLang="en-US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的阈值是 </a:t>
            </a:r>
            <a:r>
              <a:rPr lang="en-US" altLang="zh-CN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DockQ ≥ 0.23。</a:t>
            </a:r>
            <a:r>
              <a:rPr lang="zh-CN" altLang="en-US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抗体–抗原来自 </a:t>
            </a:r>
            <a:r>
              <a:rPr lang="en-US" altLang="zh-CN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FoldBench；</a:t>
            </a:r>
            <a:r>
              <a:rPr lang="zh-CN" altLang="en-US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蛋白–蛋白的单序列 70% 来自 </a:t>
            </a:r>
            <a:r>
              <a:rPr lang="en-US" altLang="zh-CN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Runs N' Poses，</a:t>
            </a:r>
            <a:r>
              <a:rPr lang="zh-CN" altLang="en-US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带 </a:t>
            </a:r>
            <a:r>
              <a:rPr lang="en-US" altLang="zh-CN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MSA </a:t>
            </a:r>
            <a:r>
              <a:rPr lang="zh-CN" altLang="en-US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的 76% 与 </a:t>
            </a:r>
            <a:r>
              <a:rPr lang="en-US" altLang="zh-CN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AlphaFold 3 </a:t>
            </a:r>
            <a:r>
              <a:rPr lang="zh-CN" altLang="en-US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的 73% 为论文直接对照。</a:t>
            </a:r>
            <a:endParaRPr lang="zh-CN" altLang="en-US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3215" y="4770120"/>
            <a:ext cx="11217275" cy="181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仅用序列时，抗体–抗原的通过率为 50%，高于带 </a:t>
            </a:r>
            <a:r>
              <a:rPr lang="en-US" altLang="zh-CN" sz="18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MSA </a:t>
            </a:r>
            <a:r>
              <a:rPr lang="zh-CN" altLang="en-US" sz="18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的 </a:t>
            </a:r>
            <a:r>
              <a:rPr lang="en-US" altLang="zh-CN" sz="18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AlphaFold 3（47%）。</a:t>
            </a:r>
            <a:r>
              <a:rPr lang="zh-CN" altLang="en-US" sz="18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加上 </a:t>
            </a:r>
            <a:r>
              <a:rPr lang="en-US" altLang="zh-CN" sz="18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MSA </a:t>
            </a:r>
            <a:r>
              <a:rPr lang="zh-CN" altLang="en-US" sz="18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后，抗体–抗原为 53%，蛋白–蛋白为 76%，两类都高于 </a:t>
            </a:r>
            <a:r>
              <a:rPr lang="en-US" altLang="zh-CN" sz="18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AlphaFold 3。</a:t>
            </a:r>
            <a:r>
              <a:rPr lang="zh-CN" altLang="en-US" sz="18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误差约 ±1 到 ±2 个百分点。单序列蛋白–配体的通过率为 66%，论文未给相同设定下的 </a:t>
            </a:r>
            <a:r>
              <a:rPr lang="en-US" altLang="zh-CN" sz="18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AlphaFold 3 </a:t>
            </a:r>
            <a:r>
              <a:rPr lang="zh-CN" altLang="en-US" sz="18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对照，故未画入。这证明的是结构坐标，结合自由能和细胞功能要另测。</a:t>
            </a:r>
            <a:endParaRPr lang="en-US" altLang="zh-CN" sz="180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  <a:p>
            <a:r>
              <a:rPr lang="en-US" altLang="zh-CN" sz="18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Candido, S. et al. bioRxiv (2026). https://doi.org/10.64898/2026.06.03.7297</a:t>
            </a:r>
            <a:endParaRPr lang="en-US" altLang="zh-CN" sz="180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</p:txBody>
      </p:sp>
      <p:pic>
        <p:nvPicPr>
          <p:cNvPr id="7" name="图片 6" descr="esmfold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980" y="461645"/>
            <a:ext cx="6814185" cy="4140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70255" y="342265"/>
            <a:ext cx="5646420" cy="503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 baseline="-250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湿实验数据</a:t>
            </a:r>
            <a:endParaRPr lang="en-US" altLang="zh-CN" sz="6600" baseline="-2500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0050" y="1336040"/>
            <a:ext cx="11489690" cy="751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做出分子，再测结合或活性。</a:t>
            </a:r>
            <a:r>
              <a:rPr lang="en-US" altLang="zh-CN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BoltzGen </a:t>
            </a:r>
            <a:r>
              <a:rPr lang="zh-CN" altLang="en-US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共 8 组实验、26 个靶点，读出为 </a:t>
            </a:r>
            <a:r>
              <a:rPr lang="en-US" altLang="zh-CN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SPR </a:t>
            </a:r>
            <a:r>
              <a:rPr lang="zh-CN" altLang="en-US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或 </a:t>
            </a:r>
            <a:r>
              <a:rPr lang="en-US" altLang="zh-CN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BLI </a:t>
            </a:r>
            <a:r>
              <a:rPr lang="zh-CN" altLang="en-US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测到的亲和力，部分还有细胞实验或抑菌实验。下图按靶点计成功率。</a:t>
            </a:r>
            <a:endParaRPr lang="zh-CN" altLang="en-US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4160" y="5104765"/>
            <a:ext cx="11792585" cy="1555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9 个新靶点在整个 </a:t>
            </a:r>
            <a:r>
              <a:rPr lang="en-US" altLang="zh-CN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PDB </a:t>
            </a:r>
            <a:r>
              <a:rPr lang="zh-CN" altLang="en-US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中没有序列一致度高于 30% 的结合态蛋白，每个靶点最多测 15 个设计：纳米抗体和蛋白结合剂都是 9 个里 6 个达到 </a:t>
            </a:r>
            <a:r>
              <a:rPr lang="en-US" altLang="zh-CN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nM。3 </a:t>
            </a:r>
            <a:r>
              <a:rPr lang="zh-CN" altLang="en-US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条生物活性肽各测 6 个设计，2 条达到 </a:t>
            </a:r>
            <a:r>
              <a:rPr lang="en-US" altLang="zh-CN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nM。</a:t>
            </a:r>
            <a:r>
              <a:rPr lang="zh-CN" altLang="en-US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灰色柱是训练集里已经有已知复合物的靶点，5 个靶点里 4 个得到结合剂。作者写明，这里的成功可能只是重组见过的界面，证据弱于新靶点。每个靶点的样本量小，9 个新靶点里仍有 3 个没有 </a:t>
            </a:r>
            <a:r>
              <a:rPr lang="en-US" altLang="zh-CN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nM </a:t>
            </a:r>
            <a:r>
              <a:rPr lang="zh-CN" altLang="en-US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结合剂。</a:t>
            </a:r>
            <a:endParaRPr lang="en-US" altLang="zh-CN" sz="140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  <a:p>
            <a:r>
              <a:rPr lang="en-US" altLang="zh-CN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Stark, H. et al. bioRxiv (2025). https://doi.org/10.1101/2025.11.20.689494</a:t>
            </a:r>
            <a:endParaRPr lang="en-US" altLang="zh-CN" sz="140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  <a:p>
            <a:r>
              <a:rPr lang="en-US" altLang="zh-CN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RFdiffusion3 </a:t>
            </a:r>
            <a:r>
              <a:rPr lang="zh-CN" altLang="en-US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把计算分数和湿实验放在同一张图里。右图才是实验：</a:t>
            </a:r>
            <a:r>
              <a:rPr lang="en-US" altLang="zh-CN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DNA </a:t>
            </a:r>
            <a:r>
              <a:rPr lang="zh-CN" altLang="en-US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结合测试 5 个设计，1 个结合，</a:t>
            </a:r>
            <a:r>
              <a:rPr lang="en-US" altLang="zh-CN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EC50 = 5.89 ± 2.15 μM；</a:t>
            </a:r>
            <a:r>
              <a:rPr lang="zh-CN" altLang="en-US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半胱氨酸水解酶测试 190 个，35 个多次周转，最高 </a:t>
            </a:r>
            <a:r>
              <a:rPr lang="en-US" altLang="zh-CN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kcat/Km = 3557。</a:t>
            </a:r>
            <a:r>
              <a:rPr lang="zh-CN" altLang="en-US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催化所用的 </a:t>
            </a:r>
            <a:r>
              <a:rPr lang="en-US" altLang="zh-CN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Cys-His-Asp </a:t>
            </a:r>
            <a:r>
              <a:rPr lang="zh-CN" altLang="en-US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几何来自天然酶 </a:t>
            </a:r>
            <a:r>
              <a:rPr lang="en-US" altLang="zh-CN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Ulp1，</a:t>
            </a:r>
            <a:r>
              <a:rPr lang="zh-CN" altLang="en-US" sz="14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由人指定。</a:t>
            </a:r>
            <a:endParaRPr lang="zh-CN" altLang="en-US" sz="140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</p:txBody>
      </p:sp>
      <p:pic>
        <p:nvPicPr>
          <p:cNvPr id="4" name="图片 3" descr="rfdiffusion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5025" y="2289175"/>
            <a:ext cx="5645785" cy="2713990"/>
          </a:xfrm>
          <a:prstGeom prst="rect">
            <a:avLst/>
          </a:prstGeom>
        </p:spPr>
      </p:pic>
      <p:pic>
        <p:nvPicPr>
          <p:cNvPr id="7" name="图片 6" descr="boltz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2289175"/>
            <a:ext cx="5435600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70255" y="342265"/>
            <a:ext cx="5646420" cy="503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 baseline="-250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另一个模型的置信度</a:t>
            </a:r>
            <a:endParaRPr lang="zh-CN" altLang="en-US" sz="6600" baseline="-2500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1293495"/>
            <a:ext cx="3020695" cy="503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上图左栏的阈值来自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AlphaFold 3：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链间最小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pAE ≤ 1.5，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结合剂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pTM ≥ 0.8，RMSD &lt; 2.5 </a:t>
            </a:r>
            <a:r>
              <a:rPr lang="en-US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Å。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五个靶点各 400 个骨架，按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TM-score 0.6 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聚类后，平均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unique success 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为 8.2，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RFdiffusion 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为 1.4。不做聚类时，五个靶点里四个超过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RFdiffusion。AME 41 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例中 37 例超过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RFdiffusion2。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这些数字说明生成的结构更多样，也更符合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AlphaFold 3 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的置信度。计算通过率明显高于右图的湿实验成功率。</a:t>
            </a:r>
            <a:endParaRPr lang="en-US" altLang="zh-CN" sz="160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  <a:p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Proteina-Complexa 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的成功标准来自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AlphaFold 2-Multimer：pLDDT &gt; 90，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界面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pAE &lt; 7，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结合剂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RMSD &lt; 1.5 </a:t>
            </a:r>
            <a:r>
              <a:rPr lang="en-US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Å。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每个方法、每个靶点生成 200 个长度 40–250 的结合剂，成功者再做聚类。</a:t>
            </a:r>
            <a:endParaRPr lang="zh-CN" altLang="en-US" sz="160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81450" y="4072255"/>
            <a:ext cx="7838440" cy="2688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Proteina-Complexa 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的平均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unique success</a:t>
            </a:r>
            <a:endParaRPr lang="en-US" altLang="zh-CN" sz="160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  <a:p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Complexa 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自身序列的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unique success 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为 9.10，高于需要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ProteinMPNN 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重设计的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RFdiffusion（4.68）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和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APM（3.15）；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再经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ProteinMPNN 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为 14.4。四个小分子靶点（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SAM、OQO、FAD、IAI）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的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unique success，RFdiffusion-AllAtom 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为 2、3、5、8，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Complexa 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为 10、6、17、19。酶活性位点基准 41 项里 38 项超过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RFdiffusion2。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训练用的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Teddymer 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来自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AlphaFold 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预测结构，评分又用 </a:t>
            </a:r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AlphaFold 2-Multimer，</a:t>
            </a:r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上升的是同一模型家族内部的一致性。论文没有给出亲和力或细胞实验。</a:t>
            </a:r>
            <a:endParaRPr lang="en-US" altLang="zh-CN" sz="160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  <a:p>
            <a:r>
              <a:rPr lang="en-US" altLang="zh-CN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Didi, K. et al. arXiv:2603.27950 (2026). https://arxiv.org/abs/2603.27950</a:t>
            </a:r>
            <a:endParaRPr lang="en-US" altLang="zh-CN" sz="160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  <a:p>
            <a:r>
              <a:rPr lang="zh-CN" altLang="en-US" sz="160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相关和通过率说明模型会预测，湿实验说明设计能测到，折叠模型的分数说明两套模型彼此一致。</a:t>
            </a:r>
            <a:endParaRPr lang="zh-CN" altLang="en-US" sz="160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</p:txBody>
      </p:sp>
      <p:pic>
        <p:nvPicPr>
          <p:cNvPr id="4" name="图片 3" descr="proteina_complex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3850" y="1192530"/>
            <a:ext cx="5646420" cy="28797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09625" y="2817019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1B7FCE"/>
                </a:solidFill>
                <a:cs typeface="+mn-lt"/>
              </a:rPr>
              <a:t>CHAPTER</a:t>
            </a:r>
            <a:endParaRPr sz="1050" b="1" spc="315">
              <a:solidFill>
                <a:srgbClr val="1B7FCE"/>
              </a:solidFill>
              <a:cs typeface="+mn-lt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66750" y="3227546"/>
            <a:ext cx="37338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定义“理解”</a:t>
            </a:r>
            <a:endParaRPr sz="42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66750" y="4231005"/>
            <a:ext cx="5705475" cy="9525"/>
          </a:xfrm>
          <a:prstGeom prst="rect">
            <a:avLst/>
          </a:prstGeom>
          <a:solidFill>
            <a:schemeClr val="accent1">
              <a:lumMod val="38990"/>
              <a:lumOff val="6101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666750" y="4531519"/>
            <a:ext cx="271655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6E8E"/>
                </a:solidFill>
                <a:cs typeface="+mn-lt"/>
              </a:rPr>
              <a:t>是预测准确？还是真正理解？</a:t>
            </a:r>
            <a:endParaRPr sz="1500" spc="30">
              <a:solidFill>
                <a:srgbClr val="4A6E8E"/>
              </a:solidFill>
              <a:cs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666750" y="5078730"/>
            <a:ext cx="770890" cy="314325"/>
          </a:xfrm>
          <a:custGeom>
            <a:avLst/>
            <a:gdLst>
              <a:gd name="sw" fmla="*/ 1 w 1214"/>
              <a:gd name="sh" fmla="*/ 1 h 495"/>
              <a:gd name="mins" fmla="min sw sh"/>
              <a:gd name="dsw" fmla="+- 0 sw mins"/>
              <a:gd name="dsh" fmla="+- 0 sh mins"/>
              <a:gd name="p0x0" fmla="*/ 247 w 1214"/>
              <a:gd name="p0y0" fmla="*/ 0 h 495"/>
              <a:gd name="p0x1" fmla="*/ 966 w 1214"/>
              <a:gd name="p0y1" fmla="*/ 0 h 495"/>
              <a:gd name="p0x2" fmla="*/ 1103 w 1214"/>
              <a:gd name="p0y2" fmla="*/ 0 h 495"/>
              <a:gd name="p0x3" fmla="*/ 1214 w 1214"/>
              <a:gd name="p0y3" fmla="*/ 110 h 495"/>
              <a:gd name="p0x4" fmla="*/ 1214 w 1214"/>
              <a:gd name="p0y4" fmla="*/ 247 h 495"/>
              <a:gd name="p0x5" fmla="*/ 1214 w 1214"/>
              <a:gd name="p0y5" fmla="*/ 384 h 495"/>
              <a:gd name="p0x6" fmla="*/ 1103 w 1214"/>
              <a:gd name="p0y6" fmla="*/ 495 h 495"/>
              <a:gd name="p0x7" fmla="*/ 966 w 1214"/>
              <a:gd name="p0y7" fmla="*/ 495 h 495"/>
              <a:gd name="p0x8" fmla="*/ 247 w 1214"/>
              <a:gd name="p0y8" fmla="*/ 495 h 495"/>
              <a:gd name="p0x9" fmla="*/ 110 w 1214"/>
              <a:gd name="p0y9" fmla="*/ 495 h 495"/>
              <a:gd name="p0x10" fmla="*/ 0 w 1214"/>
              <a:gd name="p0y10" fmla="*/ 384 h 495"/>
              <a:gd name="p0x11" fmla="*/ 0 w 1214"/>
              <a:gd name="p0y11" fmla="*/ 247 h 495"/>
              <a:gd name="p0x12" fmla="*/ 0 w 1214"/>
              <a:gd name="p0y12" fmla="*/ 110 h 495"/>
              <a:gd name="p0x13" fmla="*/ 110 w 1214"/>
              <a:gd name="p0y13" fmla="*/ 0 h 495"/>
              <a:gd name="p0x14" fmla="*/ 247 w 1214"/>
              <a:gd name="p0y14" fmla="*/ 0 h 4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819150" y="5136356"/>
            <a:ext cx="61875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24">
                <a:solidFill>
                  <a:srgbClr val="4A6E8E"/>
                </a:solidFill>
                <a:cs typeface="+mn-lt"/>
              </a:rPr>
              <a:t>主讲人</a:t>
            </a:r>
            <a:endParaRPr sz="1200" spc="24">
              <a:solidFill>
                <a:srgbClr val="4A6E8E"/>
              </a:solidFill>
              <a:cs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1552204" y="5136356"/>
            <a:ext cx="61875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24">
                <a:solidFill>
                  <a:srgbClr val="4A6E8E"/>
                </a:solidFill>
                <a:cs typeface="+mn-lt"/>
              </a:rPr>
              <a:t>魏学超</a:t>
            </a:r>
            <a:endParaRPr sz="1200" spc="24">
              <a:solidFill>
                <a:srgbClr val="4A6E8E"/>
              </a:solidFill>
              <a:cs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666750" y="1473994"/>
            <a:ext cx="2355352" cy="11763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8250" b="1">
                <a:solidFill>
                  <a:srgbClr val="1B7FCE">
                    <a:alpha val="90001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03</a:t>
            </a:r>
            <a:endParaRPr sz="8250" b="1">
              <a:solidFill>
                <a:srgbClr val="1B7FCE">
                  <a:alpha val="90001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矩形 3"/>
          <p:cNvSpPr/>
          <p:nvPr>
            <p:custDataLst>
              <p:tags r:id="rId9"/>
            </p:custDataLst>
          </p:nvPr>
        </p:nvSpPr>
        <p:spPr>
          <a:xfrm rot="2700000">
            <a:off x="666750" y="2880995"/>
            <a:ext cx="47625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0"/>
            </p:custDataLst>
          </p:nvPr>
        </p:nvSpPr>
        <p:spPr>
          <a:xfrm>
            <a:off x="1819910" y="290004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什么才算理解</a:t>
            </a:r>
            <a:endParaRPr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20" name="任意多边形 19"/>
          <p:cNvSpPr/>
          <p:nvPr>
            <p:custDataLst>
              <p:tags r:id="rId2"/>
            </p:custDataLst>
          </p:nvPr>
        </p:nvSpPr>
        <p:spPr>
          <a:xfrm>
            <a:off x="6214745" y="4253230"/>
            <a:ext cx="1692275" cy="2218690"/>
          </a:xfrm>
          <a:custGeom>
            <a:avLst/>
            <a:gdLst>
              <a:gd name="sw" fmla="*/ 1 w 2664"/>
              <a:gd name="sh" fmla="*/ 1 h 5207"/>
              <a:gd name="mins" fmla="min sw sh"/>
              <a:gd name="dsw" fmla="+- 0 sw mins"/>
              <a:gd name="dsh" fmla="+- 0 sh mins"/>
              <a:gd name="p0x0" fmla="*/ 270 w 2664"/>
              <a:gd name="p0y0" fmla="*/ 0 h 5207"/>
              <a:gd name="p0x1" fmla="*/ 2394 w 2664"/>
              <a:gd name="p0y1" fmla="*/ 0 h 5207"/>
              <a:gd name="p0x2" fmla="*/ 2544 w 2664"/>
              <a:gd name="p0y2" fmla="*/ 0 h 5207"/>
              <a:gd name="p0x3" fmla="*/ 2664 w 2664"/>
              <a:gd name="p0y3" fmla="*/ 120 h 5207"/>
              <a:gd name="p0x4" fmla="*/ 2664 w 2664"/>
              <a:gd name="p0y4" fmla="*/ 270 h 5207"/>
              <a:gd name="p0x5" fmla="*/ 2664 w 2664"/>
              <a:gd name="p0y5" fmla="*/ 4937 h 5207"/>
              <a:gd name="p0x6" fmla="*/ 2664 w 2664"/>
              <a:gd name="p0y6" fmla="*/ 5087 h 5207"/>
              <a:gd name="p0x7" fmla="*/ 2544 w 2664"/>
              <a:gd name="p0y7" fmla="*/ 5207 h 5207"/>
              <a:gd name="p0x8" fmla="*/ 2394 w 2664"/>
              <a:gd name="p0y8" fmla="*/ 5207 h 5207"/>
              <a:gd name="p0x9" fmla="*/ 270 w 2664"/>
              <a:gd name="p0y9" fmla="*/ 5207 h 5207"/>
              <a:gd name="p0x10" fmla="*/ 120 w 2664"/>
              <a:gd name="p0y10" fmla="*/ 5207 h 5207"/>
              <a:gd name="p0x11" fmla="*/ 0 w 2664"/>
              <a:gd name="p0y11" fmla="*/ 5087 h 5207"/>
              <a:gd name="p0x12" fmla="*/ 0 w 2664"/>
              <a:gd name="p0y12" fmla="*/ 4937 h 5207"/>
              <a:gd name="p0x13" fmla="*/ 0 w 2664"/>
              <a:gd name="p0y13" fmla="*/ 270 h 5207"/>
              <a:gd name="p0x14" fmla="*/ 0 w 2664"/>
              <a:gd name="p0y14" fmla="*/ 120 h 5207"/>
              <a:gd name="p0x15" fmla="*/ 120 w 2664"/>
              <a:gd name="p0y15" fmla="*/ 0 h 5207"/>
              <a:gd name="p0x16" fmla="*/ 270 w 2664"/>
              <a:gd name="p0y16" fmla="*/ 0 h 52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3"/>
            </p:custDataLst>
          </p:nvPr>
        </p:nvSpPr>
        <p:spPr>
          <a:xfrm>
            <a:off x="6851650" y="47840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6937375" y="4862195"/>
            <a:ext cx="247650" cy="25209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6679514" y="5310476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1D3E5E"/>
                </a:solidFill>
                <a:cs typeface="+mn-lt"/>
              </a:rPr>
              <a:t>可解释性</a:t>
            </a:r>
            <a:endParaRPr sz="1200" b="1">
              <a:solidFill>
                <a:srgbClr val="1D3E5E"/>
              </a:solidFill>
              <a:cs typeface="+mn-lt"/>
            </a:endParaRPr>
          </a:p>
        </p:txBody>
      </p:sp>
      <p:sp>
        <p:nvSpPr>
          <p:cNvPr id="25" name="任意多边形 24"/>
          <p:cNvSpPr/>
          <p:nvPr>
            <p:custDataLst>
              <p:tags r:id="rId8"/>
            </p:custDataLst>
          </p:nvPr>
        </p:nvSpPr>
        <p:spPr>
          <a:xfrm>
            <a:off x="8068945" y="4283075"/>
            <a:ext cx="1692275" cy="2188845"/>
          </a:xfrm>
          <a:custGeom>
            <a:avLst/>
            <a:gdLst>
              <a:gd name="sw" fmla="*/ 1 w 2664"/>
              <a:gd name="sh" fmla="*/ 1 h 5207"/>
              <a:gd name="mins" fmla="min sw sh"/>
              <a:gd name="dsw" fmla="+- 0 sw mins"/>
              <a:gd name="dsh" fmla="+- 0 sh mins"/>
              <a:gd name="p0x0" fmla="*/ 270 w 2664"/>
              <a:gd name="p0y0" fmla="*/ 0 h 5207"/>
              <a:gd name="p0x1" fmla="*/ 2394 w 2664"/>
              <a:gd name="p0y1" fmla="*/ 0 h 5207"/>
              <a:gd name="p0x2" fmla="*/ 2544 w 2664"/>
              <a:gd name="p0y2" fmla="*/ 0 h 5207"/>
              <a:gd name="p0x3" fmla="*/ 2664 w 2664"/>
              <a:gd name="p0y3" fmla="*/ 120 h 5207"/>
              <a:gd name="p0x4" fmla="*/ 2664 w 2664"/>
              <a:gd name="p0y4" fmla="*/ 270 h 5207"/>
              <a:gd name="p0x5" fmla="*/ 2664 w 2664"/>
              <a:gd name="p0y5" fmla="*/ 4937 h 5207"/>
              <a:gd name="p0x6" fmla="*/ 2664 w 2664"/>
              <a:gd name="p0y6" fmla="*/ 5087 h 5207"/>
              <a:gd name="p0x7" fmla="*/ 2544 w 2664"/>
              <a:gd name="p0y7" fmla="*/ 5207 h 5207"/>
              <a:gd name="p0x8" fmla="*/ 2394 w 2664"/>
              <a:gd name="p0y8" fmla="*/ 5207 h 5207"/>
              <a:gd name="p0x9" fmla="*/ 270 w 2664"/>
              <a:gd name="p0y9" fmla="*/ 5207 h 5207"/>
              <a:gd name="p0x10" fmla="*/ 120 w 2664"/>
              <a:gd name="p0y10" fmla="*/ 5207 h 5207"/>
              <a:gd name="p0x11" fmla="*/ 0 w 2664"/>
              <a:gd name="p0y11" fmla="*/ 5087 h 5207"/>
              <a:gd name="p0x12" fmla="*/ 0 w 2664"/>
              <a:gd name="p0y12" fmla="*/ 4937 h 5207"/>
              <a:gd name="p0x13" fmla="*/ 0 w 2664"/>
              <a:gd name="p0y13" fmla="*/ 270 h 5207"/>
              <a:gd name="p0x14" fmla="*/ 0 w 2664"/>
              <a:gd name="p0y14" fmla="*/ 120 h 5207"/>
              <a:gd name="p0x15" fmla="*/ 120 w 2664"/>
              <a:gd name="p0y15" fmla="*/ 0 h 5207"/>
              <a:gd name="p0x16" fmla="*/ 270 w 2664"/>
              <a:gd name="p0y16" fmla="*/ 0 h 52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9"/>
            </p:custDataLst>
          </p:nvPr>
        </p:nvSpPr>
        <p:spPr>
          <a:xfrm>
            <a:off x="8705215" y="47840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6522" t="-2933" r="-6522" b="-2933"/>
          <a:stretch>
            <a:fillRect/>
          </a:stretch>
        </p:blipFill>
        <p:spPr>
          <a:xfrm>
            <a:off x="8790940" y="4867910"/>
            <a:ext cx="247650" cy="252095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13"/>
            </p:custDataLst>
          </p:nvPr>
        </p:nvSpPr>
        <p:spPr>
          <a:xfrm>
            <a:off x="8610524" y="5310476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1D3E5E"/>
                </a:solidFill>
                <a:cs typeface="+mn-lt"/>
              </a:rPr>
              <a:t>因果性</a:t>
            </a:r>
            <a:endParaRPr sz="1200" b="1">
              <a:solidFill>
                <a:srgbClr val="1D3E5E"/>
              </a:solidFill>
              <a:cs typeface="+mn-lt"/>
            </a:endParaRPr>
          </a:p>
        </p:txBody>
      </p:sp>
      <p:sp>
        <p:nvSpPr>
          <p:cNvPr id="30" name="任意多边形 29"/>
          <p:cNvSpPr/>
          <p:nvPr>
            <p:custDataLst>
              <p:tags r:id="rId14"/>
            </p:custDataLst>
          </p:nvPr>
        </p:nvSpPr>
        <p:spPr>
          <a:xfrm>
            <a:off x="9923145" y="4283075"/>
            <a:ext cx="1692275" cy="2188845"/>
          </a:xfrm>
          <a:custGeom>
            <a:avLst/>
            <a:gdLst>
              <a:gd name="sw" fmla="*/ 1 w 2665"/>
              <a:gd name="sh" fmla="*/ 1 h 5207"/>
              <a:gd name="mins" fmla="min sw sh"/>
              <a:gd name="dsw" fmla="+- 0 sw mins"/>
              <a:gd name="dsh" fmla="+- 0 sh mins"/>
              <a:gd name="p0x0" fmla="*/ 270 w 2665"/>
              <a:gd name="p0y0" fmla="*/ 0 h 5207"/>
              <a:gd name="p0x1" fmla="*/ 2395 w 2665"/>
              <a:gd name="p0y1" fmla="*/ 0 h 5207"/>
              <a:gd name="p0x2" fmla="*/ 2544 w 2665"/>
              <a:gd name="p0y2" fmla="*/ 0 h 5207"/>
              <a:gd name="p0x3" fmla="*/ 2665 w 2665"/>
              <a:gd name="p0y3" fmla="*/ 120 h 5207"/>
              <a:gd name="p0x4" fmla="*/ 2665 w 2665"/>
              <a:gd name="p0y4" fmla="*/ 270 h 5207"/>
              <a:gd name="p0x5" fmla="*/ 2665 w 2665"/>
              <a:gd name="p0y5" fmla="*/ 4937 h 5207"/>
              <a:gd name="p0x6" fmla="*/ 2665 w 2665"/>
              <a:gd name="p0y6" fmla="*/ 5087 h 5207"/>
              <a:gd name="p0x7" fmla="*/ 2544 w 2665"/>
              <a:gd name="p0y7" fmla="*/ 5207 h 5207"/>
              <a:gd name="p0x8" fmla="*/ 2395 w 2665"/>
              <a:gd name="p0y8" fmla="*/ 5207 h 5207"/>
              <a:gd name="p0x9" fmla="*/ 270 w 2665"/>
              <a:gd name="p0y9" fmla="*/ 5207 h 5207"/>
              <a:gd name="p0x10" fmla="*/ 120 w 2665"/>
              <a:gd name="p0y10" fmla="*/ 5207 h 5207"/>
              <a:gd name="p0x11" fmla="*/ 0 w 2665"/>
              <a:gd name="p0y11" fmla="*/ 5087 h 5207"/>
              <a:gd name="p0x12" fmla="*/ 0 w 2665"/>
              <a:gd name="p0y12" fmla="*/ 4937 h 5207"/>
              <a:gd name="p0x13" fmla="*/ 0 w 2665"/>
              <a:gd name="p0y13" fmla="*/ 270 h 5207"/>
              <a:gd name="p0x14" fmla="*/ 0 w 2665"/>
              <a:gd name="p0y14" fmla="*/ 120 h 5207"/>
              <a:gd name="p0x15" fmla="*/ 120 w 2665"/>
              <a:gd name="p0y15" fmla="*/ 0 h 5207"/>
              <a:gd name="p0x16" fmla="*/ 270 w 2665"/>
              <a:gd name="p0y16" fmla="*/ 0 h 52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15"/>
            </p:custDataLst>
          </p:nvPr>
        </p:nvSpPr>
        <p:spPr>
          <a:xfrm>
            <a:off x="10594975" y="47840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10688320" y="4862195"/>
            <a:ext cx="247650" cy="252095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19"/>
            </p:custDataLst>
          </p:nvPr>
        </p:nvSpPr>
        <p:spPr>
          <a:xfrm>
            <a:off x="10431043" y="5310476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1D3E5E"/>
                </a:solidFill>
                <a:cs typeface="+mn-lt"/>
              </a:rPr>
              <a:t>可迁移性</a:t>
            </a:r>
            <a:endParaRPr sz="1200" b="1">
              <a:solidFill>
                <a:srgbClr val="1D3E5E"/>
              </a:solidFill>
              <a:cs typeface="+mn-lt"/>
            </a:endParaRPr>
          </a:p>
        </p:txBody>
      </p:sp>
      <p:sp>
        <p:nvSpPr>
          <p:cNvPr id="4" name="任意多边形 3"/>
          <p:cNvSpPr/>
          <p:nvPr>
            <p:custDataLst>
              <p:tags r:id="rId20"/>
            </p:custDataLst>
          </p:nvPr>
        </p:nvSpPr>
        <p:spPr>
          <a:xfrm>
            <a:off x="639445" y="1104900"/>
            <a:ext cx="10981055" cy="1006475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180 w 17400"/>
              <a:gd name="p0y0" fmla="*/ 0 h 1050"/>
              <a:gd name="p0x1" fmla="*/ 17220 w 17400"/>
              <a:gd name="p0y1" fmla="*/ 0 h 1050"/>
              <a:gd name="p0x2" fmla="*/ 17319 w 17400"/>
              <a:gd name="p0y2" fmla="*/ 0 h 1050"/>
              <a:gd name="p0x3" fmla="*/ 17400 w 17400"/>
              <a:gd name="p0y3" fmla="*/ 80 h 1050"/>
              <a:gd name="p0x4" fmla="*/ 17400 w 17400"/>
              <a:gd name="p0y4" fmla="*/ 180 h 1050"/>
              <a:gd name="p0x5" fmla="*/ 17400 w 17400"/>
              <a:gd name="p0y5" fmla="*/ 870 h 1050"/>
              <a:gd name="p0x6" fmla="*/ 17400 w 17400"/>
              <a:gd name="p0y6" fmla="*/ 969 h 1050"/>
              <a:gd name="p0x7" fmla="*/ 17319 w 17400"/>
              <a:gd name="p0y7" fmla="*/ 1050 h 1050"/>
              <a:gd name="p0x8" fmla="*/ 17220 w 17400"/>
              <a:gd name="p0y8" fmla="*/ 1050 h 1050"/>
              <a:gd name="p0x9" fmla="*/ 180 w 17400"/>
              <a:gd name="p0y9" fmla="*/ 1050 h 1050"/>
              <a:gd name="p0x10" fmla="*/ 80 w 17400"/>
              <a:gd name="p0y10" fmla="*/ 1050 h 1050"/>
              <a:gd name="p0x11" fmla="*/ 0 w 17400"/>
              <a:gd name="p0y11" fmla="*/ 969 h 1050"/>
              <a:gd name="p0x12" fmla="*/ 0 w 17400"/>
              <a:gd name="p0y12" fmla="*/ 870 h 1050"/>
              <a:gd name="p0x13" fmla="*/ 0 w 17400"/>
              <a:gd name="p0y13" fmla="*/ 180 h 1050"/>
              <a:gd name="p0x14" fmla="*/ 0 w 17400"/>
              <a:gd name="p0y14" fmla="*/ 80 h 1050"/>
              <a:gd name="p0x15" fmla="*/ 80 w 17400"/>
              <a:gd name="p0y15" fmla="*/ 0 h 1050"/>
              <a:gd name="p0x16" fmla="*/ 18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329"/>
              <a:lumOff val="82671"/>
            </a:schemeClr>
          </a:solidFill>
          <a:ln>
            <a:noFill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21"/>
            </p:custDataLst>
          </p:nvPr>
        </p:nvSpPr>
        <p:spPr>
          <a:xfrm>
            <a:off x="1015365" y="1448435"/>
            <a:ext cx="8458429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1D3E5E"/>
                </a:solidFill>
                <a:cs typeface="+mn-lt"/>
              </a:rPr>
              <a:t>预测准确率提升的背后，是模型真正</a:t>
            </a:r>
            <a:r>
              <a:rPr b="1">
                <a:solidFill>
                  <a:srgbClr val="0E5A9E"/>
                </a:solidFill>
                <a:cs typeface="+mn-lt"/>
              </a:rPr>
              <a:t>理解了基因组机制</a:t>
            </a:r>
            <a:r>
              <a:rPr>
                <a:solidFill>
                  <a:srgbClr val="1D3E5E"/>
                </a:solidFill>
                <a:cs typeface="+mn-lt"/>
              </a:rPr>
              <a:t>，还是只是拟合了表象？</a:t>
            </a:r>
            <a:endParaRPr>
              <a:solidFill>
                <a:srgbClr val="1D3E5E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22"/>
            </p:custDataLst>
          </p:nvPr>
        </p:nvSpPr>
        <p:spPr>
          <a:xfrm>
            <a:off x="575945" y="3164840"/>
            <a:ext cx="5400675" cy="3307080"/>
          </a:xfrm>
          <a:custGeom>
            <a:avLst/>
            <a:gdLst>
              <a:gd name="sw" fmla="*/ 1 w 8505"/>
              <a:gd name="sh" fmla="*/ 1 h 5207"/>
              <a:gd name="mins" fmla="min sw sh"/>
              <a:gd name="dsw" fmla="+- 0 sw mins"/>
              <a:gd name="dsh" fmla="+- 0 sh mins"/>
              <a:gd name="p0x0" fmla="*/ 180 w 8505"/>
              <a:gd name="p0y0" fmla="*/ 0 h 5207"/>
              <a:gd name="p0x1" fmla="*/ 8325 w 8505"/>
              <a:gd name="p0y1" fmla="*/ 0 h 5207"/>
              <a:gd name="p0x2" fmla="*/ 8424 w 8505"/>
              <a:gd name="p0y2" fmla="*/ 0 h 5207"/>
              <a:gd name="p0x3" fmla="*/ 8505 w 8505"/>
              <a:gd name="p0y3" fmla="*/ 80 h 5207"/>
              <a:gd name="p0x4" fmla="*/ 8505 w 8505"/>
              <a:gd name="p0y4" fmla="*/ 180 h 5207"/>
              <a:gd name="p0x5" fmla="*/ 8505 w 8505"/>
              <a:gd name="p0y5" fmla="*/ 5027 h 5207"/>
              <a:gd name="p0x6" fmla="*/ 8505 w 8505"/>
              <a:gd name="p0y6" fmla="*/ 5127 h 5207"/>
              <a:gd name="p0x7" fmla="*/ 8424 w 8505"/>
              <a:gd name="p0y7" fmla="*/ 5207 h 5207"/>
              <a:gd name="p0x8" fmla="*/ 8325 w 8505"/>
              <a:gd name="p0y8" fmla="*/ 5207 h 5207"/>
              <a:gd name="p0x9" fmla="*/ 180 w 8505"/>
              <a:gd name="p0y9" fmla="*/ 5207 h 5207"/>
              <a:gd name="p0x10" fmla="*/ 80 w 8505"/>
              <a:gd name="p0y10" fmla="*/ 5207 h 5207"/>
              <a:gd name="p0x11" fmla="*/ 0 w 8505"/>
              <a:gd name="p0y11" fmla="*/ 5127 h 5207"/>
              <a:gd name="p0x12" fmla="*/ 0 w 8505"/>
              <a:gd name="p0y12" fmla="*/ 5027 h 5207"/>
              <a:gd name="p0x13" fmla="*/ 0 w 8505"/>
              <a:gd name="p0y13" fmla="*/ 180 h 5207"/>
              <a:gd name="p0x14" fmla="*/ 0 w 8505"/>
              <a:gd name="p0y14" fmla="*/ 80 h 5207"/>
              <a:gd name="p0x15" fmla="*/ 80 w 8505"/>
              <a:gd name="p0y15" fmla="*/ 0 h 5207"/>
              <a:gd name="p0x16" fmla="*/ 180 w 8505"/>
              <a:gd name="p0y16" fmla="*/ 0 h 52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771525" y="3359785"/>
            <a:ext cx="5010150" cy="370840"/>
            <a:chOff x="1215" y="5291"/>
            <a:chExt cx="7890" cy="584"/>
          </a:xfrm>
        </p:grpSpPr>
        <p:sp>
          <p:nvSpPr>
            <p:cNvPr id="8" name="任意多边形 7"/>
            <p:cNvSpPr/>
            <p:nvPr>
              <p:custDataLst>
                <p:tags r:id="rId23"/>
              </p:custDataLst>
            </p:nvPr>
          </p:nvSpPr>
          <p:spPr>
            <a:xfrm>
              <a:off x="1215" y="5291"/>
              <a:ext cx="7890" cy="585"/>
            </a:xfrm>
            <a:custGeom>
              <a:avLst/>
              <a:gdLst>
                <a:gd name="sw" fmla="*/ 1 w 7890"/>
                <a:gd name="sh" fmla="*/ 1 h 585"/>
                <a:gd name="mins" fmla="min sw sh"/>
                <a:gd name="dsw" fmla="+- 0 sw mins"/>
                <a:gd name="dsh" fmla="+- 0 sh mins"/>
                <a:gd name="p0x0" fmla="*/ 0 w 7890"/>
                <a:gd name="p0y0" fmla="*/ 0 h 585"/>
                <a:gd name="p0x1" fmla="*/ 7890 w 7890"/>
                <a:gd name="p0y1" fmla="*/ 0 h 585"/>
                <a:gd name="p0x2" fmla="*/ 7890 w 7890"/>
                <a:gd name="p0y2" fmla="*/ 585 h 585"/>
                <a:gd name="p0x3" fmla="*/ 0 w 7890"/>
                <a:gd name="p0y3" fmla="*/ 585 h 585"/>
                <a:gd name="p0x4" fmla="*/ 0 w 7890"/>
                <a:gd name="p0y4" fmla="*/ 0 h 58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24"/>
              </p:custDataLst>
            </p:nvPr>
          </p:nvSpPr>
          <p:spPr>
            <a:xfrm>
              <a:off x="1215" y="5861"/>
              <a:ext cx="7890" cy="15"/>
            </a:xfrm>
            <a:custGeom>
              <a:avLst/>
              <a:gdLst>
                <a:gd name="sw" fmla="*/ 1 w 7890"/>
                <a:gd name="sh" fmla="*/ 1 h 15"/>
                <a:gd name="mins" fmla="min sw sh"/>
                <a:gd name="dsw" fmla="+- 0 sw mins"/>
                <a:gd name="dsh" fmla="+- 0 sh mins"/>
                <a:gd name="p0x0" fmla="*/ 7890 w 7890"/>
                <a:gd name="p0y0" fmla="*/ 15 h 15"/>
                <a:gd name="p0x1" fmla="*/ 0 w 7890"/>
                <a:gd name="p0y1" fmla="*/ 15 h 15"/>
                <a:gd name="p0x2" fmla="*/ 0 w 7890"/>
                <a:gd name="p0y2" fmla="*/ 0 h 15"/>
                <a:gd name="p0x3" fmla="*/ 7890 w 7890"/>
                <a:gd name="p0y3" fmla="*/ 0 h 15"/>
                <a:gd name="p0x4" fmla="*/ 7890 w 78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lumMod val="20577"/>
                <a:lumOff val="7942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>
            <p:custDataLst>
              <p:tags r:id="rId25"/>
            </p:custDataLst>
          </p:nvPr>
        </p:nvSpPr>
        <p:spPr>
          <a:xfrm>
            <a:off x="771525" y="3305146"/>
            <a:ext cx="162766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1D3E5E"/>
                </a:solidFill>
                <a:cs typeface="+mn-lt"/>
              </a:rPr>
              <a:t>官方用词对比</a:t>
            </a:r>
            <a:endParaRPr b="1" spc="36">
              <a:solidFill>
                <a:srgbClr val="1D3E5E"/>
              </a:solidFill>
              <a:cs typeface="+mn-lt"/>
            </a:endParaRPr>
          </a:p>
        </p:txBody>
      </p:sp>
      <p:sp>
        <p:nvSpPr>
          <p:cNvPr id="12" name="任意多边形 11"/>
          <p:cNvSpPr/>
          <p:nvPr>
            <p:custDataLst>
              <p:tags r:id="rId26"/>
            </p:custDataLst>
          </p:nvPr>
        </p:nvSpPr>
        <p:spPr>
          <a:xfrm>
            <a:off x="775970" y="4184015"/>
            <a:ext cx="5000625" cy="600075"/>
          </a:xfrm>
          <a:custGeom>
            <a:avLst/>
            <a:gdLst>
              <a:gd name="sw" fmla="*/ 1 w 7875"/>
              <a:gd name="sh" fmla="*/ 1 h 945"/>
              <a:gd name="mins" fmla="min sw sh"/>
              <a:gd name="dsw" fmla="+- 0 sw mins"/>
              <a:gd name="dsh" fmla="+- 0 sh mins"/>
              <a:gd name="p0x0" fmla="*/ 90 w 7875"/>
              <a:gd name="p0y0" fmla="*/ 0 h 945"/>
              <a:gd name="p0x1" fmla="*/ 7785 w 7875"/>
              <a:gd name="p0y1" fmla="*/ 0 h 945"/>
              <a:gd name="p0x2" fmla="*/ 7834 w 7875"/>
              <a:gd name="p0y2" fmla="*/ 0 h 945"/>
              <a:gd name="p0x3" fmla="*/ 7875 w 7875"/>
              <a:gd name="p0y3" fmla="*/ 40 h 945"/>
              <a:gd name="p0x4" fmla="*/ 7875 w 7875"/>
              <a:gd name="p0y4" fmla="*/ 90 h 945"/>
              <a:gd name="p0x5" fmla="*/ 7875 w 7875"/>
              <a:gd name="p0y5" fmla="*/ 855 h 945"/>
              <a:gd name="p0x6" fmla="*/ 7875 w 7875"/>
              <a:gd name="p0y6" fmla="*/ 904 h 945"/>
              <a:gd name="p0x7" fmla="*/ 7834 w 7875"/>
              <a:gd name="p0y7" fmla="*/ 945 h 945"/>
              <a:gd name="p0x8" fmla="*/ 7785 w 7875"/>
              <a:gd name="p0y8" fmla="*/ 945 h 945"/>
              <a:gd name="p0x9" fmla="*/ 90 w 7875"/>
              <a:gd name="p0y9" fmla="*/ 945 h 945"/>
              <a:gd name="p0x10" fmla="*/ 40 w 7875"/>
              <a:gd name="p0y10" fmla="*/ 945 h 945"/>
              <a:gd name="p0x11" fmla="*/ 0 w 7875"/>
              <a:gd name="p0y11" fmla="*/ 904 h 945"/>
              <a:gd name="p0x12" fmla="*/ 0 w 7875"/>
              <a:gd name="p0y12" fmla="*/ 855 h 945"/>
              <a:gd name="p0x13" fmla="*/ 0 w 7875"/>
              <a:gd name="p0y13" fmla="*/ 90 h 945"/>
              <a:gd name="p0x14" fmla="*/ 0 w 7875"/>
              <a:gd name="p0y14" fmla="*/ 40 h 945"/>
              <a:gd name="p0x15" fmla="*/ 40 w 7875"/>
              <a:gd name="p0y15" fmla="*/ 0 h 945"/>
              <a:gd name="p0x16" fmla="*/ 90 w 7875"/>
              <a:gd name="p0y16" fmla="*/ 0 h 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27"/>
            </p:custDataLst>
          </p:nvPr>
        </p:nvSpPr>
        <p:spPr>
          <a:xfrm>
            <a:off x="895350" y="4283710"/>
            <a:ext cx="1062355" cy="419100"/>
          </a:xfrm>
          <a:custGeom>
            <a:avLst/>
            <a:gdLst>
              <a:gd name="sw" fmla="*/ 1 w 1673"/>
              <a:gd name="sh" fmla="*/ 1 h 660"/>
              <a:gd name="mins" fmla="min sw sh"/>
              <a:gd name="dsw" fmla="+- 0 sw mins"/>
              <a:gd name="dsh" fmla="+- 0 sh mins"/>
              <a:gd name="p0x0" fmla="*/ 90 w 1673"/>
              <a:gd name="p0y0" fmla="*/ 0 h 660"/>
              <a:gd name="p0x1" fmla="*/ 1583 w 1673"/>
              <a:gd name="p0y1" fmla="*/ 0 h 660"/>
              <a:gd name="p0x2" fmla="*/ 1633 w 1673"/>
              <a:gd name="p0y2" fmla="*/ 0 h 660"/>
              <a:gd name="p0x3" fmla="*/ 1673 w 1673"/>
              <a:gd name="p0y3" fmla="*/ 40 h 660"/>
              <a:gd name="p0x4" fmla="*/ 1673 w 1673"/>
              <a:gd name="p0y4" fmla="*/ 90 h 660"/>
              <a:gd name="p0x5" fmla="*/ 1673 w 1673"/>
              <a:gd name="p0y5" fmla="*/ 570 h 660"/>
              <a:gd name="p0x6" fmla="*/ 1673 w 1673"/>
              <a:gd name="p0y6" fmla="*/ 619 h 660"/>
              <a:gd name="p0x7" fmla="*/ 1633 w 1673"/>
              <a:gd name="p0y7" fmla="*/ 660 h 660"/>
              <a:gd name="p0x8" fmla="*/ 1583 w 1673"/>
              <a:gd name="p0y8" fmla="*/ 660 h 660"/>
              <a:gd name="p0x9" fmla="*/ 90 w 1673"/>
              <a:gd name="p0y9" fmla="*/ 660 h 660"/>
              <a:gd name="p0x10" fmla="*/ 40 w 1673"/>
              <a:gd name="p0y10" fmla="*/ 660 h 660"/>
              <a:gd name="p0x11" fmla="*/ 0 w 1673"/>
              <a:gd name="p0y11" fmla="*/ 619 h 660"/>
              <a:gd name="p0x12" fmla="*/ 0 w 1673"/>
              <a:gd name="p0y12" fmla="*/ 570 h 660"/>
              <a:gd name="p0x13" fmla="*/ 0 w 1673"/>
              <a:gd name="p0y13" fmla="*/ 90 h 660"/>
              <a:gd name="p0x14" fmla="*/ 0 w 1673"/>
              <a:gd name="p0y14" fmla="*/ 40 h 660"/>
              <a:gd name="p0x15" fmla="*/ 40 w 1673"/>
              <a:gd name="p0y15" fmla="*/ 0 h 660"/>
              <a:gd name="p0x16" fmla="*/ 90 w 1673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28"/>
            </p:custDataLst>
          </p:nvPr>
        </p:nvSpPr>
        <p:spPr>
          <a:xfrm>
            <a:off x="971550" y="4294794"/>
            <a:ext cx="986361" cy="3981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官方博客</a:t>
            </a:r>
            <a:endParaRPr sz="1200" b="1">
              <a:solidFill>
                <a:schemeClr val="accent1">
                  <a:lumMod val="56651"/>
                </a:schemeClr>
              </a:solidFill>
              <a:cs typeface="+mn-lt"/>
            </a:endParaRPr>
          </a:p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2025-06-25</a:t>
            </a:r>
            <a:endParaRPr sz="1200" b="1">
              <a:solidFill>
                <a:schemeClr val="accent1">
                  <a:lumMod val="56651"/>
                </a:schemeClr>
              </a:solidFill>
              <a:cs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29"/>
            </p:custDataLst>
          </p:nvPr>
        </p:nvSpPr>
        <p:spPr>
          <a:xfrm>
            <a:off x="2034111" y="4253360"/>
            <a:ext cx="3587953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350">
                <a:solidFill>
                  <a:schemeClr val="tx2"/>
                </a:solidFill>
                <a:cs typeface="+mn-lt"/>
              </a:rPr>
              <a:t>AI for better understanding the genome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16" name="任意多边形 15"/>
          <p:cNvSpPr/>
          <p:nvPr>
            <p:custDataLst>
              <p:tags r:id="rId30"/>
            </p:custDataLst>
          </p:nvPr>
        </p:nvSpPr>
        <p:spPr>
          <a:xfrm>
            <a:off x="775970" y="5241290"/>
            <a:ext cx="5000625" cy="659130"/>
          </a:xfrm>
          <a:custGeom>
            <a:avLst/>
            <a:gdLst>
              <a:gd name="sw" fmla="*/ 1 w 7875"/>
              <a:gd name="sh" fmla="*/ 1 h 1037"/>
              <a:gd name="mins" fmla="min sw sh"/>
              <a:gd name="dsw" fmla="+- 0 sw mins"/>
              <a:gd name="dsh" fmla="+- 0 sh mins"/>
              <a:gd name="p0x0" fmla="*/ 90 w 7875"/>
              <a:gd name="p0y0" fmla="*/ 0 h 1037"/>
              <a:gd name="p0x1" fmla="*/ 7785 w 7875"/>
              <a:gd name="p0y1" fmla="*/ 0 h 1037"/>
              <a:gd name="p0x2" fmla="*/ 7834 w 7875"/>
              <a:gd name="p0y2" fmla="*/ 0 h 1037"/>
              <a:gd name="p0x3" fmla="*/ 7875 w 7875"/>
              <a:gd name="p0y3" fmla="*/ 40 h 1037"/>
              <a:gd name="p0x4" fmla="*/ 7875 w 7875"/>
              <a:gd name="p0y4" fmla="*/ 90 h 1037"/>
              <a:gd name="p0x5" fmla="*/ 7875 w 7875"/>
              <a:gd name="p0y5" fmla="*/ 947 h 1037"/>
              <a:gd name="p0x6" fmla="*/ 7875 w 7875"/>
              <a:gd name="p0y6" fmla="*/ 997 h 1037"/>
              <a:gd name="p0x7" fmla="*/ 7834 w 7875"/>
              <a:gd name="p0y7" fmla="*/ 1037 h 1037"/>
              <a:gd name="p0x8" fmla="*/ 7785 w 7875"/>
              <a:gd name="p0y8" fmla="*/ 1037 h 1037"/>
              <a:gd name="p0x9" fmla="*/ 90 w 7875"/>
              <a:gd name="p0y9" fmla="*/ 1037 h 1037"/>
              <a:gd name="p0x10" fmla="*/ 40 w 7875"/>
              <a:gd name="p0y10" fmla="*/ 1037 h 1037"/>
              <a:gd name="p0x11" fmla="*/ 0 w 7875"/>
              <a:gd name="p0y11" fmla="*/ 997 h 1037"/>
              <a:gd name="p0x12" fmla="*/ 0 w 7875"/>
              <a:gd name="p0y12" fmla="*/ 947 h 1037"/>
              <a:gd name="p0x13" fmla="*/ 0 w 7875"/>
              <a:gd name="p0y13" fmla="*/ 90 h 1037"/>
              <a:gd name="p0x14" fmla="*/ 0 w 7875"/>
              <a:gd name="p0y14" fmla="*/ 40 h 1037"/>
              <a:gd name="p0x15" fmla="*/ 40 w 7875"/>
              <a:gd name="p0y15" fmla="*/ 0 h 1037"/>
              <a:gd name="p0x16" fmla="*/ 90 w 7875"/>
              <a:gd name="p0y16" fmla="*/ 0 h 10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31"/>
            </p:custDataLst>
          </p:nvPr>
        </p:nvSpPr>
        <p:spPr>
          <a:xfrm>
            <a:off x="895350" y="5340985"/>
            <a:ext cx="1062355" cy="419100"/>
          </a:xfrm>
          <a:custGeom>
            <a:avLst/>
            <a:gdLst>
              <a:gd name="sw" fmla="*/ 1 w 1673"/>
              <a:gd name="sh" fmla="*/ 1 h 660"/>
              <a:gd name="mins" fmla="min sw sh"/>
              <a:gd name="dsw" fmla="+- 0 sw mins"/>
              <a:gd name="dsh" fmla="+- 0 sh mins"/>
              <a:gd name="p0x0" fmla="*/ 90 w 1673"/>
              <a:gd name="p0y0" fmla="*/ 0 h 660"/>
              <a:gd name="p0x1" fmla="*/ 1583 w 1673"/>
              <a:gd name="p0y1" fmla="*/ 0 h 660"/>
              <a:gd name="p0x2" fmla="*/ 1633 w 1673"/>
              <a:gd name="p0y2" fmla="*/ 0 h 660"/>
              <a:gd name="p0x3" fmla="*/ 1673 w 1673"/>
              <a:gd name="p0y3" fmla="*/ 40 h 660"/>
              <a:gd name="p0x4" fmla="*/ 1673 w 1673"/>
              <a:gd name="p0y4" fmla="*/ 90 h 660"/>
              <a:gd name="p0x5" fmla="*/ 1673 w 1673"/>
              <a:gd name="p0y5" fmla="*/ 570 h 660"/>
              <a:gd name="p0x6" fmla="*/ 1673 w 1673"/>
              <a:gd name="p0y6" fmla="*/ 619 h 660"/>
              <a:gd name="p0x7" fmla="*/ 1633 w 1673"/>
              <a:gd name="p0y7" fmla="*/ 660 h 660"/>
              <a:gd name="p0x8" fmla="*/ 1583 w 1673"/>
              <a:gd name="p0y8" fmla="*/ 660 h 660"/>
              <a:gd name="p0x9" fmla="*/ 90 w 1673"/>
              <a:gd name="p0y9" fmla="*/ 660 h 660"/>
              <a:gd name="p0x10" fmla="*/ 40 w 1673"/>
              <a:gd name="p0y10" fmla="*/ 660 h 660"/>
              <a:gd name="p0x11" fmla="*/ 0 w 1673"/>
              <a:gd name="p0y11" fmla="*/ 619 h 660"/>
              <a:gd name="p0x12" fmla="*/ 0 w 1673"/>
              <a:gd name="p0y12" fmla="*/ 570 h 660"/>
              <a:gd name="p0x13" fmla="*/ 0 w 1673"/>
              <a:gd name="p0y13" fmla="*/ 90 h 660"/>
              <a:gd name="p0x14" fmla="*/ 0 w 1673"/>
              <a:gd name="p0y14" fmla="*/ 40 h 660"/>
              <a:gd name="p0x15" fmla="*/ 40 w 1673"/>
              <a:gd name="p0y15" fmla="*/ 0 h 660"/>
              <a:gd name="p0x16" fmla="*/ 90 w 1673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32"/>
            </p:custDataLst>
          </p:nvPr>
        </p:nvSpPr>
        <p:spPr>
          <a:xfrm>
            <a:off x="971550" y="5352069"/>
            <a:ext cx="986361" cy="3981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Nature </a:t>
            </a:r>
            <a:r>
              <a:rPr lang="zh-CN"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论文</a:t>
            </a:r>
            <a:endParaRPr lang="zh-CN" sz="1200" b="1">
              <a:solidFill>
                <a:schemeClr val="accent1">
                  <a:lumMod val="56651"/>
                </a:schemeClr>
              </a:solidFill>
              <a:cs typeface="+mn-lt"/>
            </a:endParaRPr>
          </a:p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2026-01-28</a:t>
            </a:r>
            <a:endParaRPr sz="1200" b="1">
              <a:solidFill>
                <a:schemeClr val="accent1">
                  <a:lumMod val="56651"/>
                </a:schemeClr>
              </a:solidFill>
              <a:cs typeface="+mn-lt"/>
            </a:endParaRPr>
          </a:p>
        </p:txBody>
      </p:sp>
      <p:sp>
        <p:nvSpPr>
          <p:cNvPr id="19" name="文本框 18"/>
          <p:cNvSpPr txBox="1"/>
          <p:nvPr>
            <p:custDataLst>
              <p:tags r:id="rId33"/>
            </p:custDataLst>
          </p:nvPr>
        </p:nvSpPr>
        <p:spPr>
          <a:xfrm>
            <a:off x="2034111" y="5310635"/>
            <a:ext cx="3623739" cy="5200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350">
                <a:solidFill>
                  <a:schemeClr val="tx2"/>
                </a:solidFill>
                <a:cs typeface="+mn-lt"/>
              </a:rPr>
              <a:t>Advancing regulatory variant effect prediction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维度一</a:t>
            </a:r>
            <a:r>
              <a:rPr lang="en-US" altLang="zh-CN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 </a:t>
            </a: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可解释性</a:t>
            </a:r>
            <a:endParaRPr lang="zh-CN" altLang="en-US"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pic>
        <p:nvPicPr>
          <p:cNvPr id="4" name="图片 3" descr="ca045a1d-c317-11f1-8972-1efe818649d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3" b="3"/>
          <a:stretch>
            <a:fillRect/>
          </a:stretch>
        </p:blipFill>
        <p:spPr>
          <a:xfrm>
            <a:off x="571500" y="1104900"/>
            <a:ext cx="11049000" cy="20574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0" h="3240">
                <a:moveTo>
                  <a:pt x="120" y="0"/>
                </a:moveTo>
                <a:lnTo>
                  <a:pt x="17280" y="0"/>
                </a:lnTo>
                <a:cubicBezTo>
                  <a:pt x="17346" y="0"/>
                  <a:pt x="17400" y="54"/>
                  <a:pt x="17400" y="120"/>
                </a:cubicBezTo>
                <a:lnTo>
                  <a:pt x="17400" y="3120"/>
                </a:lnTo>
                <a:cubicBezTo>
                  <a:pt x="17400" y="3186"/>
                  <a:pt x="17346" y="3240"/>
                  <a:pt x="17280" y="3240"/>
                </a:cubicBezTo>
                <a:lnTo>
                  <a:pt x="120" y="3240"/>
                </a:lnTo>
                <a:cubicBezTo>
                  <a:pt x="54" y="3240"/>
                  <a:pt x="0" y="3186"/>
                  <a:pt x="0" y="312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</p:spPr>
      </p:pic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3395345"/>
            <a:ext cx="11039475" cy="3076575"/>
          </a:xfrm>
          <a:custGeom>
            <a:avLst/>
            <a:gdLst>
              <a:gd name="sw" fmla="*/ 1 w 17385"/>
              <a:gd name="sh" fmla="*/ 1 h 4845"/>
              <a:gd name="mins" fmla="min sw sh"/>
              <a:gd name="dsw" fmla="+- 0 sw mins"/>
              <a:gd name="dsh" fmla="+- 0 sh mins"/>
              <a:gd name="p0x0" fmla="*/ 420 w 17385"/>
              <a:gd name="p0y0" fmla="*/ 0 h 4845"/>
              <a:gd name="p0x1" fmla="*/ 16965 w 17385"/>
              <a:gd name="p0y1" fmla="*/ 0 h 4845"/>
              <a:gd name="p0x2" fmla="*/ 17196 w 17385"/>
              <a:gd name="p0y2" fmla="*/ 0 h 4845"/>
              <a:gd name="p0x3" fmla="*/ 17385 w 17385"/>
              <a:gd name="p0y3" fmla="*/ 188 h 4845"/>
              <a:gd name="p0x4" fmla="*/ 17385 w 17385"/>
              <a:gd name="p0y4" fmla="*/ 420 h 4845"/>
              <a:gd name="p0x5" fmla="*/ 17385 w 17385"/>
              <a:gd name="p0y5" fmla="*/ 4425 h 4845"/>
              <a:gd name="p0x6" fmla="*/ 17385 w 17385"/>
              <a:gd name="p0y6" fmla="*/ 4656 h 4845"/>
              <a:gd name="p0x7" fmla="*/ 17196 w 17385"/>
              <a:gd name="p0y7" fmla="*/ 4845 h 4845"/>
              <a:gd name="p0x8" fmla="*/ 16965 w 17385"/>
              <a:gd name="p0y8" fmla="*/ 4845 h 4845"/>
              <a:gd name="p0x9" fmla="*/ 420 w 17385"/>
              <a:gd name="p0y9" fmla="*/ 4845 h 4845"/>
              <a:gd name="p0x10" fmla="*/ 188 w 17385"/>
              <a:gd name="p0y10" fmla="*/ 4845 h 4845"/>
              <a:gd name="p0x11" fmla="*/ 0 w 17385"/>
              <a:gd name="p0y11" fmla="*/ 4656 h 4845"/>
              <a:gd name="p0x12" fmla="*/ 0 w 17385"/>
              <a:gd name="p0y12" fmla="*/ 4425 h 4845"/>
              <a:gd name="p0x13" fmla="*/ 0 w 17385"/>
              <a:gd name="p0y13" fmla="*/ 420 h 4845"/>
              <a:gd name="p0x14" fmla="*/ 0 w 17385"/>
              <a:gd name="p0y14" fmla="*/ 188 h 4845"/>
              <a:gd name="p0x15" fmla="*/ 188 w 17385"/>
              <a:gd name="p0y15" fmla="*/ 0 h 4845"/>
              <a:gd name="p0x16" fmla="*/ 420 w 17385"/>
              <a:gd name="p0y16" fmla="*/ 0 h 48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  <a:alpha val="4000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771525" y="3574733"/>
            <a:ext cx="106489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1D3E5E"/>
                </a:solidFill>
                <a:cs typeface="+mn-lt"/>
              </a:rPr>
              <a:t>可解释性</a:t>
            </a:r>
            <a:r>
              <a:rPr lang="en-US" altLang="zh-CN" sz="2100" b="1" spc="42">
                <a:solidFill>
                  <a:srgbClr val="1D3E5E"/>
                </a:solidFill>
                <a:cs typeface="+mn-lt"/>
              </a:rPr>
              <a:t>——</a:t>
            </a:r>
            <a:r>
              <a:rPr lang="zh-CN" altLang="en-US" sz="2100" b="1" spc="42">
                <a:solidFill>
                  <a:srgbClr val="1D3E5E"/>
                </a:solidFill>
                <a:cs typeface="+mn-lt"/>
              </a:rPr>
              <a:t>能不能说清为什么</a:t>
            </a:r>
            <a:endParaRPr lang="zh-CN" altLang="en-US"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771525" y="3986213"/>
            <a:ext cx="106489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能否用科学系统的语言来解释预测、并产生可验证的假说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0" name="任意多边形 9"/>
          <p:cNvSpPr/>
          <p:nvPr>
            <p:custDataLst>
              <p:tags r:id="rId7"/>
            </p:custDataLst>
          </p:nvPr>
        </p:nvSpPr>
        <p:spPr>
          <a:xfrm>
            <a:off x="771525" y="4600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ca045b06-c317-11f1-8972-1efe818649d9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857250" y="4686300"/>
            <a:ext cx="247650" cy="24765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1304925" y="4586288"/>
            <a:ext cx="101155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检验方法</a:t>
            </a:r>
            <a:r>
              <a:rPr sz="1500">
                <a:solidFill>
                  <a:srgbClr val="4A6E8E"/>
                </a:solidFill>
                <a:cs typeface="+mn-lt"/>
              </a:rPr>
              <a:t>：看</a:t>
            </a:r>
            <a:r>
              <a:rPr lang="zh-CN" sz="1500">
                <a:solidFill>
                  <a:srgbClr val="4A6E8E"/>
                </a:solidFill>
                <a:cs typeface="+mn-lt"/>
              </a:rPr>
              <a:t>模型</a:t>
            </a:r>
            <a:r>
              <a:rPr sz="1500">
                <a:solidFill>
                  <a:srgbClr val="4A6E8E"/>
                </a:solidFill>
                <a:cs typeface="+mn-lt"/>
              </a:rPr>
              <a:t>输出的是能</a:t>
            </a:r>
            <a:r>
              <a:rPr lang="zh-CN" sz="1500">
                <a:solidFill>
                  <a:srgbClr val="4A6E8E"/>
                </a:solidFill>
                <a:cs typeface="+mn-lt"/>
              </a:rPr>
              <a:t>实际验证</a:t>
            </a:r>
            <a:r>
              <a:rPr sz="1500">
                <a:solidFill>
                  <a:srgbClr val="4A6E8E"/>
                </a:solidFill>
                <a:cs typeface="+mn-lt"/>
              </a:rPr>
              <a:t>的判断，还是只有单一的</a:t>
            </a:r>
            <a:r>
              <a:rPr lang="zh-CN" sz="1500">
                <a:solidFill>
                  <a:srgbClr val="4A6E8E"/>
                </a:solidFill>
                <a:cs typeface="+mn-lt"/>
              </a:rPr>
              <a:t>置信度</a:t>
            </a:r>
            <a:endParaRPr lang="zh-CN"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>
            <a:off x="771525" y="53816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 descr="ca045ba4-c317-11f1-8972-1efe818649d9"/>
          <p:cNvPicPr/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857250" y="5467350"/>
            <a:ext cx="247650" cy="24765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1304925" y="5367338"/>
            <a:ext cx="101155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举例</a:t>
            </a:r>
            <a:r>
              <a:rPr sz="1500">
                <a:solidFill>
                  <a:srgbClr val="4A6E8E"/>
                </a:solidFill>
                <a:cs typeface="+mn-lt"/>
              </a:rPr>
              <a:t>：</a:t>
            </a:r>
            <a:r>
              <a:rPr lang="zh-CN" sz="1500">
                <a:solidFill>
                  <a:srgbClr val="4A6E8E"/>
                </a:solidFill>
                <a:cs typeface="+mn-lt"/>
              </a:rPr>
              <a:t>测温</a:t>
            </a:r>
            <a:r>
              <a:rPr sz="1500">
                <a:solidFill>
                  <a:srgbClr val="4A6E8E"/>
                </a:solidFill>
                <a:cs typeface="+mn-lt"/>
              </a:rPr>
              <a:t>计能准确</a:t>
            </a:r>
            <a:r>
              <a:rPr lang="zh-CN" sz="1500">
                <a:solidFill>
                  <a:srgbClr val="4A6E8E"/>
                </a:solidFill>
                <a:cs typeface="+mn-lt"/>
              </a:rPr>
              <a:t>显示</a:t>
            </a:r>
            <a:r>
              <a:rPr sz="1500">
                <a:solidFill>
                  <a:srgbClr val="4A6E8E"/>
                </a:solidFill>
                <a:cs typeface="+mn-lt"/>
              </a:rPr>
              <a:t>发烧的体温，但却</a:t>
            </a:r>
            <a:r>
              <a:rPr lang="zh-CN" sz="1500">
                <a:solidFill>
                  <a:srgbClr val="4A6E8E"/>
                </a:solidFill>
                <a:cs typeface="+mn-lt"/>
              </a:rPr>
              <a:t>完全</a:t>
            </a:r>
            <a:r>
              <a:rPr sz="1500">
                <a:solidFill>
                  <a:srgbClr val="4A6E8E"/>
                </a:solidFill>
                <a:cs typeface="+mn-lt"/>
              </a:rPr>
              <a:t>不理解</a:t>
            </a:r>
            <a:r>
              <a:rPr lang="zh-CN" sz="1500">
                <a:solidFill>
                  <a:srgbClr val="4A6E8E"/>
                </a:solidFill>
                <a:cs typeface="+mn-lt"/>
              </a:rPr>
              <a:t>对应</a:t>
            </a:r>
            <a:r>
              <a:rPr sz="1500">
                <a:solidFill>
                  <a:srgbClr val="4A6E8E"/>
                </a:solidFill>
                <a:cs typeface="+mn-lt"/>
              </a:rPr>
              <a:t>的身体情况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维度二</a:t>
            </a:r>
            <a:r>
              <a:rPr lang="en-US" altLang="zh-CN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 </a:t>
            </a: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因果性</a:t>
            </a:r>
            <a:endParaRPr lang="zh-CN" altLang="en-US"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180 w 17400"/>
              <a:gd name="p0y0" fmla="*/ 0 h 1050"/>
              <a:gd name="p0x1" fmla="*/ 17220 w 17400"/>
              <a:gd name="p0y1" fmla="*/ 0 h 1050"/>
              <a:gd name="p0x2" fmla="*/ 17319 w 17400"/>
              <a:gd name="p0y2" fmla="*/ 0 h 1050"/>
              <a:gd name="p0x3" fmla="*/ 17400 w 17400"/>
              <a:gd name="p0y3" fmla="*/ 80 h 1050"/>
              <a:gd name="p0x4" fmla="*/ 17400 w 17400"/>
              <a:gd name="p0y4" fmla="*/ 180 h 1050"/>
              <a:gd name="p0x5" fmla="*/ 17400 w 17400"/>
              <a:gd name="p0y5" fmla="*/ 870 h 1050"/>
              <a:gd name="p0x6" fmla="*/ 17400 w 17400"/>
              <a:gd name="p0y6" fmla="*/ 969 h 1050"/>
              <a:gd name="p0x7" fmla="*/ 17319 w 17400"/>
              <a:gd name="p0y7" fmla="*/ 1050 h 1050"/>
              <a:gd name="p0x8" fmla="*/ 17220 w 17400"/>
              <a:gd name="p0y8" fmla="*/ 1050 h 1050"/>
              <a:gd name="p0x9" fmla="*/ 180 w 17400"/>
              <a:gd name="p0y9" fmla="*/ 1050 h 1050"/>
              <a:gd name="p0x10" fmla="*/ 80 w 17400"/>
              <a:gd name="p0y10" fmla="*/ 1050 h 1050"/>
              <a:gd name="p0x11" fmla="*/ 0 w 17400"/>
              <a:gd name="p0y11" fmla="*/ 969 h 1050"/>
              <a:gd name="p0x12" fmla="*/ 0 w 17400"/>
              <a:gd name="p0y12" fmla="*/ 870 h 1050"/>
              <a:gd name="p0x13" fmla="*/ 0 w 17400"/>
              <a:gd name="p0y13" fmla="*/ 180 h 1050"/>
              <a:gd name="p0x14" fmla="*/ 0 w 17400"/>
              <a:gd name="p0y14" fmla="*/ 80 h 1050"/>
              <a:gd name="p0x15" fmla="*/ 80 w 17400"/>
              <a:gd name="p0y15" fmla="*/ 0 h 1050"/>
              <a:gd name="p0x16" fmla="*/ 18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329"/>
              <a:lumOff val="82671"/>
            </a:schemeClr>
          </a:solidFill>
          <a:ln>
            <a:noFill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280160"/>
            <a:ext cx="590066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>
                <a:solidFill>
                  <a:srgbClr val="1D3E5E"/>
                </a:solidFill>
                <a:cs typeface="+mn-lt"/>
              </a:rPr>
              <a:t>模型是否能回答</a:t>
            </a:r>
            <a:r>
              <a:rPr lang="en-US" altLang="zh-CN">
                <a:solidFill>
                  <a:srgbClr val="1D3E5E"/>
                </a:solidFill>
                <a:cs typeface="+mn-lt"/>
              </a:rPr>
              <a:t>"</a:t>
            </a:r>
            <a:r>
              <a:rPr lang="zh-CN" altLang="en-US">
                <a:solidFill>
                  <a:srgbClr val="1D3E5E"/>
                </a:solidFill>
                <a:cs typeface="+mn-lt"/>
              </a:rPr>
              <a:t>改变某一个变量，会产生怎样的结果？</a:t>
            </a:r>
            <a:r>
              <a:rPr lang="en-US" altLang="zh-CN">
                <a:solidFill>
                  <a:srgbClr val="1D3E5E"/>
                </a:solidFill>
                <a:cs typeface="+mn-lt"/>
              </a:rPr>
              <a:t>"</a:t>
            </a:r>
            <a:endParaRPr lang="en-US" altLang="zh-CN">
              <a:solidFill>
                <a:srgbClr val="1D3E5E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2263775"/>
            <a:ext cx="11039475" cy="1271905"/>
          </a:xfrm>
          <a:custGeom>
            <a:avLst/>
            <a:gdLst>
              <a:gd name="sw" fmla="*/ 1 w 17385"/>
              <a:gd name="sh" fmla="*/ 1 h 2002"/>
              <a:gd name="mins" fmla="min sw sh"/>
              <a:gd name="dsw" fmla="+- 0 sw mins"/>
              <a:gd name="dsh" fmla="+- 0 sh mins"/>
              <a:gd name="p0x0" fmla="*/ 180 w 17385"/>
              <a:gd name="p0y0" fmla="*/ 0 h 2002"/>
              <a:gd name="p0x1" fmla="*/ 17205 w 17385"/>
              <a:gd name="p0y1" fmla="*/ 0 h 2002"/>
              <a:gd name="p0x2" fmla="*/ 17304 w 17385"/>
              <a:gd name="p0y2" fmla="*/ 0 h 2002"/>
              <a:gd name="p0x3" fmla="*/ 17385 w 17385"/>
              <a:gd name="p0y3" fmla="*/ 80 h 2002"/>
              <a:gd name="p0x4" fmla="*/ 17385 w 17385"/>
              <a:gd name="p0y4" fmla="*/ 180 h 2002"/>
              <a:gd name="p0x5" fmla="*/ 17385 w 17385"/>
              <a:gd name="p0y5" fmla="*/ 1822 h 2002"/>
              <a:gd name="p0x6" fmla="*/ 17385 w 17385"/>
              <a:gd name="p0y6" fmla="*/ 1921 h 2002"/>
              <a:gd name="p0x7" fmla="*/ 17304 w 17385"/>
              <a:gd name="p0y7" fmla="*/ 2002 h 2002"/>
              <a:gd name="p0x8" fmla="*/ 17205 w 17385"/>
              <a:gd name="p0y8" fmla="*/ 2002 h 2002"/>
              <a:gd name="p0x9" fmla="*/ 180 w 17385"/>
              <a:gd name="p0y9" fmla="*/ 2002 h 2002"/>
              <a:gd name="p0x10" fmla="*/ 80 w 17385"/>
              <a:gd name="p0y10" fmla="*/ 2002 h 2002"/>
              <a:gd name="p0x11" fmla="*/ 0 w 17385"/>
              <a:gd name="p0y11" fmla="*/ 1921 h 2002"/>
              <a:gd name="p0x12" fmla="*/ 0 w 17385"/>
              <a:gd name="p0y12" fmla="*/ 1822 h 2002"/>
              <a:gd name="p0x13" fmla="*/ 0 w 17385"/>
              <a:gd name="p0y13" fmla="*/ 180 h 2002"/>
              <a:gd name="p0x14" fmla="*/ 0 w 17385"/>
              <a:gd name="p0y14" fmla="*/ 80 h 2002"/>
              <a:gd name="p0x15" fmla="*/ 80 w 17385"/>
              <a:gd name="p0y15" fmla="*/ 0 h 2002"/>
              <a:gd name="p0x16" fmla="*/ 180 w 17385"/>
              <a:gd name="p0y16" fmla="*/ 0 h 200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771525" y="2410806"/>
            <a:ext cx="106489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2100" b="1" spc="42">
                <a:solidFill>
                  <a:srgbClr val="1D3E5E"/>
                </a:solidFill>
                <a:cs typeface="+mn-lt"/>
              </a:rPr>
              <a:t>模型是否具备</a:t>
            </a:r>
            <a:r>
              <a:rPr sz="2100" b="1" spc="42">
                <a:solidFill>
                  <a:srgbClr val="1D3E5E"/>
                </a:solidFill>
                <a:cs typeface="+mn-lt"/>
              </a:rPr>
              <a:t>区分相关与因果、预测干预结果</a:t>
            </a:r>
            <a:r>
              <a:rPr lang="zh-CN" sz="2100" b="1" spc="42">
                <a:solidFill>
                  <a:srgbClr val="1D3E5E"/>
                </a:solidFill>
                <a:cs typeface="+mn-lt"/>
              </a:rPr>
              <a:t>的能力？</a:t>
            </a:r>
            <a:endParaRPr lang="zh-CN"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771525" y="2860862"/>
            <a:ext cx="8778183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 b="1" spc="63">
                <a:solidFill>
                  <a:schemeClr val="tx2"/>
                </a:solidFill>
                <a:cs typeface="+mn-lt"/>
              </a:rPr>
              <a:t>检验方法</a:t>
            </a:r>
            <a:endParaRPr sz="1050" b="1" spc="63">
              <a:solidFill>
                <a:schemeClr val="tx2"/>
              </a:solidFill>
              <a:cs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771525" y="3059459"/>
            <a:ext cx="877818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E8E"/>
                </a:solidFill>
                <a:cs typeface="+mn-lt"/>
              </a:rPr>
              <a:t>不光关注</a:t>
            </a:r>
            <a:r>
              <a:rPr lang="zh-CN" sz="1500">
                <a:solidFill>
                  <a:srgbClr val="4A6E8E"/>
                </a:solidFill>
                <a:cs typeface="+mn-lt"/>
              </a:rPr>
              <a:t>某些</a:t>
            </a:r>
            <a:r>
              <a:rPr sz="1500">
                <a:solidFill>
                  <a:srgbClr val="4A6E8E"/>
                </a:solidFill>
                <a:cs typeface="+mn-lt"/>
              </a:rPr>
              <a:t>因素是否总一起出现，而是去问改变其中一个</a:t>
            </a:r>
            <a:r>
              <a:rPr lang="zh-CN" sz="1500">
                <a:solidFill>
                  <a:srgbClr val="4A6E8E"/>
                </a:solidFill>
                <a:cs typeface="+mn-lt"/>
              </a:rPr>
              <a:t>变量</a:t>
            </a:r>
            <a:r>
              <a:rPr sz="1500">
                <a:solidFill>
                  <a:srgbClr val="4A6E8E"/>
                </a:solidFill>
                <a:cs typeface="+mn-lt"/>
              </a:rPr>
              <a:t>，结果会不会</a:t>
            </a:r>
            <a:r>
              <a:rPr lang="zh-CN" sz="1500">
                <a:solidFill>
                  <a:srgbClr val="4A6E8E"/>
                </a:solidFill>
                <a:cs typeface="+mn-lt"/>
              </a:rPr>
              <a:t>发生变化</a:t>
            </a:r>
            <a:endParaRPr lang="zh-CN"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9706610" y="3004185"/>
            <a:ext cx="1708785" cy="238125"/>
          </a:xfrm>
          <a:custGeom>
            <a:avLst/>
            <a:gdLst>
              <a:gd name="sw" fmla="*/ 1 w 2691"/>
              <a:gd name="sh" fmla="*/ 1 h 375"/>
              <a:gd name="mins" fmla="min sw sh"/>
              <a:gd name="dsw" fmla="+- 0 sw mins"/>
              <a:gd name="dsh" fmla="+- 0 sh mins"/>
              <a:gd name="p0x0" fmla="*/ 187 w 2691"/>
              <a:gd name="p0y0" fmla="*/ 0 h 375"/>
              <a:gd name="p0x1" fmla="*/ 2503 w 2691"/>
              <a:gd name="p0y1" fmla="*/ 0 h 375"/>
              <a:gd name="p0x2" fmla="*/ 2607 w 2691"/>
              <a:gd name="p0y2" fmla="*/ 0 h 375"/>
              <a:gd name="p0x3" fmla="*/ 2691 w 2691"/>
              <a:gd name="p0y3" fmla="*/ 83 h 375"/>
              <a:gd name="p0x4" fmla="*/ 2691 w 2691"/>
              <a:gd name="p0y4" fmla="*/ 187 h 375"/>
              <a:gd name="p0x5" fmla="*/ 2691 w 2691"/>
              <a:gd name="p0y5" fmla="*/ 291 h 375"/>
              <a:gd name="p0x6" fmla="*/ 2607 w 2691"/>
              <a:gd name="p0y6" fmla="*/ 375 h 375"/>
              <a:gd name="p0x7" fmla="*/ 2503 w 2691"/>
              <a:gd name="p0y7" fmla="*/ 375 h 375"/>
              <a:gd name="p0x8" fmla="*/ 187 w 2691"/>
              <a:gd name="p0y8" fmla="*/ 375 h 375"/>
              <a:gd name="p0x9" fmla="*/ 83 w 2691"/>
              <a:gd name="p0y9" fmla="*/ 375 h 375"/>
              <a:gd name="p0x10" fmla="*/ 0 w 2691"/>
              <a:gd name="p0y10" fmla="*/ 291 h 375"/>
              <a:gd name="p0x11" fmla="*/ 0 w 2691"/>
              <a:gd name="p0y11" fmla="*/ 187 h 375"/>
              <a:gd name="p0x12" fmla="*/ 0 w 2691"/>
              <a:gd name="p0y12" fmla="*/ 83 h 375"/>
              <a:gd name="p0x13" fmla="*/ 83 w 2691"/>
              <a:gd name="p0y13" fmla="*/ 0 h 375"/>
              <a:gd name="p0x14" fmla="*/ 187 w 2691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 w="9525" cmpd="sng">
            <a:solidFill>
              <a:schemeClr val="accent1">
                <a:lumMod val="18051"/>
                <a:lumOff val="81949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9825933" y="3038980"/>
            <a:ext cx="1623117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00">
                <a:solidFill>
                  <a:srgbClr val="0A4A7A"/>
                </a:solidFill>
                <a:cs typeface="+mn-lt"/>
              </a:rPr>
              <a:t>因果之梯</a:t>
            </a:r>
            <a:r>
              <a:rPr lang="en-US" altLang="zh-CN" sz="1200">
                <a:solidFill>
                  <a:srgbClr val="0A4A7A"/>
                </a:solidFill>
                <a:cs typeface="+mn-lt"/>
              </a:rPr>
              <a:t> · </a:t>
            </a:r>
            <a:r>
              <a:rPr lang="zh-CN" altLang="en-US" sz="1200">
                <a:solidFill>
                  <a:srgbClr val="0A4A7A"/>
                </a:solidFill>
                <a:cs typeface="+mn-lt"/>
              </a:rPr>
              <a:t>三级台阶</a:t>
            </a:r>
            <a:endParaRPr lang="zh-CN" altLang="en-US" sz="1200">
              <a:solidFill>
                <a:srgbClr val="0A4A7A"/>
              </a:solidFill>
              <a:cs typeface="+mn-lt"/>
            </a:endParaRPr>
          </a:p>
        </p:txBody>
      </p:sp>
      <p:sp>
        <p:nvSpPr>
          <p:cNvPr id="13" name="任意多边形 12"/>
          <p:cNvSpPr/>
          <p:nvPr>
            <p:custDataLst>
              <p:tags r:id="rId10"/>
            </p:custDataLst>
          </p:nvPr>
        </p:nvSpPr>
        <p:spPr>
          <a:xfrm>
            <a:off x="571500" y="3692525"/>
            <a:ext cx="1028700" cy="851535"/>
          </a:xfrm>
          <a:custGeom>
            <a:avLst/>
            <a:gdLst>
              <a:gd name="sw" fmla="*/ 1 w 1620"/>
              <a:gd name="sh" fmla="*/ 1 h 1341"/>
              <a:gd name="mins" fmla="min sw sh"/>
              <a:gd name="dsw" fmla="+- 0 sw mins"/>
              <a:gd name="dsh" fmla="+- 0 sh mins"/>
              <a:gd name="p0x0" fmla="*/ 180 w 1620"/>
              <a:gd name="p0y0" fmla="*/ 0 h 1341"/>
              <a:gd name="p0x1" fmla="*/ 1410 w 1620"/>
              <a:gd name="p0y1" fmla="*/ 0 h 1341"/>
              <a:gd name="p0x2" fmla="*/ 1620 w 1620"/>
              <a:gd name="p0y2" fmla="*/ 670 h 1341"/>
              <a:gd name="p0x3" fmla="*/ 1410 w 1620"/>
              <a:gd name="p0y3" fmla="*/ 1341 h 1341"/>
              <a:gd name="p0x4" fmla="*/ 179 w 1620"/>
              <a:gd name="p0y4" fmla="*/ 1341 h 1341"/>
              <a:gd name="p0x5" fmla="*/ 175 w 1620"/>
              <a:gd name="p0y5" fmla="*/ 1341 h 1341"/>
              <a:gd name="p0x6" fmla="*/ 170 w 1620"/>
              <a:gd name="p0y6" fmla="*/ 1341 h 1341"/>
              <a:gd name="p0x7" fmla="*/ 165 w 1620"/>
              <a:gd name="p0y7" fmla="*/ 1340 h 1341"/>
              <a:gd name="p0x8" fmla="*/ 161 w 1620"/>
              <a:gd name="p0y8" fmla="*/ 1340 h 1341"/>
              <a:gd name="p0x9" fmla="*/ 156 w 1620"/>
              <a:gd name="p0y9" fmla="*/ 1339 h 1341"/>
              <a:gd name="p0x10" fmla="*/ 152 w 1620"/>
              <a:gd name="p0y10" fmla="*/ 1339 h 1341"/>
              <a:gd name="p0x11" fmla="*/ 147 w 1620"/>
              <a:gd name="p0y11" fmla="*/ 1338 h 1341"/>
              <a:gd name="p0x12" fmla="*/ 143 w 1620"/>
              <a:gd name="p0y12" fmla="*/ 1337 h 1341"/>
              <a:gd name="p0x13" fmla="*/ 138 w 1620"/>
              <a:gd name="p0y13" fmla="*/ 1336 h 1341"/>
              <a:gd name="p0x14" fmla="*/ 134 w 1620"/>
              <a:gd name="p0y14" fmla="*/ 1335 h 1341"/>
              <a:gd name="p0x15" fmla="*/ 129 w 1620"/>
              <a:gd name="p0y15" fmla="*/ 1334 h 1341"/>
              <a:gd name="p0x16" fmla="*/ 125 w 1620"/>
              <a:gd name="p0y16" fmla="*/ 1333 h 1341"/>
              <a:gd name="p0x17" fmla="*/ 121 w 1620"/>
              <a:gd name="p0y17" fmla="*/ 1331 h 1341"/>
              <a:gd name="p0x18" fmla="*/ 117 w 1620"/>
              <a:gd name="p0y18" fmla="*/ 1330 h 1341"/>
              <a:gd name="p0x19" fmla="*/ 113 w 1620"/>
              <a:gd name="p0y19" fmla="*/ 1328 h 1341"/>
              <a:gd name="p0x20" fmla="*/ 108 w 1620"/>
              <a:gd name="p0y20" fmla="*/ 1326 h 1341"/>
              <a:gd name="p0x21" fmla="*/ 104 w 1620"/>
              <a:gd name="p0y21" fmla="*/ 1325 h 1341"/>
              <a:gd name="p0x22" fmla="*/ 100 w 1620"/>
              <a:gd name="p0y22" fmla="*/ 1323 h 1341"/>
              <a:gd name="p0x23" fmla="*/ 96 w 1620"/>
              <a:gd name="p0y23" fmla="*/ 1321 h 1341"/>
              <a:gd name="p0x24" fmla="*/ 92 w 1620"/>
              <a:gd name="p0y24" fmla="*/ 1319 h 1341"/>
              <a:gd name="p0x25" fmla="*/ 89 w 1620"/>
              <a:gd name="p0y25" fmla="*/ 1316 h 1341"/>
              <a:gd name="p0x26" fmla="*/ 85 w 1620"/>
              <a:gd name="p0y26" fmla="*/ 1314 h 1341"/>
              <a:gd name="p0x27" fmla="*/ 81 w 1620"/>
              <a:gd name="p0y27" fmla="*/ 1312 h 1341"/>
              <a:gd name="p0x28" fmla="*/ 77 w 1620"/>
              <a:gd name="p0y28" fmla="*/ 1309 h 1341"/>
              <a:gd name="p0x29" fmla="*/ 74 w 1620"/>
              <a:gd name="p0y29" fmla="*/ 1307 h 1341"/>
              <a:gd name="p0x30" fmla="*/ 70 w 1620"/>
              <a:gd name="p0y30" fmla="*/ 1304 h 1341"/>
              <a:gd name="p0x31" fmla="*/ 67 w 1620"/>
              <a:gd name="p0y31" fmla="*/ 1301 h 1341"/>
              <a:gd name="p0x32" fmla="*/ 64 w 1620"/>
              <a:gd name="p0y32" fmla="*/ 1299 h 1341"/>
              <a:gd name="p0x33" fmla="*/ 60 w 1620"/>
              <a:gd name="p0y33" fmla="*/ 1296 h 1341"/>
              <a:gd name="p0x34" fmla="*/ 57 w 1620"/>
              <a:gd name="p0y34" fmla="*/ 1293 h 1341"/>
              <a:gd name="p0x35" fmla="*/ 54 w 1620"/>
              <a:gd name="p0y35" fmla="*/ 1290 h 1341"/>
              <a:gd name="p0x36" fmla="*/ 51 w 1620"/>
              <a:gd name="p0y36" fmla="*/ 1287 h 1341"/>
              <a:gd name="p0x37" fmla="*/ 48 w 1620"/>
              <a:gd name="p0y37" fmla="*/ 1283 h 1341"/>
              <a:gd name="p0x38" fmla="*/ 45 w 1620"/>
              <a:gd name="p0y38" fmla="*/ 1280 h 1341"/>
              <a:gd name="p0x39" fmla="*/ 42 w 1620"/>
              <a:gd name="p0y39" fmla="*/ 1277 h 1341"/>
              <a:gd name="p0x40" fmla="*/ 39 w 1620"/>
              <a:gd name="p0y40" fmla="*/ 1274 h 1341"/>
              <a:gd name="p0x41" fmla="*/ 36 w 1620"/>
              <a:gd name="p0y41" fmla="*/ 1270 h 1341"/>
              <a:gd name="p0x42" fmla="*/ 34 w 1620"/>
              <a:gd name="p0y42" fmla="*/ 1267 h 1341"/>
              <a:gd name="p0x43" fmla="*/ 31 w 1620"/>
              <a:gd name="p0y43" fmla="*/ 1263 h 1341"/>
              <a:gd name="p0x44" fmla="*/ 29 w 1620"/>
              <a:gd name="p0y44" fmla="*/ 1259 h 1341"/>
              <a:gd name="p0x45" fmla="*/ 26 w 1620"/>
              <a:gd name="p0y45" fmla="*/ 1256 h 1341"/>
              <a:gd name="p0x46" fmla="*/ 24 w 1620"/>
              <a:gd name="p0y46" fmla="*/ 1252 h 1341"/>
              <a:gd name="p0x47" fmla="*/ 22 w 1620"/>
              <a:gd name="p0y47" fmla="*/ 1248 h 1341"/>
              <a:gd name="p0x48" fmla="*/ 20 w 1620"/>
              <a:gd name="p0y48" fmla="*/ 1244 h 1341"/>
              <a:gd name="p0x49" fmla="*/ 18 w 1620"/>
              <a:gd name="p0y49" fmla="*/ 1240 h 1341"/>
              <a:gd name="p0x50" fmla="*/ 16 w 1620"/>
              <a:gd name="p0y50" fmla="*/ 1236 h 1341"/>
              <a:gd name="p0x51" fmla="*/ 14 w 1620"/>
              <a:gd name="p0y51" fmla="*/ 1232 h 1341"/>
              <a:gd name="p0x52" fmla="*/ 12 w 1620"/>
              <a:gd name="p0y52" fmla="*/ 1228 h 1341"/>
              <a:gd name="p0x53" fmla="*/ 11 w 1620"/>
              <a:gd name="p0y53" fmla="*/ 1224 h 1341"/>
              <a:gd name="p0x54" fmla="*/ 9 w 1620"/>
              <a:gd name="p0y54" fmla="*/ 1220 h 1341"/>
              <a:gd name="p0x55" fmla="*/ 8 w 1620"/>
              <a:gd name="p0y55" fmla="*/ 1215 h 1341"/>
              <a:gd name="p0x56" fmla="*/ 7 w 1620"/>
              <a:gd name="p0y56" fmla="*/ 1211 h 1341"/>
              <a:gd name="p0x57" fmla="*/ 5 w 1620"/>
              <a:gd name="p0y57" fmla="*/ 1207 h 1341"/>
              <a:gd name="p0x58" fmla="*/ 4 w 1620"/>
              <a:gd name="p0y58" fmla="*/ 1202 h 1341"/>
              <a:gd name="p0x59" fmla="*/ 3 w 1620"/>
              <a:gd name="p0y59" fmla="*/ 1198 h 1341"/>
              <a:gd name="p0x60" fmla="*/ 2 w 1620"/>
              <a:gd name="p0y60" fmla="*/ 1193 h 1341"/>
              <a:gd name="p0x61" fmla="*/ 2 w 1620"/>
              <a:gd name="p0y61" fmla="*/ 1189 h 1341"/>
              <a:gd name="p0x62" fmla="*/ 1 w 1620"/>
              <a:gd name="p0y62" fmla="*/ 1184 h 1341"/>
              <a:gd name="p0x63" fmla="*/ 0 w 1620"/>
              <a:gd name="p0y63" fmla="*/ 1180 h 1341"/>
              <a:gd name="p0x64" fmla="*/ 0 w 1620"/>
              <a:gd name="p0y64" fmla="*/ 1175 h 1341"/>
              <a:gd name="p0x65" fmla="*/ 0 w 1620"/>
              <a:gd name="p0y65" fmla="*/ 1170 h 1341"/>
              <a:gd name="p0x66" fmla="*/ 0 w 1620"/>
              <a:gd name="p0y66" fmla="*/ 1166 h 1341"/>
              <a:gd name="p0x67" fmla="*/ 0 w 1620"/>
              <a:gd name="p0y67" fmla="*/ 1161 h 1341"/>
              <a:gd name="p0x68" fmla="*/ 0 w 1620"/>
              <a:gd name="p0y68" fmla="*/ 180 h 1341"/>
              <a:gd name="p0x69" fmla="*/ 0 w 1620"/>
              <a:gd name="p0y69" fmla="*/ 175 h 1341"/>
              <a:gd name="p0x70" fmla="*/ 0 w 1620"/>
              <a:gd name="p0y70" fmla="*/ 170 h 1341"/>
              <a:gd name="p0x71" fmla="*/ 0 w 1620"/>
              <a:gd name="p0y71" fmla="*/ 165 h 1341"/>
              <a:gd name="p0x72" fmla="*/ 0 w 1620"/>
              <a:gd name="p0y72" fmla="*/ 161 h 1341"/>
              <a:gd name="p0x73" fmla="*/ 1 w 1620"/>
              <a:gd name="p0y73" fmla="*/ 156 h 1341"/>
              <a:gd name="p0x74" fmla="*/ 2 w 1620"/>
              <a:gd name="p0y74" fmla="*/ 152 h 1341"/>
              <a:gd name="p0x75" fmla="*/ 2 w 1620"/>
              <a:gd name="p0y75" fmla="*/ 147 h 1341"/>
              <a:gd name="p0x76" fmla="*/ 3 w 1620"/>
              <a:gd name="p0y76" fmla="*/ 143 h 1341"/>
              <a:gd name="p0x77" fmla="*/ 4 w 1620"/>
              <a:gd name="p0y77" fmla="*/ 138 h 1341"/>
              <a:gd name="p0x78" fmla="*/ 5 w 1620"/>
              <a:gd name="p0y78" fmla="*/ 134 h 1341"/>
              <a:gd name="p0x79" fmla="*/ 7 w 1620"/>
              <a:gd name="p0y79" fmla="*/ 129 h 1341"/>
              <a:gd name="p0x80" fmla="*/ 8 w 1620"/>
              <a:gd name="p0y80" fmla="*/ 125 h 1341"/>
              <a:gd name="p0x81" fmla="*/ 9 w 1620"/>
              <a:gd name="p0y81" fmla="*/ 121 h 1341"/>
              <a:gd name="p0x82" fmla="*/ 11 w 1620"/>
              <a:gd name="p0y82" fmla="*/ 117 h 1341"/>
              <a:gd name="p0x83" fmla="*/ 12 w 1620"/>
              <a:gd name="p0y83" fmla="*/ 113 h 1341"/>
              <a:gd name="p0x84" fmla="*/ 14 w 1620"/>
              <a:gd name="p0y84" fmla="*/ 108 h 1341"/>
              <a:gd name="p0x85" fmla="*/ 16 w 1620"/>
              <a:gd name="p0y85" fmla="*/ 104 h 1341"/>
              <a:gd name="p0x86" fmla="*/ 18 w 1620"/>
              <a:gd name="p0y86" fmla="*/ 100 h 1341"/>
              <a:gd name="p0x87" fmla="*/ 20 w 1620"/>
              <a:gd name="p0y87" fmla="*/ 96 h 1341"/>
              <a:gd name="p0x88" fmla="*/ 22 w 1620"/>
              <a:gd name="p0y88" fmla="*/ 92 h 1341"/>
              <a:gd name="p0x89" fmla="*/ 24 w 1620"/>
              <a:gd name="p0y89" fmla="*/ 89 h 1341"/>
              <a:gd name="p0x90" fmla="*/ 26 w 1620"/>
              <a:gd name="p0y90" fmla="*/ 85 h 1341"/>
              <a:gd name="p0x91" fmla="*/ 29 w 1620"/>
              <a:gd name="p0y91" fmla="*/ 81 h 1341"/>
              <a:gd name="p0x92" fmla="*/ 31 w 1620"/>
              <a:gd name="p0y92" fmla="*/ 77 h 1341"/>
              <a:gd name="p0x93" fmla="*/ 34 w 1620"/>
              <a:gd name="p0y93" fmla="*/ 74 h 1341"/>
              <a:gd name="p0x94" fmla="*/ 36 w 1620"/>
              <a:gd name="p0y94" fmla="*/ 70 h 1341"/>
              <a:gd name="p0x95" fmla="*/ 39 w 1620"/>
              <a:gd name="p0y95" fmla="*/ 67 h 1341"/>
              <a:gd name="p0x96" fmla="*/ 42 w 1620"/>
              <a:gd name="p0y96" fmla="*/ 64 h 1341"/>
              <a:gd name="p0x97" fmla="*/ 45 w 1620"/>
              <a:gd name="p0y97" fmla="*/ 60 h 1341"/>
              <a:gd name="p0x98" fmla="*/ 48 w 1620"/>
              <a:gd name="p0y98" fmla="*/ 57 h 1341"/>
              <a:gd name="p0x99" fmla="*/ 51 w 1620"/>
              <a:gd name="p0y99" fmla="*/ 54 h 1341"/>
              <a:gd name="p0x100" fmla="*/ 54 w 1620"/>
              <a:gd name="p0y100" fmla="*/ 51 h 1341"/>
              <a:gd name="p0x101" fmla="*/ 57 w 1620"/>
              <a:gd name="p0y101" fmla="*/ 48 h 1341"/>
              <a:gd name="p0x102" fmla="*/ 60 w 1620"/>
              <a:gd name="p0y102" fmla="*/ 45 h 1341"/>
              <a:gd name="p0x103" fmla="*/ 64 w 1620"/>
              <a:gd name="p0y103" fmla="*/ 42 h 1341"/>
              <a:gd name="p0x104" fmla="*/ 67 w 1620"/>
              <a:gd name="p0y104" fmla="*/ 39 h 1341"/>
              <a:gd name="p0x105" fmla="*/ 70 w 1620"/>
              <a:gd name="p0y105" fmla="*/ 36 h 1341"/>
              <a:gd name="p0x106" fmla="*/ 74 w 1620"/>
              <a:gd name="p0y106" fmla="*/ 34 h 1341"/>
              <a:gd name="p0x107" fmla="*/ 77 w 1620"/>
              <a:gd name="p0y107" fmla="*/ 31 h 1341"/>
              <a:gd name="p0x108" fmla="*/ 81 w 1620"/>
              <a:gd name="p0y108" fmla="*/ 29 h 1341"/>
              <a:gd name="p0x109" fmla="*/ 85 w 1620"/>
              <a:gd name="p0y109" fmla="*/ 26 h 1341"/>
              <a:gd name="p0x110" fmla="*/ 89 w 1620"/>
              <a:gd name="p0y110" fmla="*/ 24 h 1341"/>
              <a:gd name="p0x111" fmla="*/ 92 w 1620"/>
              <a:gd name="p0y111" fmla="*/ 22 h 1341"/>
              <a:gd name="p0x112" fmla="*/ 96 w 1620"/>
              <a:gd name="p0y112" fmla="*/ 20 h 1341"/>
              <a:gd name="p0x113" fmla="*/ 100 w 1620"/>
              <a:gd name="p0y113" fmla="*/ 18 h 1341"/>
              <a:gd name="p0x114" fmla="*/ 104 w 1620"/>
              <a:gd name="p0y114" fmla="*/ 16 h 1341"/>
              <a:gd name="p0x115" fmla="*/ 108 w 1620"/>
              <a:gd name="p0y115" fmla="*/ 14 h 1341"/>
              <a:gd name="p0x116" fmla="*/ 113 w 1620"/>
              <a:gd name="p0y116" fmla="*/ 12 h 1341"/>
              <a:gd name="p0x117" fmla="*/ 117 w 1620"/>
              <a:gd name="p0y117" fmla="*/ 11 h 1341"/>
              <a:gd name="p0x118" fmla="*/ 121 w 1620"/>
              <a:gd name="p0y118" fmla="*/ 9 h 1341"/>
              <a:gd name="p0x119" fmla="*/ 125 w 1620"/>
              <a:gd name="p0y119" fmla="*/ 8 h 1341"/>
              <a:gd name="p0x120" fmla="*/ 129 w 1620"/>
              <a:gd name="p0y120" fmla="*/ 7 h 1341"/>
              <a:gd name="p0x121" fmla="*/ 134 w 1620"/>
              <a:gd name="p0y121" fmla="*/ 5 h 1341"/>
              <a:gd name="p0x122" fmla="*/ 138 w 1620"/>
              <a:gd name="p0y122" fmla="*/ 4 h 1341"/>
              <a:gd name="p0x123" fmla="*/ 143 w 1620"/>
              <a:gd name="p0y123" fmla="*/ 3 h 1341"/>
              <a:gd name="p0x124" fmla="*/ 147 w 1620"/>
              <a:gd name="p0y124" fmla="*/ 2 h 1341"/>
              <a:gd name="p0x125" fmla="*/ 152 w 1620"/>
              <a:gd name="p0y125" fmla="*/ 2 h 1341"/>
              <a:gd name="p0x126" fmla="*/ 156 w 1620"/>
              <a:gd name="p0y126" fmla="*/ 1 h 1341"/>
              <a:gd name="p0x127" fmla="*/ 161 w 1620"/>
              <a:gd name="p0y127" fmla="*/ 0 h 1341"/>
              <a:gd name="p0x128" fmla="*/ 165 w 1620"/>
              <a:gd name="p0y128" fmla="*/ 0 h 1341"/>
              <a:gd name="p0x129" fmla="*/ 170 w 1620"/>
              <a:gd name="p0y129" fmla="*/ 0 h 1341"/>
              <a:gd name="p0x130" fmla="*/ 175 w 1620"/>
              <a:gd name="p0y130" fmla="*/ 0 h 1341"/>
              <a:gd name="p0x131" fmla="*/ 180 w 1620"/>
              <a:gd name="p0y131" fmla="*/ 0 h 13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lnTo>
                  <a:pt x="p0x128" y="p0y128"/>
                </a:lnTo>
                <a:lnTo>
                  <a:pt x="p0x129" y="p0y129"/>
                </a:lnTo>
                <a:lnTo>
                  <a:pt x="p0x130" y="p0y130"/>
                </a:lnTo>
                <a:lnTo>
                  <a:pt x="p0x131" y="p0y13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807091" y="3904431"/>
            <a:ext cx="55743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 spc="63">
                <a:solidFill>
                  <a:srgbClr val="FFFFFF"/>
                </a:solidFill>
                <a:cs typeface="+mn-lt"/>
              </a:rPr>
              <a:t>第一层</a:t>
            </a:r>
            <a:endParaRPr sz="1050" spc="63">
              <a:solidFill>
                <a:srgbClr val="FFFFFF"/>
              </a:solidFill>
              <a:cs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800100" y="4080643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cs typeface="+mn-lt"/>
              </a:rPr>
              <a:t>关联</a:t>
            </a:r>
            <a:endParaRPr sz="15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6" name="任意多边形 15"/>
          <p:cNvSpPr/>
          <p:nvPr>
            <p:custDataLst>
              <p:tags r:id="rId13"/>
            </p:custDataLst>
          </p:nvPr>
        </p:nvSpPr>
        <p:spPr>
          <a:xfrm>
            <a:off x="1718945" y="3697605"/>
            <a:ext cx="9896475" cy="842010"/>
          </a:xfrm>
          <a:custGeom>
            <a:avLst/>
            <a:gdLst>
              <a:gd name="sw" fmla="*/ 1 w 15585"/>
              <a:gd name="sh" fmla="*/ 1 h 1326"/>
              <a:gd name="mins" fmla="min sw sh"/>
              <a:gd name="dsw" fmla="+- 0 sw mins"/>
              <a:gd name="dsh" fmla="+- 0 sh mins"/>
              <a:gd name="p0x0" fmla="*/ 180 w 15585"/>
              <a:gd name="p0y0" fmla="*/ 0 h 1326"/>
              <a:gd name="p0x1" fmla="*/ 15405 w 15585"/>
              <a:gd name="p0y1" fmla="*/ 0 h 1326"/>
              <a:gd name="p0x2" fmla="*/ 15504 w 15585"/>
              <a:gd name="p0y2" fmla="*/ 0 h 1326"/>
              <a:gd name="p0x3" fmla="*/ 15585 w 15585"/>
              <a:gd name="p0y3" fmla="*/ 80 h 1326"/>
              <a:gd name="p0x4" fmla="*/ 15585 w 15585"/>
              <a:gd name="p0y4" fmla="*/ 180 h 1326"/>
              <a:gd name="p0x5" fmla="*/ 15585 w 15585"/>
              <a:gd name="p0y5" fmla="*/ 1146 h 1326"/>
              <a:gd name="p0x6" fmla="*/ 15585 w 15585"/>
              <a:gd name="p0y6" fmla="*/ 1245 h 1326"/>
              <a:gd name="p0x7" fmla="*/ 15504 w 15585"/>
              <a:gd name="p0y7" fmla="*/ 1326 h 1326"/>
              <a:gd name="p0x8" fmla="*/ 15405 w 15585"/>
              <a:gd name="p0y8" fmla="*/ 1326 h 1326"/>
              <a:gd name="p0x9" fmla="*/ 180 w 15585"/>
              <a:gd name="p0y9" fmla="*/ 1326 h 1326"/>
              <a:gd name="p0x10" fmla="*/ 80 w 15585"/>
              <a:gd name="p0y10" fmla="*/ 1326 h 1326"/>
              <a:gd name="p0x11" fmla="*/ 0 w 15585"/>
              <a:gd name="p0y11" fmla="*/ 1245 h 1326"/>
              <a:gd name="p0x12" fmla="*/ 0 w 15585"/>
              <a:gd name="p0y12" fmla="*/ 1146 h 1326"/>
              <a:gd name="p0x13" fmla="*/ 0 w 15585"/>
              <a:gd name="p0y13" fmla="*/ 180 h 1326"/>
              <a:gd name="p0x14" fmla="*/ 0 w 15585"/>
              <a:gd name="p0y14" fmla="*/ 80 h 1326"/>
              <a:gd name="p0x15" fmla="*/ 80 w 15585"/>
              <a:gd name="p0y15" fmla="*/ 0 h 1326"/>
              <a:gd name="p0x16" fmla="*/ 180 w 15585"/>
              <a:gd name="p0y16" fmla="*/ 0 h 13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4"/>
            </p:custDataLst>
          </p:nvPr>
        </p:nvSpPr>
        <p:spPr>
          <a:xfrm>
            <a:off x="1914525" y="3811270"/>
            <a:ext cx="0" cy="300355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2dx" fmla="*/ dsw 153000 1"/>
              <a:gd name="p0a2dy" fmla="*/ dsh -143509 1"/>
              <a:gd name="p0a1dx" fmla="*/ dsw -146970 1"/>
              <a:gd name="p0a1dy" fmla="*/ dsh -143509 1"/>
              <a:gd name="p0a0dx" fmla="*/ dsw -146970 1"/>
              <a:gd name="p0a0dy" fmla="*/ dsh 155987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1914525" y="3805999"/>
            <a:ext cx="685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D3E5E"/>
                </a:solidFill>
                <a:latin typeface="MiSans Demibold" panose="00000700000000000000" charset="-122"/>
                <a:ea typeface="MiSans Demibold" panose="00000700000000000000" charset="-122"/>
              </a:rPr>
              <a:t>看见</a:t>
            </a:r>
            <a:endParaRPr b="1">
              <a:solidFill>
                <a:srgbClr val="1D3E5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1914525" y="4135336"/>
            <a:ext cx="183832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b="1">
                <a:solidFill>
                  <a:schemeClr val="tx2"/>
                </a:solidFill>
                <a:cs typeface="+mn-lt"/>
              </a:rPr>
              <a:t>监督学习</a:t>
            </a:r>
            <a:r>
              <a:rPr lang="en-US" altLang="zh-CN" sz="1500" b="1">
                <a:solidFill>
                  <a:schemeClr val="tx2"/>
                </a:solidFill>
                <a:cs typeface="+mn-lt"/>
              </a:rPr>
              <a:t> → </a:t>
            </a:r>
            <a:r>
              <a:rPr lang="zh-CN" altLang="en-US" sz="1500" b="1">
                <a:solidFill>
                  <a:schemeClr val="tx2"/>
                </a:solidFill>
                <a:cs typeface="+mn-lt"/>
              </a:rPr>
              <a:t>第一层</a:t>
            </a:r>
            <a:endParaRPr lang="zh-CN" altLang="en-US"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0" name="任意多边形 19"/>
          <p:cNvSpPr/>
          <p:nvPr>
            <p:custDataLst>
              <p:tags r:id="rId17"/>
            </p:custDataLst>
          </p:nvPr>
        </p:nvSpPr>
        <p:spPr>
          <a:xfrm>
            <a:off x="571500" y="4658360"/>
            <a:ext cx="1028700" cy="851818"/>
          </a:xfrm>
          <a:custGeom>
            <a:avLst/>
            <a:gdLst>
              <a:gd name="sw" fmla="*/ 1 w 1620"/>
              <a:gd name="sh" fmla="*/ 1 h 1341"/>
              <a:gd name="mins" fmla="min sw sh"/>
              <a:gd name="dsw" fmla="+- 0 sw mins"/>
              <a:gd name="dsh" fmla="+- 0 sh mins"/>
              <a:gd name="p0x0" fmla="*/ 180 w 1620"/>
              <a:gd name="p0y0" fmla="*/ 0 h 1341"/>
              <a:gd name="p0x1" fmla="*/ 1410 w 1620"/>
              <a:gd name="p0y1" fmla="*/ 0 h 1341"/>
              <a:gd name="p0x2" fmla="*/ 1620 w 1620"/>
              <a:gd name="p0y2" fmla="*/ 670 h 1341"/>
              <a:gd name="p0x3" fmla="*/ 1410 w 1620"/>
              <a:gd name="p0y3" fmla="*/ 1341 h 1341"/>
              <a:gd name="p0x4" fmla="*/ 179 w 1620"/>
              <a:gd name="p0y4" fmla="*/ 1341 h 1341"/>
              <a:gd name="p0x5" fmla="*/ 175 w 1620"/>
              <a:gd name="p0y5" fmla="*/ 1341 h 1341"/>
              <a:gd name="p0x6" fmla="*/ 170 w 1620"/>
              <a:gd name="p0y6" fmla="*/ 1341 h 1341"/>
              <a:gd name="p0x7" fmla="*/ 165 w 1620"/>
              <a:gd name="p0y7" fmla="*/ 1340 h 1341"/>
              <a:gd name="p0x8" fmla="*/ 161 w 1620"/>
              <a:gd name="p0y8" fmla="*/ 1340 h 1341"/>
              <a:gd name="p0x9" fmla="*/ 156 w 1620"/>
              <a:gd name="p0y9" fmla="*/ 1339 h 1341"/>
              <a:gd name="p0x10" fmla="*/ 152 w 1620"/>
              <a:gd name="p0y10" fmla="*/ 1339 h 1341"/>
              <a:gd name="p0x11" fmla="*/ 147 w 1620"/>
              <a:gd name="p0y11" fmla="*/ 1338 h 1341"/>
              <a:gd name="p0x12" fmla="*/ 143 w 1620"/>
              <a:gd name="p0y12" fmla="*/ 1337 h 1341"/>
              <a:gd name="p0x13" fmla="*/ 138 w 1620"/>
              <a:gd name="p0y13" fmla="*/ 1336 h 1341"/>
              <a:gd name="p0x14" fmla="*/ 134 w 1620"/>
              <a:gd name="p0y14" fmla="*/ 1335 h 1341"/>
              <a:gd name="p0x15" fmla="*/ 129 w 1620"/>
              <a:gd name="p0y15" fmla="*/ 1334 h 1341"/>
              <a:gd name="p0x16" fmla="*/ 125 w 1620"/>
              <a:gd name="p0y16" fmla="*/ 1333 h 1341"/>
              <a:gd name="p0x17" fmla="*/ 121 w 1620"/>
              <a:gd name="p0y17" fmla="*/ 1331 h 1341"/>
              <a:gd name="p0x18" fmla="*/ 117 w 1620"/>
              <a:gd name="p0y18" fmla="*/ 1330 h 1341"/>
              <a:gd name="p0x19" fmla="*/ 113 w 1620"/>
              <a:gd name="p0y19" fmla="*/ 1328 h 1341"/>
              <a:gd name="p0x20" fmla="*/ 108 w 1620"/>
              <a:gd name="p0y20" fmla="*/ 1326 h 1341"/>
              <a:gd name="p0x21" fmla="*/ 104 w 1620"/>
              <a:gd name="p0y21" fmla="*/ 1325 h 1341"/>
              <a:gd name="p0x22" fmla="*/ 100 w 1620"/>
              <a:gd name="p0y22" fmla="*/ 1323 h 1341"/>
              <a:gd name="p0x23" fmla="*/ 96 w 1620"/>
              <a:gd name="p0y23" fmla="*/ 1321 h 1341"/>
              <a:gd name="p0x24" fmla="*/ 92 w 1620"/>
              <a:gd name="p0y24" fmla="*/ 1319 h 1341"/>
              <a:gd name="p0x25" fmla="*/ 89 w 1620"/>
              <a:gd name="p0y25" fmla="*/ 1316 h 1341"/>
              <a:gd name="p0x26" fmla="*/ 85 w 1620"/>
              <a:gd name="p0y26" fmla="*/ 1314 h 1341"/>
              <a:gd name="p0x27" fmla="*/ 81 w 1620"/>
              <a:gd name="p0y27" fmla="*/ 1312 h 1341"/>
              <a:gd name="p0x28" fmla="*/ 77 w 1620"/>
              <a:gd name="p0y28" fmla="*/ 1309 h 1341"/>
              <a:gd name="p0x29" fmla="*/ 74 w 1620"/>
              <a:gd name="p0y29" fmla="*/ 1307 h 1341"/>
              <a:gd name="p0x30" fmla="*/ 70 w 1620"/>
              <a:gd name="p0y30" fmla="*/ 1304 h 1341"/>
              <a:gd name="p0x31" fmla="*/ 67 w 1620"/>
              <a:gd name="p0y31" fmla="*/ 1301 h 1341"/>
              <a:gd name="p0x32" fmla="*/ 64 w 1620"/>
              <a:gd name="p0y32" fmla="*/ 1299 h 1341"/>
              <a:gd name="p0x33" fmla="*/ 60 w 1620"/>
              <a:gd name="p0y33" fmla="*/ 1296 h 1341"/>
              <a:gd name="p0x34" fmla="*/ 57 w 1620"/>
              <a:gd name="p0y34" fmla="*/ 1293 h 1341"/>
              <a:gd name="p0x35" fmla="*/ 54 w 1620"/>
              <a:gd name="p0y35" fmla="*/ 1290 h 1341"/>
              <a:gd name="p0x36" fmla="*/ 51 w 1620"/>
              <a:gd name="p0y36" fmla="*/ 1287 h 1341"/>
              <a:gd name="p0x37" fmla="*/ 48 w 1620"/>
              <a:gd name="p0y37" fmla="*/ 1283 h 1341"/>
              <a:gd name="p0x38" fmla="*/ 45 w 1620"/>
              <a:gd name="p0y38" fmla="*/ 1280 h 1341"/>
              <a:gd name="p0x39" fmla="*/ 42 w 1620"/>
              <a:gd name="p0y39" fmla="*/ 1277 h 1341"/>
              <a:gd name="p0x40" fmla="*/ 39 w 1620"/>
              <a:gd name="p0y40" fmla="*/ 1274 h 1341"/>
              <a:gd name="p0x41" fmla="*/ 36 w 1620"/>
              <a:gd name="p0y41" fmla="*/ 1270 h 1341"/>
              <a:gd name="p0x42" fmla="*/ 34 w 1620"/>
              <a:gd name="p0y42" fmla="*/ 1267 h 1341"/>
              <a:gd name="p0x43" fmla="*/ 31 w 1620"/>
              <a:gd name="p0y43" fmla="*/ 1263 h 1341"/>
              <a:gd name="p0x44" fmla="*/ 29 w 1620"/>
              <a:gd name="p0y44" fmla="*/ 1259 h 1341"/>
              <a:gd name="p0x45" fmla="*/ 26 w 1620"/>
              <a:gd name="p0y45" fmla="*/ 1256 h 1341"/>
              <a:gd name="p0x46" fmla="*/ 24 w 1620"/>
              <a:gd name="p0y46" fmla="*/ 1252 h 1341"/>
              <a:gd name="p0x47" fmla="*/ 22 w 1620"/>
              <a:gd name="p0y47" fmla="*/ 1248 h 1341"/>
              <a:gd name="p0x48" fmla="*/ 20 w 1620"/>
              <a:gd name="p0y48" fmla="*/ 1244 h 1341"/>
              <a:gd name="p0x49" fmla="*/ 18 w 1620"/>
              <a:gd name="p0y49" fmla="*/ 1240 h 1341"/>
              <a:gd name="p0x50" fmla="*/ 16 w 1620"/>
              <a:gd name="p0y50" fmla="*/ 1236 h 1341"/>
              <a:gd name="p0x51" fmla="*/ 14 w 1620"/>
              <a:gd name="p0y51" fmla="*/ 1232 h 1341"/>
              <a:gd name="p0x52" fmla="*/ 12 w 1620"/>
              <a:gd name="p0y52" fmla="*/ 1228 h 1341"/>
              <a:gd name="p0x53" fmla="*/ 11 w 1620"/>
              <a:gd name="p0y53" fmla="*/ 1224 h 1341"/>
              <a:gd name="p0x54" fmla="*/ 9 w 1620"/>
              <a:gd name="p0y54" fmla="*/ 1220 h 1341"/>
              <a:gd name="p0x55" fmla="*/ 8 w 1620"/>
              <a:gd name="p0y55" fmla="*/ 1215 h 1341"/>
              <a:gd name="p0x56" fmla="*/ 7 w 1620"/>
              <a:gd name="p0y56" fmla="*/ 1211 h 1341"/>
              <a:gd name="p0x57" fmla="*/ 5 w 1620"/>
              <a:gd name="p0y57" fmla="*/ 1207 h 1341"/>
              <a:gd name="p0x58" fmla="*/ 4 w 1620"/>
              <a:gd name="p0y58" fmla="*/ 1202 h 1341"/>
              <a:gd name="p0x59" fmla="*/ 3 w 1620"/>
              <a:gd name="p0y59" fmla="*/ 1198 h 1341"/>
              <a:gd name="p0x60" fmla="*/ 2 w 1620"/>
              <a:gd name="p0y60" fmla="*/ 1193 h 1341"/>
              <a:gd name="p0x61" fmla="*/ 2 w 1620"/>
              <a:gd name="p0y61" fmla="*/ 1189 h 1341"/>
              <a:gd name="p0x62" fmla="*/ 1 w 1620"/>
              <a:gd name="p0y62" fmla="*/ 1184 h 1341"/>
              <a:gd name="p0x63" fmla="*/ 0 w 1620"/>
              <a:gd name="p0y63" fmla="*/ 1180 h 1341"/>
              <a:gd name="p0x64" fmla="*/ 0 w 1620"/>
              <a:gd name="p0y64" fmla="*/ 1175 h 1341"/>
              <a:gd name="p0x65" fmla="*/ 0 w 1620"/>
              <a:gd name="p0y65" fmla="*/ 1170 h 1341"/>
              <a:gd name="p0x66" fmla="*/ 0 w 1620"/>
              <a:gd name="p0y66" fmla="*/ 1166 h 1341"/>
              <a:gd name="p0x67" fmla="*/ 0 w 1620"/>
              <a:gd name="p0y67" fmla="*/ 1161 h 1341"/>
              <a:gd name="p0x68" fmla="*/ 0 w 1620"/>
              <a:gd name="p0y68" fmla="*/ 180 h 1341"/>
              <a:gd name="p0x69" fmla="*/ 0 w 1620"/>
              <a:gd name="p0y69" fmla="*/ 175 h 1341"/>
              <a:gd name="p0x70" fmla="*/ 0 w 1620"/>
              <a:gd name="p0y70" fmla="*/ 170 h 1341"/>
              <a:gd name="p0x71" fmla="*/ 0 w 1620"/>
              <a:gd name="p0y71" fmla="*/ 165 h 1341"/>
              <a:gd name="p0x72" fmla="*/ 0 w 1620"/>
              <a:gd name="p0y72" fmla="*/ 161 h 1341"/>
              <a:gd name="p0x73" fmla="*/ 1 w 1620"/>
              <a:gd name="p0y73" fmla="*/ 156 h 1341"/>
              <a:gd name="p0x74" fmla="*/ 2 w 1620"/>
              <a:gd name="p0y74" fmla="*/ 152 h 1341"/>
              <a:gd name="p0x75" fmla="*/ 2 w 1620"/>
              <a:gd name="p0y75" fmla="*/ 147 h 1341"/>
              <a:gd name="p0x76" fmla="*/ 3 w 1620"/>
              <a:gd name="p0y76" fmla="*/ 143 h 1341"/>
              <a:gd name="p0x77" fmla="*/ 4 w 1620"/>
              <a:gd name="p0y77" fmla="*/ 138 h 1341"/>
              <a:gd name="p0x78" fmla="*/ 5 w 1620"/>
              <a:gd name="p0y78" fmla="*/ 134 h 1341"/>
              <a:gd name="p0x79" fmla="*/ 7 w 1620"/>
              <a:gd name="p0y79" fmla="*/ 129 h 1341"/>
              <a:gd name="p0x80" fmla="*/ 8 w 1620"/>
              <a:gd name="p0y80" fmla="*/ 125 h 1341"/>
              <a:gd name="p0x81" fmla="*/ 9 w 1620"/>
              <a:gd name="p0y81" fmla="*/ 121 h 1341"/>
              <a:gd name="p0x82" fmla="*/ 11 w 1620"/>
              <a:gd name="p0y82" fmla="*/ 117 h 1341"/>
              <a:gd name="p0x83" fmla="*/ 12 w 1620"/>
              <a:gd name="p0y83" fmla="*/ 113 h 1341"/>
              <a:gd name="p0x84" fmla="*/ 14 w 1620"/>
              <a:gd name="p0y84" fmla="*/ 108 h 1341"/>
              <a:gd name="p0x85" fmla="*/ 16 w 1620"/>
              <a:gd name="p0y85" fmla="*/ 104 h 1341"/>
              <a:gd name="p0x86" fmla="*/ 18 w 1620"/>
              <a:gd name="p0y86" fmla="*/ 100 h 1341"/>
              <a:gd name="p0x87" fmla="*/ 20 w 1620"/>
              <a:gd name="p0y87" fmla="*/ 96 h 1341"/>
              <a:gd name="p0x88" fmla="*/ 22 w 1620"/>
              <a:gd name="p0y88" fmla="*/ 92 h 1341"/>
              <a:gd name="p0x89" fmla="*/ 24 w 1620"/>
              <a:gd name="p0y89" fmla="*/ 89 h 1341"/>
              <a:gd name="p0x90" fmla="*/ 26 w 1620"/>
              <a:gd name="p0y90" fmla="*/ 85 h 1341"/>
              <a:gd name="p0x91" fmla="*/ 29 w 1620"/>
              <a:gd name="p0y91" fmla="*/ 81 h 1341"/>
              <a:gd name="p0x92" fmla="*/ 31 w 1620"/>
              <a:gd name="p0y92" fmla="*/ 77 h 1341"/>
              <a:gd name="p0x93" fmla="*/ 34 w 1620"/>
              <a:gd name="p0y93" fmla="*/ 74 h 1341"/>
              <a:gd name="p0x94" fmla="*/ 36 w 1620"/>
              <a:gd name="p0y94" fmla="*/ 70 h 1341"/>
              <a:gd name="p0x95" fmla="*/ 39 w 1620"/>
              <a:gd name="p0y95" fmla="*/ 67 h 1341"/>
              <a:gd name="p0x96" fmla="*/ 42 w 1620"/>
              <a:gd name="p0y96" fmla="*/ 64 h 1341"/>
              <a:gd name="p0x97" fmla="*/ 45 w 1620"/>
              <a:gd name="p0y97" fmla="*/ 60 h 1341"/>
              <a:gd name="p0x98" fmla="*/ 48 w 1620"/>
              <a:gd name="p0y98" fmla="*/ 57 h 1341"/>
              <a:gd name="p0x99" fmla="*/ 51 w 1620"/>
              <a:gd name="p0y99" fmla="*/ 54 h 1341"/>
              <a:gd name="p0x100" fmla="*/ 54 w 1620"/>
              <a:gd name="p0y100" fmla="*/ 51 h 1341"/>
              <a:gd name="p0x101" fmla="*/ 57 w 1620"/>
              <a:gd name="p0y101" fmla="*/ 48 h 1341"/>
              <a:gd name="p0x102" fmla="*/ 60 w 1620"/>
              <a:gd name="p0y102" fmla="*/ 45 h 1341"/>
              <a:gd name="p0x103" fmla="*/ 64 w 1620"/>
              <a:gd name="p0y103" fmla="*/ 42 h 1341"/>
              <a:gd name="p0x104" fmla="*/ 67 w 1620"/>
              <a:gd name="p0y104" fmla="*/ 39 h 1341"/>
              <a:gd name="p0x105" fmla="*/ 70 w 1620"/>
              <a:gd name="p0y105" fmla="*/ 36 h 1341"/>
              <a:gd name="p0x106" fmla="*/ 74 w 1620"/>
              <a:gd name="p0y106" fmla="*/ 34 h 1341"/>
              <a:gd name="p0x107" fmla="*/ 77 w 1620"/>
              <a:gd name="p0y107" fmla="*/ 31 h 1341"/>
              <a:gd name="p0x108" fmla="*/ 81 w 1620"/>
              <a:gd name="p0y108" fmla="*/ 29 h 1341"/>
              <a:gd name="p0x109" fmla="*/ 85 w 1620"/>
              <a:gd name="p0y109" fmla="*/ 26 h 1341"/>
              <a:gd name="p0x110" fmla="*/ 89 w 1620"/>
              <a:gd name="p0y110" fmla="*/ 24 h 1341"/>
              <a:gd name="p0x111" fmla="*/ 92 w 1620"/>
              <a:gd name="p0y111" fmla="*/ 22 h 1341"/>
              <a:gd name="p0x112" fmla="*/ 96 w 1620"/>
              <a:gd name="p0y112" fmla="*/ 20 h 1341"/>
              <a:gd name="p0x113" fmla="*/ 100 w 1620"/>
              <a:gd name="p0y113" fmla="*/ 18 h 1341"/>
              <a:gd name="p0x114" fmla="*/ 104 w 1620"/>
              <a:gd name="p0y114" fmla="*/ 16 h 1341"/>
              <a:gd name="p0x115" fmla="*/ 108 w 1620"/>
              <a:gd name="p0y115" fmla="*/ 14 h 1341"/>
              <a:gd name="p0x116" fmla="*/ 113 w 1620"/>
              <a:gd name="p0y116" fmla="*/ 12 h 1341"/>
              <a:gd name="p0x117" fmla="*/ 117 w 1620"/>
              <a:gd name="p0y117" fmla="*/ 11 h 1341"/>
              <a:gd name="p0x118" fmla="*/ 121 w 1620"/>
              <a:gd name="p0y118" fmla="*/ 9 h 1341"/>
              <a:gd name="p0x119" fmla="*/ 125 w 1620"/>
              <a:gd name="p0y119" fmla="*/ 8 h 1341"/>
              <a:gd name="p0x120" fmla="*/ 129 w 1620"/>
              <a:gd name="p0y120" fmla="*/ 7 h 1341"/>
              <a:gd name="p0x121" fmla="*/ 134 w 1620"/>
              <a:gd name="p0y121" fmla="*/ 5 h 1341"/>
              <a:gd name="p0x122" fmla="*/ 138 w 1620"/>
              <a:gd name="p0y122" fmla="*/ 4 h 1341"/>
              <a:gd name="p0x123" fmla="*/ 143 w 1620"/>
              <a:gd name="p0y123" fmla="*/ 3 h 1341"/>
              <a:gd name="p0x124" fmla="*/ 147 w 1620"/>
              <a:gd name="p0y124" fmla="*/ 2 h 1341"/>
              <a:gd name="p0x125" fmla="*/ 152 w 1620"/>
              <a:gd name="p0y125" fmla="*/ 2 h 1341"/>
              <a:gd name="p0x126" fmla="*/ 156 w 1620"/>
              <a:gd name="p0y126" fmla="*/ 1 h 1341"/>
              <a:gd name="p0x127" fmla="*/ 161 w 1620"/>
              <a:gd name="p0y127" fmla="*/ 0 h 1341"/>
              <a:gd name="p0x128" fmla="*/ 165 w 1620"/>
              <a:gd name="p0y128" fmla="*/ 0 h 1341"/>
              <a:gd name="p0x129" fmla="*/ 170 w 1620"/>
              <a:gd name="p0y129" fmla="*/ 0 h 1341"/>
              <a:gd name="p0x130" fmla="*/ 175 w 1620"/>
              <a:gd name="p0y130" fmla="*/ 0 h 1341"/>
              <a:gd name="p0x131" fmla="*/ 180 w 1620"/>
              <a:gd name="p0y131" fmla="*/ 0 h 13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lnTo>
                  <a:pt x="p0x128" y="p0y128"/>
                </a:lnTo>
                <a:lnTo>
                  <a:pt x="p0x129" y="p0y129"/>
                </a:lnTo>
                <a:lnTo>
                  <a:pt x="p0x130" y="p0y130"/>
                </a:lnTo>
                <a:lnTo>
                  <a:pt x="p0x131" y="p0y13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807091" y="4870552"/>
            <a:ext cx="55743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 spc="63">
                <a:solidFill>
                  <a:srgbClr val="FFFFFF"/>
                </a:solidFill>
                <a:cs typeface="+mn-lt"/>
              </a:rPr>
              <a:t>第二层</a:t>
            </a:r>
            <a:endParaRPr sz="1050" spc="63">
              <a:solidFill>
                <a:srgbClr val="FFFFFF"/>
              </a:solidFill>
              <a:cs typeface="+mn-lt"/>
            </a:endParaRPr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800100" y="5046764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cs typeface="+mn-lt"/>
              </a:rPr>
              <a:t>干预</a:t>
            </a:r>
            <a:endParaRPr sz="15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23" name="任意多边形 22"/>
          <p:cNvSpPr/>
          <p:nvPr>
            <p:custDataLst>
              <p:tags r:id="rId20"/>
            </p:custDataLst>
          </p:nvPr>
        </p:nvSpPr>
        <p:spPr>
          <a:xfrm>
            <a:off x="1718945" y="4663440"/>
            <a:ext cx="9896475" cy="842010"/>
          </a:xfrm>
          <a:custGeom>
            <a:avLst/>
            <a:gdLst>
              <a:gd name="sw" fmla="*/ 1 w 15585"/>
              <a:gd name="sh" fmla="*/ 1 h 1326"/>
              <a:gd name="mins" fmla="min sw sh"/>
              <a:gd name="dsw" fmla="+- 0 sw mins"/>
              <a:gd name="dsh" fmla="+- 0 sh mins"/>
              <a:gd name="p0x0" fmla="*/ 180 w 15585"/>
              <a:gd name="p0y0" fmla="*/ 0 h 1326"/>
              <a:gd name="p0x1" fmla="*/ 15405 w 15585"/>
              <a:gd name="p0y1" fmla="*/ 0 h 1326"/>
              <a:gd name="p0x2" fmla="*/ 15504 w 15585"/>
              <a:gd name="p0y2" fmla="*/ 0 h 1326"/>
              <a:gd name="p0x3" fmla="*/ 15585 w 15585"/>
              <a:gd name="p0y3" fmla="*/ 80 h 1326"/>
              <a:gd name="p0x4" fmla="*/ 15585 w 15585"/>
              <a:gd name="p0y4" fmla="*/ 180 h 1326"/>
              <a:gd name="p0x5" fmla="*/ 15585 w 15585"/>
              <a:gd name="p0y5" fmla="*/ 1146 h 1326"/>
              <a:gd name="p0x6" fmla="*/ 15585 w 15585"/>
              <a:gd name="p0y6" fmla="*/ 1245 h 1326"/>
              <a:gd name="p0x7" fmla="*/ 15504 w 15585"/>
              <a:gd name="p0y7" fmla="*/ 1326 h 1326"/>
              <a:gd name="p0x8" fmla="*/ 15405 w 15585"/>
              <a:gd name="p0y8" fmla="*/ 1326 h 1326"/>
              <a:gd name="p0x9" fmla="*/ 180 w 15585"/>
              <a:gd name="p0y9" fmla="*/ 1326 h 1326"/>
              <a:gd name="p0x10" fmla="*/ 80 w 15585"/>
              <a:gd name="p0y10" fmla="*/ 1326 h 1326"/>
              <a:gd name="p0x11" fmla="*/ 0 w 15585"/>
              <a:gd name="p0y11" fmla="*/ 1245 h 1326"/>
              <a:gd name="p0x12" fmla="*/ 0 w 15585"/>
              <a:gd name="p0y12" fmla="*/ 1146 h 1326"/>
              <a:gd name="p0x13" fmla="*/ 0 w 15585"/>
              <a:gd name="p0y13" fmla="*/ 180 h 1326"/>
              <a:gd name="p0x14" fmla="*/ 0 w 15585"/>
              <a:gd name="p0y14" fmla="*/ 80 h 1326"/>
              <a:gd name="p0x15" fmla="*/ 80 w 15585"/>
              <a:gd name="p0y15" fmla="*/ 0 h 1326"/>
              <a:gd name="p0x16" fmla="*/ 180 w 15585"/>
              <a:gd name="p0y16" fmla="*/ 0 h 13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21"/>
            </p:custDataLst>
          </p:nvPr>
        </p:nvSpPr>
        <p:spPr>
          <a:xfrm>
            <a:off x="1914525" y="4777740"/>
            <a:ext cx="0" cy="299720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2dx" fmla="*/ dsw 153000 1"/>
              <a:gd name="p0a2dy" fmla="*/ dsh -141988 1"/>
              <a:gd name="p0a1dx" fmla="*/ dsw -146970 1"/>
              <a:gd name="p0a1dy" fmla="*/ dsh -141988 1"/>
              <a:gd name="p0a0dx" fmla="*/ dsw -146970 1"/>
              <a:gd name="p0a0dy" fmla="*/ dsh 157509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1914525" y="4772120"/>
            <a:ext cx="685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D3E5E"/>
                </a:solidFill>
                <a:latin typeface="MiSans Demibold" panose="00000700000000000000" charset="-122"/>
                <a:ea typeface="MiSans Demibold" panose="00000700000000000000" charset="-122"/>
              </a:rPr>
              <a:t>行动</a:t>
            </a:r>
            <a:endParaRPr b="1">
              <a:solidFill>
                <a:srgbClr val="1D3E5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3"/>
            </p:custDataLst>
          </p:nvPr>
        </p:nvSpPr>
        <p:spPr>
          <a:xfrm>
            <a:off x="1914525" y="5101457"/>
            <a:ext cx="95059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E8E"/>
                </a:solidFill>
                <a:cs typeface="+mn-lt"/>
              </a:rPr>
              <a:t>动手改变变量，观察结果是否会随之变化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27" name="任意多边形 26"/>
          <p:cNvSpPr/>
          <p:nvPr>
            <p:custDataLst>
              <p:tags r:id="rId24"/>
            </p:custDataLst>
          </p:nvPr>
        </p:nvSpPr>
        <p:spPr>
          <a:xfrm>
            <a:off x="571500" y="5624830"/>
            <a:ext cx="1028700" cy="851535"/>
          </a:xfrm>
          <a:custGeom>
            <a:avLst/>
            <a:gdLst>
              <a:gd name="sw" fmla="*/ 1 w 1620"/>
              <a:gd name="sh" fmla="*/ 1 h 1341"/>
              <a:gd name="mins" fmla="min sw sh"/>
              <a:gd name="dsw" fmla="+- 0 sw mins"/>
              <a:gd name="dsh" fmla="+- 0 sh mins"/>
              <a:gd name="p0x0" fmla="*/ 180 w 1620"/>
              <a:gd name="p0y0" fmla="*/ 0 h 1341"/>
              <a:gd name="p0x1" fmla="*/ 1410 w 1620"/>
              <a:gd name="p0y1" fmla="*/ 0 h 1341"/>
              <a:gd name="p0x2" fmla="*/ 1620 w 1620"/>
              <a:gd name="p0y2" fmla="*/ 670 h 1341"/>
              <a:gd name="p0x3" fmla="*/ 1410 w 1620"/>
              <a:gd name="p0y3" fmla="*/ 1341 h 1341"/>
              <a:gd name="p0x4" fmla="*/ 179 w 1620"/>
              <a:gd name="p0y4" fmla="*/ 1341 h 1341"/>
              <a:gd name="p0x5" fmla="*/ 175 w 1620"/>
              <a:gd name="p0y5" fmla="*/ 1341 h 1341"/>
              <a:gd name="p0x6" fmla="*/ 170 w 1620"/>
              <a:gd name="p0y6" fmla="*/ 1341 h 1341"/>
              <a:gd name="p0x7" fmla="*/ 165 w 1620"/>
              <a:gd name="p0y7" fmla="*/ 1340 h 1341"/>
              <a:gd name="p0x8" fmla="*/ 161 w 1620"/>
              <a:gd name="p0y8" fmla="*/ 1340 h 1341"/>
              <a:gd name="p0x9" fmla="*/ 156 w 1620"/>
              <a:gd name="p0y9" fmla="*/ 1339 h 1341"/>
              <a:gd name="p0x10" fmla="*/ 152 w 1620"/>
              <a:gd name="p0y10" fmla="*/ 1339 h 1341"/>
              <a:gd name="p0x11" fmla="*/ 147 w 1620"/>
              <a:gd name="p0y11" fmla="*/ 1338 h 1341"/>
              <a:gd name="p0x12" fmla="*/ 143 w 1620"/>
              <a:gd name="p0y12" fmla="*/ 1337 h 1341"/>
              <a:gd name="p0x13" fmla="*/ 138 w 1620"/>
              <a:gd name="p0y13" fmla="*/ 1336 h 1341"/>
              <a:gd name="p0x14" fmla="*/ 134 w 1620"/>
              <a:gd name="p0y14" fmla="*/ 1335 h 1341"/>
              <a:gd name="p0x15" fmla="*/ 129 w 1620"/>
              <a:gd name="p0y15" fmla="*/ 1334 h 1341"/>
              <a:gd name="p0x16" fmla="*/ 125 w 1620"/>
              <a:gd name="p0y16" fmla="*/ 1333 h 1341"/>
              <a:gd name="p0x17" fmla="*/ 121 w 1620"/>
              <a:gd name="p0y17" fmla="*/ 1331 h 1341"/>
              <a:gd name="p0x18" fmla="*/ 117 w 1620"/>
              <a:gd name="p0y18" fmla="*/ 1330 h 1341"/>
              <a:gd name="p0x19" fmla="*/ 113 w 1620"/>
              <a:gd name="p0y19" fmla="*/ 1328 h 1341"/>
              <a:gd name="p0x20" fmla="*/ 108 w 1620"/>
              <a:gd name="p0y20" fmla="*/ 1326 h 1341"/>
              <a:gd name="p0x21" fmla="*/ 104 w 1620"/>
              <a:gd name="p0y21" fmla="*/ 1325 h 1341"/>
              <a:gd name="p0x22" fmla="*/ 100 w 1620"/>
              <a:gd name="p0y22" fmla="*/ 1323 h 1341"/>
              <a:gd name="p0x23" fmla="*/ 96 w 1620"/>
              <a:gd name="p0y23" fmla="*/ 1321 h 1341"/>
              <a:gd name="p0x24" fmla="*/ 92 w 1620"/>
              <a:gd name="p0y24" fmla="*/ 1319 h 1341"/>
              <a:gd name="p0x25" fmla="*/ 89 w 1620"/>
              <a:gd name="p0y25" fmla="*/ 1316 h 1341"/>
              <a:gd name="p0x26" fmla="*/ 85 w 1620"/>
              <a:gd name="p0y26" fmla="*/ 1314 h 1341"/>
              <a:gd name="p0x27" fmla="*/ 81 w 1620"/>
              <a:gd name="p0y27" fmla="*/ 1312 h 1341"/>
              <a:gd name="p0x28" fmla="*/ 77 w 1620"/>
              <a:gd name="p0y28" fmla="*/ 1309 h 1341"/>
              <a:gd name="p0x29" fmla="*/ 74 w 1620"/>
              <a:gd name="p0y29" fmla="*/ 1307 h 1341"/>
              <a:gd name="p0x30" fmla="*/ 70 w 1620"/>
              <a:gd name="p0y30" fmla="*/ 1304 h 1341"/>
              <a:gd name="p0x31" fmla="*/ 67 w 1620"/>
              <a:gd name="p0y31" fmla="*/ 1301 h 1341"/>
              <a:gd name="p0x32" fmla="*/ 64 w 1620"/>
              <a:gd name="p0y32" fmla="*/ 1299 h 1341"/>
              <a:gd name="p0x33" fmla="*/ 60 w 1620"/>
              <a:gd name="p0y33" fmla="*/ 1296 h 1341"/>
              <a:gd name="p0x34" fmla="*/ 57 w 1620"/>
              <a:gd name="p0y34" fmla="*/ 1293 h 1341"/>
              <a:gd name="p0x35" fmla="*/ 54 w 1620"/>
              <a:gd name="p0y35" fmla="*/ 1290 h 1341"/>
              <a:gd name="p0x36" fmla="*/ 51 w 1620"/>
              <a:gd name="p0y36" fmla="*/ 1287 h 1341"/>
              <a:gd name="p0x37" fmla="*/ 48 w 1620"/>
              <a:gd name="p0y37" fmla="*/ 1283 h 1341"/>
              <a:gd name="p0x38" fmla="*/ 45 w 1620"/>
              <a:gd name="p0y38" fmla="*/ 1280 h 1341"/>
              <a:gd name="p0x39" fmla="*/ 42 w 1620"/>
              <a:gd name="p0y39" fmla="*/ 1277 h 1341"/>
              <a:gd name="p0x40" fmla="*/ 39 w 1620"/>
              <a:gd name="p0y40" fmla="*/ 1274 h 1341"/>
              <a:gd name="p0x41" fmla="*/ 36 w 1620"/>
              <a:gd name="p0y41" fmla="*/ 1270 h 1341"/>
              <a:gd name="p0x42" fmla="*/ 34 w 1620"/>
              <a:gd name="p0y42" fmla="*/ 1267 h 1341"/>
              <a:gd name="p0x43" fmla="*/ 31 w 1620"/>
              <a:gd name="p0y43" fmla="*/ 1263 h 1341"/>
              <a:gd name="p0x44" fmla="*/ 29 w 1620"/>
              <a:gd name="p0y44" fmla="*/ 1259 h 1341"/>
              <a:gd name="p0x45" fmla="*/ 26 w 1620"/>
              <a:gd name="p0y45" fmla="*/ 1256 h 1341"/>
              <a:gd name="p0x46" fmla="*/ 24 w 1620"/>
              <a:gd name="p0y46" fmla="*/ 1252 h 1341"/>
              <a:gd name="p0x47" fmla="*/ 22 w 1620"/>
              <a:gd name="p0y47" fmla="*/ 1248 h 1341"/>
              <a:gd name="p0x48" fmla="*/ 20 w 1620"/>
              <a:gd name="p0y48" fmla="*/ 1244 h 1341"/>
              <a:gd name="p0x49" fmla="*/ 18 w 1620"/>
              <a:gd name="p0y49" fmla="*/ 1240 h 1341"/>
              <a:gd name="p0x50" fmla="*/ 16 w 1620"/>
              <a:gd name="p0y50" fmla="*/ 1236 h 1341"/>
              <a:gd name="p0x51" fmla="*/ 14 w 1620"/>
              <a:gd name="p0y51" fmla="*/ 1232 h 1341"/>
              <a:gd name="p0x52" fmla="*/ 12 w 1620"/>
              <a:gd name="p0y52" fmla="*/ 1228 h 1341"/>
              <a:gd name="p0x53" fmla="*/ 11 w 1620"/>
              <a:gd name="p0y53" fmla="*/ 1224 h 1341"/>
              <a:gd name="p0x54" fmla="*/ 9 w 1620"/>
              <a:gd name="p0y54" fmla="*/ 1220 h 1341"/>
              <a:gd name="p0x55" fmla="*/ 8 w 1620"/>
              <a:gd name="p0y55" fmla="*/ 1215 h 1341"/>
              <a:gd name="p0x56" fmla="*/ 7 w 1620"/>
              <a:gd name="p0y56" fmla="*/ 1211 h 1341"/>
              <a:gd name="p0x57" fmla="*/ 5 w 1620"/>
              <a:gd name="p0y57" fmla="*/ 1207 h 1341"/>
              <a:gd name="p0x58" fmla="*/ 4 w 1620"/>
              <a:gd name="p0y58" fmla="*/ 1202 h 1341"/>
              <a:gd name="p0x59" fmla="*/ 3 w 1620"/>
              <a:gd name="p0y59" fmla="*/ 1198 h 1341"/>
              <a:gd name="p0x60" fmla="*/ 2 w 1620"/>
              <a:gd name="p0y60" fmla="*/ 1193 h 1341"/>
              <a:gd name="p0x61" fmla="*/ 2 w 1620"/>
              <a:gd name="p0y61" fmla="*/ 1189 h 1341"/>
              <a:gd name="p0x62" fmla="*/ 1 w 1620"/>
              <a:gd name="p0y62" fmla="*/ 1184 h 1341"/>
              <a:gd name="p0x63" fmla="*/ 0 w 1620"/>
              <a:gd name="p0y63" fmla="*/ 1180 h 1341"/>
              <a:gd name="p0x64" fmla="*/ 0 w 1620"/>
              <a:gd name="p0y64" fmla="*/ 1175 h 1341"/>
              <a:gd name="p0x65" fmla="*/ 0 w 1620"/>
              <a:gd name="p0y65" fmla="*/ 1170 h 1341"/>
              <a:gd name="p0x66" fmla="*/ 0 w 1620"/>
              <a:gd name="p0y66" fmla="*/ 1166 h 1341"/>
              <a:gd name="p0x67" fmla="*/ 0 w 1620"/>
              <a:gd name="p0y67" fmla="*/ 1161 h 1341"/>
              <a:gd name="p0x68" fmla="*/ 0 w 1620"/>
              <a:gd name="p0y68" fmla="*/ 180 h 1341"/>
              <a:gd name="p0x69" fmla="*/ 0 w 1620"/>
              <a:gd name="p0y69" fmla="*/ 175 h 1341"/>
              <a:gd name="p0x70" fmla="*/ 0 w 1620"/>
              <a:gd name="p0y70" fmla="*/ 170 h 1341"/>
              <a:gd name="p0x71" fmla="*/ 0 w 1620"/>
              <a:gd name="p0y71" fmla="*/ 165 h 1341"/>
              <a:gd name="p0x72" fmla="*/ 0 w 1620"/>
              <a:gd name="p0y72" fmla="*/ 161 h 1341"/>
              <a:gd name="p0x73" fmla="*/ 1 w 1620"/>
              <a:gd name="p0y73" fmla="*/ 156 h 1341"/>
              <a:gd name="p0x74" fmla="*/ 2 w 1620"/>
              <a:gd name="p0y74" fmla="*/ 152 h 1341"/>
              <a:gd name="p0x75" fmla="*/ 2 w 1620"/>
              <a:gd name="p0y75" fmla="*/ 147 h 1341"/>
              <a:gd name="p0x76" fmla="*/ 3 w 1620"/>
              <a:gd name="p0y76" fmla="*/ 143 h 1341"/>
              <a:gd name="p0x77" fmla="*/ 4 w 1620"/>
              <a:gd name="p0y77" fmla="*/ 138 h 1341"/>
              <a:gd name="p0x78" fmla="*/ 5 w 1620"/>
              <a:gd name="p0y78" fmla="*/ 134 h 1341"/>
              <a:gd name="p0x79" fmla="*/ 7 w 1620"/>
              <a:gd name="p0y79" fmla="*/ 129 h 1341"/>
              <a:gd name="p0x80" fmla="*/ 8 w 1620"/>
              <a:gd name="p0y80" fmla="*/ 125 h 1341"/>
              <a:gd name="p0x81" fmla="*/ 9 w 1620"/>
              <a:gd name="p0y81" fmla="*/ 121 h 1341"/>
              <a:gd name="p0x82" fmla="*/ 11 w 1620"/>
              <a:gd name="p0y82" fmla="*/ 117 h 1341"/>
              <a:gd name="p0x83" fmla="*/ 12 w 1620"/>
              <a:gd name="p0y83" fmla="*/ 113 h 1341"/>
              <a:gd name="p0x84" fmla="*/ 14 w 1620"/>
              <a:gd name="p0y84" fmla="*/ 108 h 1341"/>
              <a:gd name="p0x85" fmla="*/ 16 w 1620"/>
              <a:gd name="p0y85" fmla="*/ 104 h 1341"/>
              <a:gd name="p0x86" fmla="*/ 18 w 1620"/>
              <a:gd name="p0y86" fmla="*/ 100 h 1341"/>
              <a:gd name="p0x87" fmla="*/ 20 w 1620"/>
              <a:gd name="p0y87" fmla="*/ 96 h 1341"/>
              <a:gd name="p0x88" fmla="*/ 22 w 1620"/>
              <a:gd name="p0y88" fmla="*/ 92 h 1341"/>
              <a:gd name="p0x89" fmla="*/ 24 w 1620"/>
              <a:gd name="p0y89" fmla="*/ 89 h 1341"/>
              <a:gd name="p0x90" fmla="*/ 26 w 1620"/>
              <a:gd name="p0y90" fmla="*/ 85 h 1341"/>
              <a:gd name="p0x91" fmla="*/ 29 w 1620"/>
              <a:gd name="p0y91" fmla="*/ 81 h 1341"/>
              <a:gd name="p0x92" fmla="*/ 31 w 1620"/>
              <a:gd name="p0y92" fmla="*/ 77 h 1341"/>
              <a:gd name="p0x93" fmla="*/ 34 w 1620"/>
              <a:gd name="p0y93" fmla="*/ 74 h 1341"/>
              <a:gd name="p0x94" fmla="*/ 36 w 1620"/>
              <a:gd name="p0y94" fmla="*/ 70 h 1341"/>
              <a:gd name="p0x95" fmla="*/ 39 w 1620"/>
              <a:gd name="p0y95" fmla="*/ 67 h 1341"/>
              <a:gd name="p0x96" fmla="*/ 42 w 1620"/>
              <a:gd name="p0y96" fmla="*/ 64 h 1341"/>
              <a:gd name="p0x97" fmla="*/ 45 w 1620"/>
              <a:gd name="p0y97" fmla="*/ 60 h 1341"/>
              <a:gd name="p0x98" fmla="*/ 48 w 1620"/>
              <a:gd name="p0y98" fmla="*/ 57 h 1341"/>
              <a:gd name="p0x99" fmla="*/ 51 w 1620"/>
              <a:gd name="p0y99" fmla="*/ 54 h 1341"/>
              <a:gd name="p0x100" fmla="*/ 54 w 1620"/>
              <a:gd name="p0y100" fmla="*/ 51 h 1341"/>
              <a:gd name="p0x101" fmla="*/ 57 w 1620"/>
              <a:gd name="p0y101" fmla="*/ 48 h 1341"/>
              <a:gd name="p0x102" fmla="*/ 60 w 1620"/>
              <a:gd name="p0y102" fmla="*/ 45 h 1341"/>
              <a:gd name="p0x103" fmla="*/ 64 w 1620"/>
              <a:gd name="p0y103" fmla="*/ 42 h 1341"/>
              <a:gd name="p0x104" fmla="*/ 67 w 1620"/>
              <a:gd name="p0y104" fmla="*/ 39 h 1341"/>
              <a:gd name="p0x105" fmla="*/ 70 w 1620"/>
              <a:gd name="p0y105" fmla="*/ 36 h 1341"/>
              <a:gd name="p0x106" fmla="*/ 74 w 1620"/>
              <a:gd name="p0y106" fmla="*/ 34 h 1341"/>
              <a:gd name="p0x107" fmla="*/ 77 w 1620"/>
              <a:gd name="p0y107" fmla="*/ 31 h 1341"/>
              <a:gd name="p0x108" fmla="*/ 81 w 1620"/>
              <a:gd name="p0y108" fmla="*/ 29 h 1341"/>
              <a:gd name="p0x109" fmla="*/ 85 w 1620"/>
              <a:gd name="p0y109" fmla="*/ 26 h 1341"/>
              <a:gd name="p0x110" fmla="*/ 89 w 1620"/>
              <a:gd name="p0y110" fmla="*/ 24 h 1341"/>
              <a:gd name="p0x111" fmla="*/ 92 w 1620"/>
              <a:gd name="p0y111" fmla="*/ 22 h 1341"/>
              <a:gd name="p0x112" fmla="*/ 96 w 1620"/>
              <a:gd name="p0y112" fmla="*/ 20 h 1341"/>
              <a:gd name="p0x113" fmla="*/ 100 w 1620"/>
              <a:gd name="p0y113" fmla="*/ 18 h 1341"/>
              <a:gd name="p0x114" fmla="*/ 104 w 1620"/>
              <a:gd name="p0y114" fmla="*/ 16 h 1341"/>
              <a:gd name="p0x115" fmla="*/ 108 w 1620"/>
              <a:gd name="p0y115" fmla="*/ 14 h 1341"/>
              <a:gd name="p0x116" fmla="*/ 113 w 1620"/>
              <a:gd name="p0y116" fmla="*/ 12 h 1341"/>
              <a:gd name="p0x117" fmla="*/ 117 w 1620"/>
              <a:gd name="p0y117" fmla="*/ 11 h 1341"/>
              <a:gd name="p0x118" fmla="*/ 121 w 1620"/>
              <a:gd name="p0y118" fmla="*/ 9 h 1341"/>
              <a:gd name="p0x119" fmla="*/ 125 w 1620"/>
              <a:gd name="p0y119" fmla="*/ 8 h 1341"/>
              <a:gd name="p0x120" fmla="*/ 129 w 1620"/>
              <a:gd name="p0y120" fmla="*/ 7 h 1341"/>
              <a:gd name="p0x121" fmla="*/ 134 w 1620"/>
              <a:gd name="p0y121" fmla="*/ 5 h 1341"/>
              <a:gd name="p0x122" fmla="*/ 138 w 1620"/>
              <a:gd name="p0y122" fmla="*/ 4 h 1341"/>
              <a:gd name="p0x123" fmla="*/ 143 w 1620"/>
              <a:gd name="p0y123" fmla="*/ 3 h 1341"/>
              <a:gd name="p0x124" fmla="*/ 147 w 1620"/>
              <a:gd name="p0y124" fmla="*/ 2 h 1341"/>
              <a:gd name="p0x125" fmla="*/ 152 w 1620"/>
              <a:gd name="p0y125" fmla="*/ 2 h 1341"/>
              <a:gd name="p0x126" fmla="*/ 156 w 1620"/>
              <a:gd name="p0y126" fmla="*/ 1 h 1341"/>
              <a:gd name="p0x127" fmla="*/ 161 w 1620"/>
              <a:gd name="p0y127" fmla="*/ 0 h 1341"/>
              <a:gd name="p0x128" fmla="*/ 165 w 1620"/>
              <a:gd name="p0y128" fmla="*/ 0 h 1341"/>
              <a:gd name="p0x129" fmla="*/ 170 w 1620"/>
              <a:gd name="p0y129" fmla="*/ 0 h 1341"/>
              <a:gd name="p0x130" fmla="*/ 175 w 1620"/>
              <a:gd name="p0y130" fmla="*/ 0 h 1341"/>
              <a:gd name="p0x131" fmla="*/ 180 w 1620"/>
              <a:gd name="p0y131" fmla="*/ 0 h 13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lnTo>
                  <a:pt x="p0x128" y="p0y128"/>
                </a:lnTo>
                <a:lnTo>
                  <a:pt x="p0x129" y="p0y129"/>
                </a:lnTo>
                <a:lnTo>
                  <a:pt x="p0x130" y="p0y130"/>
                </a:lnTo>
                <a:lnTo>
                  <a:pt x="p0x131" y="p0y13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5"/>
            </p:custDataLst>
          </p:nvPr>
        </p:nvSpPr>
        <p:spPr>
          <a:xfrm>
            <a:off x="807091" y="5836663"/>
            <a:ext cx="55743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 spc="63">
                <a:solidFill>
                  <a:srgbClr val="FFFFFF"/>
                </a:solidFill>
                <a:cs typeface="+mn-lt"/>
              </a:rPr>
              <a:t>第三层</a:t>
            </a:r>
            <a:endParaRPr sz="1050" spc="63">
              <a:solidFill>
                <a:srgbClr val="FFFFFF"/>
              </a:solidFill>
              <a:cs typeface="+mn-lt"/>
            </a:endParaRPr>
          </a:p>
        </p:txBody>
      </p:sp>
      <p:sp>
        <p:nvSpPr>
          <p:cNvPr id="29" name="文本框 28"/>
          <p:cNvSpPr txBox="1"/>
          <p:nvPr>
            <p:custDataLst>
              <p:tags r:id="rId26"/>
            </p:custDataLst>
          </p:nvPr>
        </p:nvSpPr>
        <p:spPr>
          <a:xfrm>
            <a:off x="704850" y="6012875"/>
            <a:ext cx="762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cs typeface="+mn-lt"/>
              </a:rPr>
              <a:t>反事实</a:t>
            </a:r>
            <a:endParaRPr sz="15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30" name="任意多边形 29"/>
          <p:cNvSpPr/>
          <p:nvPr>
            <p:custDataLst>
              <p:tags r:id="rId27"/>
            </p:custDataLst>
          </p:nvPr>
        </p:nvSpPr>
        <p:spPr>
          <a:xfrm>
            <a:off x="1718945" y="5629275"/>
            <a:ext cx="9896475" cy="842645"/>
          </a:xfrm>
          <a:custGeom>
            <a:avLst/>
            <a:gdLst>
              <a:gd name="sw" fmla="*/ 1 w 15585"/>
              <a:gd name="sh" fmla="*/ 1 h 1326"/>
              <a:gd name="mins" fmla="min sw sh"/>
              <a:gd name="dsw" fmla="+- 0 sw mins"/>
              <a:gd name="dsh" fmla="+- 0 sh mins"/>
              <a:gd name="p0x0" fmla="*/ 180 w 15585"/>
              <a:gd name="p0y0" fmla="*/ 0 h 1326"/>
              <a:gd name="p0x1" fmla="*/ 15405 w 15585"/>
              <a:gd name="p0y1" fmla="*/ 0 h 1326"/>
              <a:gd name="p0x2" fmla="*/ 15504 w 15585"/>
              <a:gd name="p0y2" fmla="*/ 0 h 1326"/>
              <a:gd name="p0x3" fmla="*/ 15585 w 15585"/>
              <a:gd name="p0y3" fmla="*/ 80 h 1326"/>
              <a:gd name="p0x4" fmla="*/ 15585 w 15585"/>
              <a:gd name="p0y4" fmla="*/ 180 h 1326"/>
              <a:gd name="p0x5" fmla="*/ 15585 w 15585"/>
              <a:gd name="p0y5" fmla="*/ 1146 h 1326"/>
              <a:gd name="p0x6" fmla="*/ 15585 w 15585"/>
              <a:gd name="p0y6" fmla="*/ 1245 h 1326"/>
              <a:gd name="p0x7" fmla="*/ 15504 w 15585"/>
              <a:gd name="p0y7" fmla="*/ 1326 h 1326"/>
              <a:gd name="p0x8" fmla="*/ 15405 w 15585"/>
              <a:gd name="p0y8" fmla="*/ 1326 h 1326"/>
              <a:gd name="p0x9" fmla="*/ 180 w 15585"/>
              <a:gd name="p0y9" fmla="*/ 1326 h 1326"/>
              <a:gd name="p0x10" fmla="*/ 80 w 15585"/>
              <a:gd name="p0y10" fmla="*/ 1326 h 1326"/>
              <a:gd name="p0x11" fmla="*/ 0 w 15585"/>
              <a:gd name="p0y11" fmla="*/ 1245 h 1326"/>
              <a:gd name="p0x12" fmla="*/ 0 w 15585"/>
              <a:gd name="p0y12" fmla="*/ 1146 h 1326"/>
              <a:gd name="p0x13" fmla="*/ 0 w 15585"/>
              <a:gd name="p0y13" fmla="*/ 180 h 1326"/>
              <a:gd name="p0x14" fmla="*/ 0 w 15585"/>
              <a:gd name="p0y14" fmla="*/ 80 h 1326"/>
              <a:gd name="p0x15" fmla="*/ 80 w 15585"/>
              <a:gd name="p0y15" fmla="*/ 0 h 1326"/>
              <a:gd name="p0x16" fmla="*/ 180 w 15585"/>
              <a:gd name="p0y16" fmla="*/ 0 h 13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28"/>
            </p:custDataLst>
          </p:nvPr>
        </p:nvSpPr>
        <p:spPr>
          <a:xfrm>
            <a:off x="1914525" y="5743575"/>
            <a:ext cx="0" cy="300355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2dx" fmla="*/ dsw 153000 1"/>
              <a:gd name="p0a2dy" fmla="*/ dsh -140466 1"/>
              <a:gd name="p0a1dx" fmla="*/ dsw -146970 1"/>
              <a:gd name="p0a1dy" fmla="*/ dsh -140466 1"/>
              <a:gd name="p0a0dx" fmla="*/ dsw -146970 1"/>
              <a:gd name="p0a0dy" fmla="*/ dsh 159030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9"/>
            </p:custDataLst>
          </p:nvPr>
        </p:nvSpPr>
        <p:spPr>
          <a:xfrm>
            <a:off x="1914525" y="5738232"/>
            <a:ext cx="685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D3E5E"/>
                </a:solidFill>
                <a:latin typeface="MiSans Demibold" panose="00000700000000000000" charset="-122"/>
                <a:ea typeface="MiSans Demibold" panose="00000700000000000000" charset="-122"/>
              </a:rPr>
              <a:t>想象</a:t>
            </a:r>
            <a:endParaRPr b="1">
              <a:solidFill>
                <a:srgbClr val="1D3E5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0"/>
            </p:custDataLst>
          </p:nvPr>
        </p:nvSpPr>
        <p:spPr>
          <a:xfrm>
            <a:off x="1914525" y="6067568"/>
            <a:ext cx="95059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E8E"/>
                </a:solidFill>
                <a:cs typeface="+mn-lt"/>
              </a:rPr>
              <a:t>在未发生的条件下，预测可能产生的结果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维度三</a:t>
            </a:r>
            <a:r>
              <a:rPr lang="en-US" altLang="zh-CN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 </a:t>
            </a: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可迁移性</a:t>
            </a:r>
            <a:endParaRPr lang="zh-CN" altLang="en-US"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180 w 17400"/>
              <a:gd name="p0y0" fmla="*/ 0 h 1050"/>
              <a:gd name="p0x1" fmla="*/ 17220 w 17400"/>
              <a:gd name="p0y1" fmla="*/ 0 h 1050"/>
              <a:gd name="p0x2" fmla="*/ 17319 w 17400"/>
              <a:gd name="p0y2" fmla="*/ 0 h 1050"/>
              <a:gd name="p0x3" fmla="*/ 17400 w 17400"/>
              <a:gd name="p0y3" fmla="*/ 80 h 1050"/>
              <a:gd name="p0x4" fmla="*/ 17400 w 17400"/>
              <a:gd name="p0y4" fmla="*/ 180 h 1050"/>
              <a:gd name="p0x5" fmla="*/ 17400 w 17400"/>
              <a:gd name="p0y5" fmla="*/ 870 h 1050"/>
              <a:gd name="p0x6" fmla="*/ 17400 w 17400"/>
              <a:gd name="p0y6" fmla="*/ 969 h 1050"/>
              <a:gd name="p0x7" fmla="*/ 17319 w 17400"/>
              <a:gd name="p0y7" fmla="*/ 1050 h 1050"/>
              <a:gd name="p0x8" fmla="*/ 17220 w 17400"/>
              <a:gd name="p0y8" fmla="*/ 1050 h 1050"/>
              <a:gd name="p0x9" fmla="*/ 180 w 17400"/>
              <a:gd name="p0y9" fmla="*/ 1050 h 1050"/>
              <a:gd name="p0x10" fmla="*/ 80 w 17400"/>
              <a:gd name="p0y10" fmla="*/ 1050 h 1050"/>
              <a:gd name="p0x11" fmla="*/ 0 w 17400"/>
              <a:gd name="p0y11" fmla="*/ 969 h 1050"/>
              <a:gd name="p0x12" fmla="*/ 0 w 17400"/>
              <a:gd name="p0y12" fmla="*/ 870 h 1050"/>
              <a:gd name="p0x13" fmla="*/ 0 w 17400"/>
              <a:gd name="p0y13" fmla="*/ 180 h 1050"/>
              <a:gd name="p0x14" fmla="*/ 0 w 17400"/>
              <a:gd name="p0y14" fmla="*/ 80 h 1050"/>
              <a:gd name="p0x15" fmla="*/ 80 w 17400"/>
              <a:gd name="p0y15" fmla="*/ 0 h 1050"/>
              <a:gd name="p0x16" fmla="*/ 18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329"/>
              <a:lumOff val="82671"/>
            </a:schemeClr>
          </a:solidFill>
          <a:ln>
            <a:noFill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280160"/>
            <a:ext cx="5715229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>
                <a:solidFill>
                  <a:srgbClr val="1D3E5E"/>
                </a:solidFill>
                <a:cs typeface="+mn-lt"/>
              </a:rPr>
              <a:t>换个场景，模型还灵吗？</a:t>
            </a:r>
            <a:endParaRPr>
              <a:solidFill>
                <a:srgbClr val="1D3E5E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2416810"/>
            <a:ext cx="11039475" cy="1348740"/>
          </a:xfrm>
          <a:custGeom>
            <a:avLst/>
            <a:gdLst>
              <a:gd name="sw" fmla="*/ 1 w 17385"/>
              <a:gd name="sh" fmla="*/ 1 h 2123"/>
              <a:gd name="mins" fmla="min sw sh"/>
              <a:gd name="dsw" fmla="+- 0 sw mins"/>
              <a:gd name="dsh" fmla="+- 0 sh mins"/>
              <a:gd name="p0x0" fmla="*/ 180 w 17385"/>
              <a:gd name="p0y0" fmla="*/ 0 h 2123"/>
              <a:gd name="p0x1" fmla="*/ 17205 w 17385"/>
              <a:gd name="p0y1" fmla="*/ 0 h 2123"/>
              <a:gd name="p0x2" fmla="*/ 17304 w 17385"/>
              <a:gd name="p0y2" fmla="*/ 0 h 2123"/>
              <a:gd name="p0x3" fmla="*/ 17385 w 17385"/>
              <a:gd name="p0y3" fmla="*/ 80 h 2123"/>
              <a:gd name="p0x4" fmla="*/ 17385 w 17385"/>
              <a:gd name="p0y4" fmla="*/ 180 h 2123"/>
              <a:gd name="p0x5" fmla="*/ 17385 w 17385"/>
              <a:gd name="p0y5" fmla="*/ 1943 h 2123"/>
              <a:gd name="p0x6" fmla="*/ 17385 w 17385"/>
              <a:gd name="p0y6" fmla="*/ 2042 h 2123"/>
              <a:gd name="p0x7" fmla="*/ 17304 w 17385"/>
              <a:gd name="p0y7" fmla="*/ 2123 h 2123"/>
              <a:gd name="p0x8" fmla="*/ 17205 w 17385"/>
              <a:gd name="p0y8" fmla="*/ 2123 h 2123"/>
              <a:gd name="p0x9" fmla="*/ 180 w 17385"/>
              <a:gd name="p0y9" fmla="*/ 2123 h 2123"/>
              <a:gd name="p0x10" fmla="*/ 80 w 17385"/>
              <a:gd name="p0y10" fmla="*/ 2123 h 2123"/>
              <a:gd name="p0x11" fmla="*/ 0 w 17385"/>
              <a:gd name="p0y11" fmla="*/ 2042 h 2123"/>
              <a:gd name="p0x12" fmla="*/ 0 w 17385"/>
              <a:gd name="p0y12" fmla="*/ 1943 h 2123"/>
              <a:gd name="p0x13" fmla="*/ 0 w 17385"/>
              <a:gd name="p0y13" fmla="*/ 180 h 2123"/>
              <a:gd name="p0x14" fmla="*/ 0 w 17385"/>
              <a:gd name="p0y14" fmla="*/ 80 h 2123"/>
              <a:gd name="p0x15" fmla="*/ 80 w 17385"/>
              <a:gd name="p0y15" fmla="*/ 0 h 2123"/>
              <a:gd name="p0x16" fmla="*/ 180 w 17385"/>
              <a:gd name="p0y16" fmla="*/ 0 h 212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95325" y="257429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90 w 780"/>
              <a:gd name="p0y0" fmla="*/ 0 h 780"/>
              <a:gd name="p0x1" fmla="*/ 690 w 780"/>
              <a:gd name="p0y1" fmla="*/ 0 h 780"/>
              <a:gd name="p0x2" fmla="*/ 739 w 780"/>
              <a:gd name="p0y2" fmla="*/ 0 h 780"/>
              <a:gd name="p0x3" fmla="*/ 780 w 780"/>
              <a:gd name="p0y3" fmla="*/ 40 h 780"/>
              <a:gd name="p0x4" fmla="*/ 780 w 780"/>
              <a:gd name="p0y4" fmla="*/ 90 h 780"/>
              <a:gd name="p0x5" fmla="*/ 780 w 780"/>
              <a:gd name="p0y5" fmla="*/ 690 h 780"/>
              <a:gd name="p0x6" fmla="*/ 780 w 780"/>
              <a:gd name="p0y6" fmla="*/ 739 h 780"/>
              <a:gd name="p0x7" fmla="*/ 739 w 780"/>
              <a:gd name="p0y7" fmla="*/ 780 h 780"/>
              <a:gd name="p0x8" fmla="*/ 690 w 780"/>
              <a:gd name="p0y8" fmla="*/ 780 h 780"/>
              <a:gd name="p0x9" fmla="*/ 90 w 780"/>
              <a:gd name="p0y9" fmla="*/ 780 h 780"/>
              <a:gd name="p0x10" fmla="*/ 40 w 780"/>
              <a:gd name="p0y10" fmla="*/ 780 h 780"/>
              <a:gd name="p0x11" fmla="*/ 0 w 780"/>
              <a:gd name="p0y11" fmla="*/ 739 h 780"/>
              <a:gd name="p0x12" fmla="*/ 0 w 780"/>
              <a:gd name="p0y12" fmla="*/ 690 h 780"/>
              <a:gd name="p0x13" fmla="*/ 0 w 780"/>
              <a:gd name="p0y13" fmla="*/ 90 h 780"/>
              <a:gd name="p0x14" fmla="*/ 0 w 780"/>
              <a:gd name="p0y14" fmla="*/ 40 h 780"/>
              <a:gd name="p0x15" fmla="*/ 40 w 780"/>
              <a:gd name="p0y15" fmla="*/ 0 h 780"/>
              <a:gd name="p0x16" fmla="*/ 9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b9ba99f1-c317-11f1-b688-62eea35f5e93"/>
          <p:cNvPicPr/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55" b="55"/>
          <a:stretch>
            <a:fillRect/>
          </a:stretch>
        </p:blipFill>
        <p:spPr>
          <a:xfrm>
            <a:off x="819150" y="2698115"/>
            <a:ext cx="247650" cy="24765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1343025" y="2648585"/>
            <a:ext cx="10153650" cy="4083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  <a:buClrTx/>
              <a:buSzTx/>
              <a:buFontTx/>
            </a:pPr>
            <a:r>
              <a:rPr sz="2100" b="1" spc="42">
                <a:solidFill>
                  <a:srgbClr val="1D3E5E"/>
                </a:solidFill>
                <a:cs typeface="+mn-lt"/>
              </a:rPr>
              <a:t>关键点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15" name="矩形 14"/>
          <p:cNvSpPr/>
          <p:nvPr>
            <p:custDataLst>
              <p:tags r:id="rId10"/>
            </p:custDataLst>
          </p:nvPr>
        </p:nvSpPr>
        <p:spPr>
          <a:xfrm>
            <a:off x="695325" y="3298190"/>
            <a:ext cx="10801350" cy="9525"/>
          </a:xfrm>
          <a:prstGeom prst="rect">
            <a:avLst/>
          </a:prstGeom>
          <a:solidFill>
            <a:srgbClr val="9F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695325" y="3386804"/>
            <a:ext cx="6477000" cy="3667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>
                <a:solidFill>
                  <a:srgbClr val="4A6E8E"/>
                </a:solidFill>
                <a:cs typeface="+mn-lt"/>
              </a:rPr>
              <a:t>在</a:t>
            </a:r>
            <a:r>
              <a:rPr sz="1500" b="1">
                <a:solidFill>
                  <a:schemeClr val="tx2"/>
                </a:solidFill>
                <a:cs typeface="+mn-lt"/>
              </a:rPr>
              <a:t>已知数据分布外、跨物种、零样本</a:t>
            </a:r>
            <a:r>
              <a:rPr sz="1500">
                <a:solidFill>
                  <a:srgbClr val="4A6E8E"/>
                </a:solidFill>
                <a:cs typeface="+mn-lt"/>
              </a:rPr>
              <a:t>的场景下，判断结果是否依然有效。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8" name="任意多边形 7"/>
          <p:cNvSpPr/>
          <p:nvPr>
            <p:custDataLst>
              <p:tags r:id="rId12"/>
            </p:custDataLst>
          </p:nvPr>
        </p:nvSpPr>
        <p:spPr>
          <a:xfrm>
            <a:off x="571408" y="2416810"/>
            <a:ext cx="10971715" cy="381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278" h="60">
                <a:moveTo>
                  <a:pt x="134" y="0"/>
                </a:moveTo>
                <a:lnTo>
                  <a:pt x="17144" y="0"/>
                </a:lnTo>
                <a:cubicBezTo>
                  <a:pt x="17197" y="0"/>
                  <a:pt x="17245" y="23"/>
                  <a:pt x="17278" y="60"/>
                </a:cubicBezTo>
                <a:lnTo>
                  <a:pt x="0" y="60"/>
                </a:lnTo>
                <a:cubicBezTo>
                  <a:pt x="33" y="23"/>
                  <a:pt x="81" y="0"/>
                  <a:pt x="13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3"/>
            </p:custDataLst>
          </p:nvPr>
        </p:nvSpPr>
        <p:spPr>
          <a:xfrm>
            <a:off x="575945" y="4382770"/>
            <a:ext cx="11039475" cy="1348105"/>
          </a:xfrm>
          <a:custGeom>
            <a:avLst/>
            <a:gdLst>
              <a:gd name="sw" fmla="*/ 1 w 17385"/>
              <a:gd name="sh" fmla="*/ 1 h 2123"/>
              <a:gd name="mins" fmla="min sw sh"/>
              <a:gd name="dsw" fmla="+- 0 sw mins"/>
              <a:gd name="dsh" fmla="+- 0 sh mins"/>
              <a:gd name="p0x0" fmla="*/ 180 w 17385"/>
              <a:gd name="p0y0" fmla="*/ 0 h 2123"/>
              <a:gd name="p0x1" fmla="*/ 17205 w 17385"/>
              <a:gd name="p0y1" fmla="*/ 0 h 2123"/>
              <a:gd name="p0x2" fmla="*/ 17304 w 17385"/>
              <a:gd name="p0y2" fmla="*/ 0 h 2123"/>
              <a:gd name="p0x3" fmla="*/ 17385 w 17385"/>
              <a:gd name="p0y3" fmla="*/ 80 h 2123"/>
              <a:gd name="p0x4" fmla="*/ 17385 w 17385"/>
              <a:gd name="p0y4" fmla="*/ 180 h 2123"/>
              <a:gd name="p0x5" fmla="*/ 17385 w 17385"/>
              <a:gd name="p0y5" fmla="*/ 1943 h 2123"/>
              <a:gd name="p0x6" fmla="*/ 17385 w 17385"/>
              <a:gd name="p0y6" fmla="*/ 2042 h 2123"/>
              <a:gd name="p0x7" fmla="*/ 17304 w 17385"/>
              <a:gd name="p0y7" fmla="*/ 2123 h 2123"/>
              <a:gd name="p0x8" fmla="*/ 17205 w 17385"/>
              <a:gd name="p0y8" fmla="*/ 2123 h 2123"/>
              <a:gd name="p0x9" fmla="*/ 180 w 17385"/>
              <a:gd name="p0y9" fmla="*/ 2123 h 2123"/>
              <a:gd name="p0x10" fmla="*/ 80 w 17385"/>
              <a:gd name="p0y10" fmla="*/ 2123 h 2123"/>
              <a:gd name="p0x11" fmla="*/ 0 w 17385"/>
              <a:gd name="p0y11" fmla="*/ 2042 h 2123"/>
              <a:gd name="p0x12" fmla="*/ 0 w 17385"/>
              <a:gd name="p0y12" fmla="*/ 1943 h 2123"/>
              <a:gd name="p0x13" fmla="*/ 0 w 17385"/>
              <a:gd name="p0y13" fmla="*/ 180 h 2123"/>
              <a:gd name="p0x14" fmla="*/ 0 w 17385"/>
              <a:gd name="p0y14" fmla="*/ 80 h 2123"/>
              <a:gd name="p0x15" fmla="*/ 80 w 17385"/>
              <a:gd name="p0y15" fmla="*/ 0 h 2123"/>
              <a:gd name="p0x16" fmla="*/ 180 w 17385"/>
              <a:gd name="p0y16" fmla="*/ 0 h 212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4"/>
            </p:custDataLst>
          </p:nvPr>
        </p:nvSpPr>
        <p:spPr>
          <a:xfrm>
            <a:off x="695325" y="453961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90 w 780"/>
              <a:gd name="p0y0" fmla="*/ 0 h 780"/>
              <a:gd name="p0x1" fmla="*/ 690 w 780"/>
              <a:gd name="p0y1" fmla="*/ 0 h 780"/>
              <a:gd name="p0x2" fmla="*/ 739 w 780"/>
              <a:gd name="p0y2" fmla="*/ 0 h 780"/>
              <a:gd name="p0x3" fmla="*/ 780 w 780"/>
              <a:gd name="p0y3" fmla="*/ 40 h 780"/>
              <a:gd name="p0x4" fmla="*/ 780 w 780"/>
              <a:gd name="p0y4" fmla="*/ 90 h 780"/>
              <a:gd name="p0x5" fmla="*/ 780 w 780"/>
              <a:gd name="p0y5" fmla="*/ 690 h 780"/>
              <a:gd name="p0x6" fmla="*/ 780 w 780"/>
              <a:gd name="p0y6" fmla="*/ 739 h 780"/>
              <a:gd name="p0x7" fmla="*/ 739 w 780"/>
              <a:gd name="p0y7" fmla="*/ 780 h 780"/>
              <a:gd name="p0x8" fmla="*/ 690 w 780"/>
              <a:gd name="p0y8" fmla="*/ 780 h 780"/>
              <a:gd name="p0x9" fmla="*/ 90 w 780"/>
              <a:gd name="p0y9" fmla="*/ 780 h 780"/>
              <a:gd name="p0x10" fmla="*/ 40 w 780"/>
              <a:gd name="p0y10" fmla="*/ 780 h 780"/>
              <a:gd name="p0x11" fmla="*/ 0 w 780"/>
              <a:gd name="p0y11" fmla="*/ 739 h 780"/>
              <a:gd name="p0x12" fmla="*/ 0 w 780"/>
              <a:gd name="p0y12" fmla="*/ 690 h 780"/>
              <a:gd name="p0x13" fmla="*/ 0 w 780"/>
              <a:gd name="p0y13" fmla="*/ 90 h 780"/>
              <a:gd name="p0x14" fmla="*/ 0 w 780"/>
              <a:gd name="p0y14" fmla="*/ 40 h 780"/>
              <a:gd name="p0x15" fmla="*/ 40 w 780"/>
              <a:gd name="p0y15" fmla="*/ 0 h 780"/>
              <a:gd name="p0x16" fmla="*/ 9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b9ba9b13-c317-11f1-b688-62eea35f5e93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t="-196" b="196"/>
          <a:stretch>
            <a:fillRect/>
          </a:stretch>
        </p:blipFill>
        <p:spPr>
          <a:xfrm>
            <a:off x="819150" y="4663440"/>
            <a:ext cx="247650" cy="24765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18"/>
            </p:custDataLst>
          </p:nvPr>
        </p:nvSpPr>
        <p:spPr>
          <a:xfrm>
            <a:off x="1343025" y="4614078"/>
            <a:ext cx="101536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D3E5E"/>
                </a:solidFill>
                <a:cs typeface="+mn-lt"/>
              </a:rPr>
              <a:t>检验方法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26" name="矩形 25"/>
          <p:cNvSpPr/>
          <p:nvPr>
            <p:custDataLst>
              <p:tags r:id="rId19"/>
            </p:custDataLst>
          </p:nvPr>
        </p:nvSpPr>
        <p:spPr>
          <a:xfrm>
            <a:off x="695325" y="5263515"/>
            <a:ext cx="10801350" cy="9525"/>
          </a:xfrm>
          <a:prstGeom prst="rect">
            <a:avLst/>
          </a:prstGeom>
          <a:solidFill>
            <a:srgbClr val="9F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0"/>
            </p:custDataLst>
          </p:nvPr>
        </p:nvSpPr>
        <p:spPr>
          <a:xfrm>
            <a:off x="695325" y="5352479"/>
            <a:ext cx="4381500" cy="3667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>
                <a:solidFill>
                  <a:srgbClr val="4A6E8E"/>
                </a:solidFill>
                <a:cs typeface="+mn-lt"/>
              </a:rPr>
              <a:t>换个</a:t>
            </a:r>
            <a:r>
              <a:rPr sz="1500" b="1">
                <a:solidFill>
                  <a:schemeClr val="tx2"/>
                </a:solidFill>
                <a:cs typeface="+mn-lt"/>
              </a:rPr>
              <a:t>物种</a:t>
            </a:r>
            <a:r>
              <a:rPr sz="1500">
                <a:solidFill>
                  <a:srgbClr val="4A6E8E"/>
                </a:solidFill>
                <a:cs typeface="+mn-lt"/>
              </a:rPr>
              <a:t>、换个</a:t>
            </a:r>
            <a:r>
              <a:rPr lang="zh-CN" sz="1500">
                <a:solidFill>
                  <a:srgbClr val="4A6E8E"/>
                </a:solidFill>
                <a:cs typeface="+mn-lt"/>
              </a:rPr>
              <a:t>数据集</a:t>
            </a:r>
            <a:r>
              <a:rPr sz="1500">
                <a:solidFill>
                  <a:srgbClr val="4A6E8E"/>
                </a:solidFill>
                <a:cs typeface="+mn-lt"/>
              </a:rPr>
              <a:t>，再</a:t>
            </a:r>
            <a:r>
              <a:rPr lang="zh-CN" sz="1500">
                <a:solidFill>
                  <a:srgbClr val="4A6E8E"/>
                </a:solidFill>
                <a:cs typeface="+mn-lt"/>
              </a:rPr>
              <a:t>测试一遍。</a:t>
            </a:r>
            <a:endParaRPr lang="zh-CN"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19" name="任意多边形 18"/>
          <p:cNvSpPr/>
          <p:nvPr>
            <p:custDataLst>
              <p:tags r:id="rId21"/>
            </p:custDataLst>
          </p:nvPr>
        </p:nvSpPr>
        <p:spPr>
          <a:xfrm>
            <a:off x="610151" y="4387239"/>
            <a:ext cx="10971698" cy="3807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278" h="60">
                <a:moveTo>
                  <a:pt x="134" y="0"/>
                </a:moveTo>
                <a:lnTo>
                  <a:pt x="17144" y="0"/>
                </a:lnTo>
                <a:cubicBezTo>
                  <a:pt x="17197" y="0"/>
                  <a:pt x="17245" y="23"/>
                  <a:pt x="17278" y="60"/>
                </a:cubicBezTo>
                <a:lnTo>
                  <a:pt x="0" y="60"/>
                </a:lnTo>
                <a:cubicBezTo>
                  <a:pt x="33" y="23"/>
                  <a:pt x="81" y="0"/>
                  <a:pt x="13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三条可检验的标准</a:t>
            </a:r>
            <a:endParaRPr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420 w 5525"/>
              <a:gd name="p0y0" fmla="*/ 0 h 8445"/>
              <a:gd name="p0x1" fmla="*/ 5105 w 5525"/>
              <a:gd name="p0y1" fmla="*/ 0 h 8445"/>
              <a:gd name="p0x2" fmla="*/ 5336 w 5525"/>
              <a:gd name="p0y2" fmla="*/ 0 h 8445"/>
              <a:gd name="p0x3" fmla="*/ 5525 w 5525"/>
              <a:gd name="p0y3" fmla="*/ 188 h 8445"/>
              <a:gd name="p0x4" fmla="*/ 5525 w 5525"/>
              <a:gd name="p0y4" fmla="*/ 420 h 8445"/>
              <a:gd name="p0x5" fmla="*/ 5525 w 5525"/>
              <a:gd name="p0y5" fmla="*/ 8025 h 8445"/>
              <a:gd name="p0x6" fmla="*/ 5525 w 5525"/>
              <a:gd name="p0y6" fmla="*/ 8256 h 8445"/>
              <a:gd name="p0x7" fmla="*/ 5336 w 5525"/>
              <a:gd name="p0y7" fmla="*/ 8445 h 8445"/>
              <a:gd name="p0x8" fmla="*/ 5105 w 5525"/>
              <a:gd name="p0y8" fmla="*/ 8445 h 8445"/>
              <a:gd name="p0x9" fmla="*/ 420 w 5525"/>
              <a:gd name="p0y9" fmla="*/ 8445 h 8445"/>
              <a:gd name="p0x10" fmla="*/ 188 w 5525"/>
              <a:gd name="p0y10" fmla="*/ 8445 h 8445"/>
              <a:gd name="p0x11" fmla="*/ 0 w 5525"/>
              <a:gd name="p0y11" fmla="*/ 8256 h 8445"/>
              <a:gd name="p0x12" fmla="*/ 0 w 5525"/>
              <a:gd name="p0y12" fmla="*/ 8025 h 8445"/>
              <a:gd name="p0x13" fmla="*/ 0 w 5525"/>
              <a:gd name="p0y13" fmla="*/ 420 h 8445"/>
              <a:gd name="p0x14" fmla="*/ 0 w 5525"/>
              <a:gd name="p0y14" fmla="*/ 188 h 8445"/>
              <a:gd name="p0x15" fmla="*/ 188 w 5525"/>
              <a:gd name="p0y15" fmla="*/ 0 h 8445"/>
              <a:gd name="p0x16" fmla="*/ 4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  <a:alpha val="4000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>
            <a:off x="733425" y="1266825"/>
            <a:ext cx="3194050" cy="428625"/>
            <a:chOff x="1155" y="1995"/>
            <a:chExt cx="5030" cy="675"/>
          </a:xfrm>
        </p:grpSpPr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1155" y="1995"/>
              <a:ext cx="5030" cy="675"/>
            </a:xfrm>
            <a:custGeom>
              <a:avLst/>
              <a:gdLst>
                <a:gd name="sw" fmla="*/ 1 w 5030"/>
                <a:gd name="sh" fmla="*/ 1 h 675"/>
                <a:gd name="mins" fmla="min sw sh"/>
                <a:gd name="dsw" fmla="+- 0 sw mins"/>
                <a:gd name="dsh" fmla="+- 0 sh mins"/>
                <a:gd name="p0x0" fmla="*/ 0 w 5030"/>
                <a:gd name="p0y0" fmla="*/ 0 h 675"/>
                <a:gd name="p0x1" fmla="*/ 5030 w 5030"/>
                <a:gd name="p0y1" fmla="*/ 0 h 675"/>
                <a:gd name="p0x2" fmla="*/ 5030 w 5030"/>
                <a:gd name="p0y2" fmla="*/ 675 h 675"/>
                <a:gd name="p0x3" fmla="*/ 0 w 5030"/>
                <a:gd name="p0y3" fmla="*/ 675 h 675"/>
                <a:gd name="p0x4" fmla="*/ 0 w 5030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4"/>
              </p:custDataLst>
            </p:nvPr>
          </p:nvSpPr>
          <p:spPr>
            <a:xfrm>
              <a:off x="1155" y="2640"/>
              <a:ext cx="5030" cy="30"/>
            </a:xfrm>
            <a:custGeom>
              <a:avLst/>
              <a:gdLst>
                <a:gd name="sw" fmla="*/ 1 w 5030"/>
                <a:gd name="sh" fmla="*/ 1 h 30"/>
                <a:gd name="mins" fmla="min sw sh"/>
                <a:gd name="dsw" fmla="+- 0 sw mins"/>
                <a:gd name="dsh" fmla="+- 0 sh mins"/>
                <a:gd name="p0x0" fmla="*/ 5030 w 5030"/>
                <a:gd name="p0y0" fmla="*/ 30 h 30"/>
                <a:gd name="p0x1" fmla="*/ 0 w 5030"/>
                <a:gd name="p0y1" fmla="*/ 30 h 30"/>
                <a:gd name="p0x2" fmla="*/ 0 w 5030"/>
                <a:gd name="p0y2" fmla="*/ 0 h 30"/>
                <a:gd name="p0x3" fmla="*/ 5030 w 5030"/>
                <a:gd name="p0y3" fmla="*/ 0 h 30"/>
                <a:gd name="p0x4" fmla="*/ 5030 w 503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733425" y="129984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90 w 420"/>
              <a:gd name="p0y0" fmla="*/ 0 h 420"/>
              <a:gd name="p0x1" fmla="*/ 330 w 420"/>
              <a:gd name="p0y1" fmla="*/ 0 h 420"/>
              <a:gd name="p0x2" fmla="*/ 379 w 420"/>
              <a:gd name="p0y2" fmla="*/ 0 h 420"/>
              <a:gd name="p0x3" fmla="*/ 420 w 420"/>
              <a:gd name="p0y3" fmla="*/ 40 h 420"/>
              <a:gd name="p0x4" fmla="*/ 420 w 420"/>
              <a:gd name="p0y4" fmla="*/ 90 h 420"/>
              <a:gd name="p0x5" fmla="*/ 420 w 420"/>
              <a:gd name="p0y5" fmla="*/ 330 h 420"/>
              <a:gd name="p0x6" fmla="*/ 420 w 420"/>
              <a:gd name="p0y6" fmla="*/ 379 h 420"/>
              <a:gd name="p0x7" fmla="*/ 379 w 420"/>
              <a:gd name="p0y7" fmla="*/ 420 h 420"/>
              <a:gd name="p0x8" fmla="*/ 330 w 420"/>
              <a:gd name="p0y8" fmla="*/ 420 h 420"/>
              <a:gd name="p0x9" fmla="*/ 90 w 420"/>
              <a:gd name="p0y9" fmla="*/ 420 h 420"/>
              <a:gd name="p0x10" fmla="*/ 40 w 420"/>
              <a:gd name="p0y10" fmla="*/ 420 h 420"/>
              <a:gd name="p0x11" fmla="*/ 0 w 420"/>
              <a:gd name="p0y11" fmla="*/ 379 h 420"/>
              <a:gd name="p0x12" fmla="*/ 0 w 420"/>
              <a:gd name="p0y12" fmla="*/ 330 h 420"/>
              <a:gd name="p0x13" fmla="*/ 0 w 420"/>
              <a:gd name="p0y13" fmla="*/ 90 h 420"/>
              <a:gd name="p0x14" fmla="*/ 0 w 420"/>
              <a:gd name="p0y14" fmla="*/ 40 h 420"/>
              <a:gd name="p0x15" fmla="*/ 40 w 420"/>
              <a:gd name="p0y15" fmla="*/ 0 h 420"/>
              <a:gd name="p0x16" fmla="*/ 9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790575" y="1356995"/>
            <a:ext cx="152400" cy="1524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1114425" y="1250632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D3E5E"/>
                </a:solidFill>
                <a:cs typeface="+mn-lt"/>
              </a:rPr>
              <a:t>可解释性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737870" y="1814195"/>
            <a:ext cx="3184525" cy="847725"/>
          </a:xfrm>
          <a:custGeom>
            <a:avLst/>
            <a:gdLst>
              <a:gd name="sw" fmla="*/ 1 w 5015"/>
              <a:gd name="sh" fmla="*/ 1 h 1335"/>
              <a:gd name="mins" fmla="min sw sh"/>
              <a:gd name="dsw" fmla="+- 0 sw mins"/>
              <a:gd name="dsh" fmla="+- 0 sh mins"/>
              <a:gd name="p0x0" fmla="*/ 90 w 5015"/>
              <a:gd name="p0y0" fmla="*/ 0 h 1335"/>
              <a:gd name="p0x1" fmla="*/ 4925 w 5015"/>
              <a:gd name="p0y1" fmla="*/ 0 h 1335"/>
              <a:gd name="p0x2" fmla="*/ 4974 w 5015"/>
              <a:gd name="p0y2" fmla="*/ 0 h 1335"/>
              <a:gd name="p0x3" fmla="*/ 5015 w 5015"/>
              <a:gd name="p0y3" fmla="*/ 40 h 1335"/>
              <a:gd name="p0x4" fmla="*/ 5015 w 5015"/>
              <a:gd name="p0y4" fmla="*/ 90 h 1335"/>
              <a:gd name="p0x5" fmla="*/ 5015 w 5015"/>
              <a:gd name="p0y5" fmla="*/ 1245 h 1335"/>
              <a:gd name="p0x6" fmla="*/ 5015 w 5015"/>
              <a:gd name="p0y6" fmla="*/ 1294 h 1335"/>
              <a:gd name="p0x7" fmla="*/ 4974 w 5015"/>
              <a:gd name="p0y7" fmla="*/ 1335 h 1335"/>
              <a:gd name="p0x8" fmla="*/ 4925 w 5015"/>
              <a:gd name="p0y8" fmla="*/ 1335 h 1335"/>
              <a:gd name="p0x9" fmla="*/ 90 w 5015"/>
              <a:gd name="p0y9" fmla="*/ 1335 h 1335"/>
              <a:gd name="p0x10" fmla="*/ 40 w 5015"/>
              <a:gd name="p0y10" fmla="*/ 1335 h 1335"/>
              <a:gd name="p0x11" fmla="*/ 0 w 5015"/>
              <a:gd name="p0y11" fmla="*/ 1294 h 1335"/>
              <a:gd name="p0x12" fmla="*/ 0 w 5015"/>
              <a:gd name="p0y12" fmla="*/ 1245 h 1335"/>
              <a:gd name="p0x13" fmla="*/ 0 w 5015"/>
              <a:gd name="p0y13" fmla="*/ 90 h 1335"/>
              <a:gd name="p0x14" fmla="*/ 0 w 5015"/>
              <a:gd name="p0y14" fmla="*/ 40 h 1335"/>
              <a:gd name="p0x15" fmla="*/ 40 w 5015"/>
              <a:gd name="p0y15" fmla="*/ 0 h 1335"/>
              <a:gd name="p0x16" fmla="*/ 90 w 501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857250" y="1919288"/>
            <a:ext cx="28575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/>
                </a:solidFill>
                <a:cs typeface="+mn-lt"/>
              </a:rPr>
              <a:t>用</a:t>
            </a:r>
            <a:r>
              <a:rPr sz="1500" b="1">
                <a:solidFill>
                  <a:schemeClr val="tx2"/>
                </a:solidFill>
                <a:cs typeface="+mn-lt"/>
              </a:rPr>
              <a:t>机制语言</a:t>
            </a:r>
            <a:r>
              <a:rPr sz="1500">
                <a:solidFill>
                  <a:schemeClr val="tx2"/>
                </a:solidFill>
                <a:cs typeface="+mn-lt"/>
              </a:rPr>
              <a:t>解释预测、生成</a:t>
            </a:r>
            <a:r>
              <a:rPr sz="1500" b="1">
                <a:solidFill>
                  <a:schemeClr val="tx2"/>
                </a:solidFill>
                <a:cs typeface="+mn-lt"/>
              </a:rPr>
              <a:t>可验证的假说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737870" y="2785745"/>
            <a:ext cx="3184525" cy="1085850"/>
          </a:xfrm>
          <a:custGeom>
            <a:avLst/>
            <a:gdLst>
              <a:gd name="sw" fmla="*/ 1 w 5015"/>
              <a:gd name="sh" fmla="*/ 1 h 1710"/>
              <a:gd name="mins" fmla="min sw sh"/>
              <a:gd name="dsw" fmla="+- 0 sw mins"/>
              <a:gd name="dsh" fmla="+- 0 sh mins"/>
              <a:gd name="p0x0" fmla="*/ 90 w 5015"/>
              <a:gd name="p0y0" fmla="*/ 0 h 1710"/>
              <a:gd name="p0x1" fmla="*/ 4925 w 5015"/>
              <a:gd name="p0y1" fmla="*/ 0 h 1710"/>
              <a:gd name="p0x2" fmla="*/ 4974 w 5015"/>
              <a:gd name="p0y2" fmla="*/ 0 h 1710"/>
              <a:gd name="p0x3" fmla="*/ 5015 w 5015"/>
              <a:gd name="p0y3" fmla="*/ 40 h 1710"/>
              <a:gd name="p0x4" fmla="*/ 5015 w 5015"/>
              <a:gd name="p0y4" fmla="*/ 90 h 1710"/>
              <a:gd name="p0x5" fmla="*/ 5015 w 5015"/>
              <a:gd name="p0y5" fmla="*/ 1620 h 1710"/>
              <a:gd name="p0x6" fmla="*/ 5015 w 5015"/>
              <a:gd name="p0y6" fmla="*/ 1669 h 1710"/>
              <a:gd name="p0x7" fmla="*/ 4974 w 5015"/>
              <a:gd name="p0y7" fmla="*/ 1710 h 1710"/>
              <a:gd name="p0x8" fmla="*/ 4925 w 5015"/>
              <a:gd name="p0y8" fmla="*/ 1710 h 1710"/>
              <a:gd name="p0x9" fmla="*/ 90 w 5015"/>
              <a:gd name="p0y9" fmla="*/ 1710 h 1710"/>
              <a:gd name="p0x10" fmla="*/ 40 w 5015"/>
              <a:gd name="p0y10" fmla="*/ 1710 h 1710"/>
              <a:gd name="p0x11" fmla="*/ 0 w 5015"/>
              <a:gd name="p0y11" fmla="*/ 1669 h 1710"/>
              <a:gd name="p0x12" fmla="*/ 0 w 5015"/>
              <a:gd name="p0y12" fmla="*/ 1620 h 1710"/>
              <a:gd name="p0x13" fmla="*/ 0 w 5015"/>
              <a:gd name="p0y13" fmla="*/ 90 h 1710"/>
              <a:gd name="p0x14" fmla="*/ 0 w 5015"/>
              <a:gd name="p0y14" fmla="*/ 40 h 1710"/>
              <a:gd name="p0x15" fmla="*/ 40 w 5015"/>
              <a:gd name="p0y15" fmla="*/ 0 h 1710"/>
              <a:gd name="p0x16" fmla="*/ 90 w 5015"/>
              <a:gd name="p0y16" fmla="*/ 0 h 17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857250" y="2905125"/>
            <a:ext cx="294642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4A6E8E"/>
                </a:solidFill>
                <a:cs typeface="+mn-lt"/>
              </a:rPr>
              <a:t>检验</a:t>
            </a:r>
            <a:endParaRPr sz="1200" b="1" spc="72">
              <a:solidFill>
                <a:srgbClr val="4A6E8E"/>
              </a:solidFill>
              <a:cs typeface="+mn-lt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857250" y="3128963"/>
            <a:ext cx="294642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E8E"/>
                </a:solidFill>
                <a:cs typeface="+mn-lt"/>
              </a:rPr>
              <a:t>看它输出的，是能拿进实验室验证的</a:t>
            </a:r>
            <a:r>
              <a:rPr sz="1500" b="1">
                <a:solidFill>
                  <a:schemeClr val="tx2"/>
                </a:solidFill>
                <a:cs typeface="+mn-lt"/>
              </a:rPr>
              <a:t>断言</a:t>
            </a:r>
            <a:r>
              <a:rPr sz="1500">
                <a:solidFill>
                  <a:srgbClr val="4A6E8E"/>
                </a:solidFill>
                <a:cs typeface="+mn-lt"/>
              </a:rPr>
              <a:t>，还是只有一个分数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737870" y="607187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 w="9525" cmpd="sng">
            <a:solidFill>
              <a:schemeClr val="accent1">
                <a:lumMod val="18051"/>
                <a:lumOff val="81949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857250" y="6106478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机制语言</a:t>
            </a:r>
            <a:endParaRPr sz="1200" b="1">
              <a:solidFill>
                <a:schemeClr val="accent1">
                  <a:lumMod val="56651"/>
                </a:schemeClr>
              </a:solidFill>
              <a:cs typeface="+mn-lt"/>
            </a:endParaRPr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1671320" y="6071870"/>
            <a:ext cx="1000125" cy="238125"/>
          </a:xfrm>
          <a:custGeom>
            <a:avLst/>
            <a:gdLst>
              <a:gd name="sw" fmla="*/ 1 w 1575"/>
              <a:gd name="sh" fmla="*/ 1 h 375"/>
              <a:gd name="mins" fmla="min sw sh"/>
              <a:gd name="dsw" fmla="+- 0 sw mins"/>
              <a:gd name="dsh" fmla="+- 0 sh mins"/>
              <a:gd name="p0x0" fmla="*/ 187 w 1575"/>
              <a:gd name="p0y0" fmla="*/ 0 h 375"/>
              <a:gd name="p0x1" fmla="*/ 1387 w 1575"/>
              <a:gd name="p0y1" fmla="*/ 0 h 375"/>
              <a:gd name="p0x2" fmla="*/ 1491 w 1575"/>
              <a:gd name="p0y2" fmla="*/ 0 h 375"/>
              <a:gd name="p0x3" fmla="*/ 1575 w 1575"/>
              <a:gd name="p0y3" fmla="*/ 83 h 375"/>
              <a:gd name="p0x4" fmla="*/ 1575 w 1575"/>
              <a:gd name="p0y4" fmla="*/ 187 h 375"/>
              <a:gd name="p0x5" fmla="*/ 1575 w 1575"/>
              <a:gd name="p0y5" fmla="*/ 291 h 375"/>
              <a:gd name="p0x6" fmla="*/ 1491 w 1575"/>
              <a:gd name="p0y6" fmla="*/ 375 h 375"/>
              <a:gd name="p0x7" fmla="*/ 1387 w 1575"/>
              <a:gd name="p0y7" fmla="*/ 375 h 375"/>
              <a:gd name="p0x8" fmla="*/ 187 w 1575"/>
              <a:gd name="p0y8" fmla="*/ 375 h 375"/>
              <a:gd name="p0x9" fmla="*/ 83 w 1575"/>
              <a:gd name="p0y9" fmla="*/ 375 h 375"/>
              <a:gd name="p0x10" fmla="*/ 0 w 1575"/>
              <a:gd name="p0y10" fmla="*/ 291 h 375"/>
              <a:gd name="p0x11" fmla="*/ 0 w 1575"/>
              <a:gd name="p0y11" fmla="*/ 187 h 375"/>
              <a:gd name="p0x12" fmla="*/ 0 w 1575"/>
              <a:gd name="p0y12" fmla="*/ 83 h 375"/>
              <a:gd name="p0x13" fmla="*/ 83 w 1575"/>
              <a:gd name="p0y13" fmla="*/ 0 h 375"/>
              <a:gd name="p0x14" fmla="*/ 187 w 157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 w="9525" cmpd="sng">
            <a:solidFill>
              <a:schemeClr val="accent1">
                <a:lumMod val="18051"/>
                <a:lumOff val="81949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1790776" y="6106478"/>
            <a:ext cx="9144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可验证假说</a:t>
            </a:r>
            <a:endParaRPr sz="1200" b="1">
              <a:solidFill>
                <a:schemeClr val="accent1">
                  <a:lumMod val="56651"/>
                </a:schemeClr>
              </a:solidFill>
              <a:cs typeface="+mn-lt"/>
            </a:endParaRPr>
          </a:p>
        </p:txBody>
      </p:sp>
      <p:sp>
        <p:nvSpPr>
          <p:cNvPr id="21" name="任意多边形 20"/>
          <p:cNvSpPr/>
          <p:nvPr>
            <p:custDataLst>
              <p:tags r:id="rId19"/>
            </p:custDataLst>
          </p:nvPr>
        </p:nvSpPr>
        <p:spPr>
          <a:xfrm>
            <a:off x="434149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420 w 5525"/>
              <a:gd name="p0y0" fmla="*/ 0 h 8445"/>
              <a:gd name="p0x1" fmla="*/ 5105 w 5525"/>
              <a:gd name="p0y1" fmla="*/ 0 h 8445"/>
              <a:gd name="p0x2" fmla="*/ 5336 w 5525"/>
              <a:gd name="p0y2" fmla="*/ 0 h 8445"/>
              <a:gd name="p0x3" fmla="*/ 5525 w 5525"/>
              <a:gd name="p0y3" fmla="*/ 188 h 8445"/>
              <a:gd name="p0x4" fmla="*/ 5525 w 5525"/>
              <a:gd name="p0y4" fmla="*/ 420 h 8445"/>
              <a:gd name="p0x5" fmla="*/ 5525 w 5525"/>
              <a:gd name="p0y5" fmla="*/ 8025 h 8445"/>
              <a:gd name="p0x6" fmla="*/ 5525 w 5525"/>
              <a:gd name="p0y6" fmla="*/ 8256 h 8445"/>
              <a:gd name="p0x7" fmla="*/ 5336 w 5525"/>
              <a:gd name="p0y7" fmla="*/ 8445 h 8445"/>
              <a:gd name="p0x8" fmla="*/ 5105 w 5525"/>
              <a:gd name="p0y8" fmla="*/ 8445 h 8445"/>
              <a:gd name="p0x9" fmla="*/ 420 w 5525"/>
              <a:gd name="p0y9" fmla="*/ 8445 h 8445"/>
              <a:gd name="p0x10" fmla="*/ 188 w 5525"/>
              <a:gd name="p0y10" fmla="*/ 8445 h 8445"/>
              <a:gd name="p0x11" fmla="*/ 0 w 5525"/>
              <a:gd name="p0y11" fmla="*/ 8256 h 8445"/>
              <a:gd name="p0x12" fmla="*/ 0 w 5525"/>
              <a:gd name="p0y12" fmla="*/ 8025 h 8445"/>
              <a:gd name="p0x13" fmla="*/ 0 w 5525"/>
              <a:gd name="p0y13" fmla="*/ 420 h 8445"/>
              <a:gd name="p0x14" fmla="*/ 0 w 5525"/>
              <a:gd name="p0y14" fmla="*/ 188 h 8445"/>
              <a:gd name="p0x15" fmla="*/ 188 w 5525"/>
              <a:gd name="p0y15" fmla="*/ 0 h 8445"/>
              <a:gd name="p0x16" fmla="*/ 4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  <a:alpha val="4000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2" name="组合 61"/>
          <p:cNvGrpSpPr/>
          <p:nvPr/>
        </p:nvGrpSpPr>
        <p:grpSpPr>
          <a:xfrm>
            <a:off x="4498975" y="1266825"/>
            <a:ext cx="3194050" cy="428625"/>
            <a:chOff x="7085" y="1995"/>
            <a:chExt cx="5030" cy="675"/>
          </a:xfrm>
        </p:grpSpPr>
        <p:sp>
          <p:nvSpPr>
            <p:cNvPr id="22" name="任意多边形 21"/>
            <p:cNvSpPr/>
            <p:nvPr>
              <p:custDataLst>
                <p:tags r:id="rId20"/>
              </p:custDataLst>
            </p:nvPr>
          </p:nvSpPr>
          <p:spPr>
            <a:xfrm>
              <a:off x="7085" y="1995"/>
              <a:ext cx="5030" cy="675"/>
            </a:xfrm>
            <a:custGeom>
              <a:avLst/>
              <a:gdLst>
                <a:gd name="sw" fmla="*/ 1 w 5030"/>
                <a:gd name="sh" fmla="*/ 1 h 675"/>
                <a:gd name="mins" fmla="min sw sh"/>
                <a:gd name="dsw" fmla="+- 0 sw mins"/>
                <a:gd name="dsh" fmla="+- 0 sh mins"/>
                <a:gd name="p0x0" fmla="*/ 0 w 5030"/>
                <a:gd name="p0y0" fmla="*/ 0 h 675"/>
                <a:gd name="p0x1" fmla="*/ 5030 w 5030"/>
                <a:gd name="p0y1" fmla="*/ 0 h 675"/>
                <a:gd name="p0x2" fmla="*/ 5030 w 5030"/>
                <a:gd name="p0y2" fmla="*/ 675 h 675"/>
                <a:gd name="p0x3" fmla="*/ 0 w 5030"/>
                <a:gd name="p0y3" fmla="*/ 675 h 675"/>
                <a:gd name="p0x4" fmla="*/ 0 w 5030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21"/>
              </p:custDataLst>
            </p:nvPr>
          </p:nvSpPr>
          <p:spPr>
            <a:xfrm>
              <a:off x="7085" y="2640"/>
              <a:ext cx="5030" cy="30"/>
            </a:xfrm>
            <a:custGeom>
              <a:avLst/>
              <a:gdLst>
                <a:gd name="sw" fmla="*/ 1 w 5030"/>
                <a:gd name="sh" fmla="*/ 1 h 30"/>
                <a:gd name="mins" fmla="min sw sh"/>
                <a:gd name="dsw" fmla="+- 0 sw mins"/>
                <a:gd name="dsh" fmla="+- 0 sh mins"/>
                <a:gd name="p0x0" fmla="*/ 5030 w 5030"/>
                <a:gd name="p0y0" fmla="*/ 30 h 30"/>
                <a:gd name="p0x1" fmla="*/ 0 w 5030"/>
                <a:gd name="p0y1" fmla="*/ 30 h 30"/>
                <a:gd name="p0x2" fmla="*/ 0 w 5030"/>
                <a:gd name="p0y2" fmla="*/ 0 h 30"/>
                <a:gd name="p0x3" fmla="*/ 5030 w 5030"/>
                <a:gd name="p0y3" fmla="*/ 0 h 30"/>
                <a:gd name="p0x4" fmla="*/ 5030 w 503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5" name="任意多边形 24"/>
          <p:cNvSpPr/>
          <p:nvPr>
            <p:custDataLst>
              <p:tags r:id="rId22"/>
            </p:custDataLst>
          </p:nvPr>
        </p:nvSpPr>
        <p:spPr>
          <a:xfrm>
            <a:off x="4498975" y="129984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90 w 420"/>
              <a:gd name="p0y0" fmla="*/ 0 h 420"/>
              <a:gd name="p0x1" fmla="*/ 330 w 420"/>
              <a:gd name="p0y1" fmla="*/ 0 h 420"/>
              <a:gd name="p0x2" fmla="*/ 379 w 420"/>
              <a:gd name="p0y2" fmla="*/ 0 h 420"/>
              <a:gd name="p0x3" fmla="*/ 420 w 420"/>
              <a:gd name="p0y3" fmla="*/ 40 h 420"/>
              <a:gd name="p0x4" fmla="*/ 420 w 420"/>
              <a:gd name="p0y4" fmla="*/ 90 h 420"/>
              <a:gd name="p0x5" fmla="*/ 420 w 420"/>
              <a:gd name="p0y5" fmla="*/ 330 h 420"/>
              <a:gd name="p0x6" fmla="*/ 420 w 420"/>
              <a:gd name="p0y6" fmla="*/ 379 h 420"/>
              <a:gd name="p0x7" fmla="*/ 379 w 420"/>
              <a:gd name="p0y7" fmla="*/ 420 h 420"/>
              <a:gd name="p0x8" fmla="*/ 330 w 420"/>
              <a:gd name="p0y8" fmla="*/ 420 h 420"/>
              <a:gd name="p0x9" fmla="*/ 90 w 420"/>
              <a:gd name="p0y9" fmla="*/ 420 h 420"/>
              <a:gd name="p0x10" fmla="*/ 40 w 420"/>
              <a:gd name="p0y10" fmla="*/ 420 h 420"/>
              <a:gd name="p0x11" fmla="*/ 0 w 420"/>
              <a:gd name="p0y11" fmla="*/ 379 h 420"/>
              <a:gd name="p0x12" fmla="*/ 0 w 420"/>
              <a:gd name="p0y12" fmla="*/ 330 h 420"/>
              <a:gd name="p0x13" fmla="*/ 0 w 420"/>
              <a:gd name="p0y13" fmla="*/ 90 h 420"/>
              <a:gd name="p0x14" fmla="*/ 0 w 420"/>
              <a:gd name="p0y14" fmla="*/ 40 h 420"/>
              <a:gd name="p0x15" fmla="*/ 40 w 420"/>
              <a:gd name="p0y15" fmla="*/ 0 h 420"/>
              <a:gd name="p0x16" fmla="*/ 9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4556125" y="1356995"/>
            <a:ext cx="152400" cy="15240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26"/>
            </p:custDataLst>
          </p:nvPr>
        </p:nvSpPr>
        <p:spPr>
          <a:xfrm>
            <a:off x="4880001" y="1250632"/>
            <a:ext cx="108287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D3E5E"/>
                </a:solidFill>
                <a:cs typeface="+mn-lt"/>
              </a:rPr>
              <a:t>因果性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29" name="任意多边形 28"/>
          <p:cNvSpPr/>
          <p:nvPr>
            <p:custDataLst>
              <p:tags r:id="rId27"/>
            </p:custDataLst>
          </p:nvPr>
        </p:nvSpPr>
        <p:spPr>
          <a:xfrm>
            <a:off x="4503420" y="1814195"/>
            <a:ext cx="3184525" cy="847725"/>
          </a:xfrm>
          <a:custGeom>
            <a:avLst/>
            <a:gdLst>
              <a:gd name="sw" fmla="*/ 1 w 5015"/>
              <a:gd name="sh" fmla="*/ 1 h 1335"/>
              <a:gd name="mins" fmla="min sw sh"/>
              <a:gd name="dsw" fmla="+- 0 sw mins"/>
              <a:gd name="dsh" fmla="+- 0 sh mins"/>
              <a:gd name="p0x0" fmla="*/ 90 w 5015"/>
              <a:gd name="p0y0" fmla="*/ 0 h 1335"/>
              <a:gd name="p0x1" fmla="*/ 4925 w 5015"/>
              <a:gd name="p0y1" fmla="*/ 0 h 1335"/>
              <a:gd name="p0x2" fmla="*/ 4974 w 5015"/>
              <a:gd name="p0y2" fmla="*/ 0 h 1335"/>
              <a:gd name="p0x3" fmla="*/ 5015 w 5015"/>
              <a:gd name="p0y3" fmla="*/ 40 h 1335"/>
              <a:gd name="p0x4" fmla="*/ 5015 w 5015"/>
              <a:gd name="p0y4" fmla="*/ 90 h 1335"/>
              <a:gd name="p0x5" fmla="*/ 5015 w 5015"/>
              <a:gd name="p0y5" fmla="*/ 1245 h 1335"/>
              <a:gd name="p0x6" fmla="*/ 5015 w 5015"/>
              <a:gd name="p0y6" fmla="*/ 1294 h 1335"/>
              <a:gd name="p0x7" fmla="*/ 4974 w 5015"/>
              <a:gd name="p0y7" fmla="*/ 1335 h 1335"/>
              <a:gd name="p0x8" fmla="*/ 4925 w 5015"/>
              <a:gd name="p0y8" fmla="*/ 1335 h 1335"/>
              <a:gd name="p0x9" fmla="*/ 90 w 5015"/>
              <a:gd name="p0y9" fmla="*/ 1335 h 1335"/>
              <a:gd name="p0x10" fmla="*/ 40 w 5015"/>
              <a:gd name="p0y10" fmla="*/ 1335 h 1335"/>
              <a:gd name="p0x11" fmla="*/ 0 w 5015"/>
              <a:gd name="p0y11" fmla="*/ 1294 h 1335"/>
              <a:gd name="p0x12" fmla="*/ 0 w 5015"/>
              <a:gd name="p0y12" fmla="*/ 1245 h 1335"/>
              <a:gd name="p0x13" fmla="*/ 0 w 5015"/>
              <a:gd name="p0y13" fmla="*/ 90 h 1335"/>
              <a:gd name="p0x14" fmla="*/ 0 w 5015"/>
              <a:gd name="p0y14" fmla="*/ 40 h 1335"/>
              <a:gd name="p0x15" fmla="*/ 40 w 5015"/>
              <a:gd name="p0y15" fmla="*/ 0 h 1335"/>
              <a:gd name="p0x16" fmla="*/ 90 w 501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4622826" y="1919288"/>
            <a:ext cx="28575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>
                <a:solidFill>
                  <a:schemeClr val="tx2"/>
                </a:solidFill>
                <a:cs typeface="+mn-lt"/>
              </a:rPr>
              <a:t>能否区分</a:t>
            </a:r>
            <a:r>
              <a:rPr sz="1500" b="1">
                <a:solidFill>
                  <a:schemeClr val="tx2"/>
                </a:solidFill>
                <a:cs typeface="+mn-lt"/>
              </a:rPr>
              <a:t>相关与因果</a:t>
            </a:r>
            <a:r>
              <a:rPr sz="1500">
                <a:solidFill>
                  <a:schemeClr val="tx2"/>
                </a:solidFill>
                <a:cs typeface="+mn-lt"/>
              </a:rPr>
              <a:t>、预测</a:t>
            </a:r>
            <a:r>
              <a:rPr sz="1500" b="1">
                <a:solidFill>
                  <a:schemeClr val="tx2"/>
                </a:solidFill>
                <a:cs typeface="+mn-lt"/>
              </a:rPr>
              <a:t>干预结果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1" name="任意多边形 30"/>
          <p:cNvSpPr/>
          <p:nvPr>
            <p:custDataLst>
              <p:tags r:id="rId29"/>
            </p:custDataLst>
          </p:nvPr>
        </p:nvSpPr>
        <p:spPr>
          <a:xfrm>
            <a:off x="4503420" y="2785745"/>
            <a:ext cx="3184525" cy="781050"/>
          </a:xfrm>
          <a:custGeom>
            <a:avLst/>
            <a:gdLst>
              <a:gd name="sw" fmla="*/ 1 w 5015"/>
              <a:gd name="sh" fmla="*/ 1 h 1230"/>
              <a:gd name="mins" fmla="min sw sh"/>
              <a:gd name="dsw" fmla="+- 0 sw mins"/>
              <a:gd name="dsh" fmla="+- 0 sh mins"/>
              <a:gd name="p0x0" fmla="*/ 90 w 5015"/>
              <a:gd name="p0y0" fmla="*/ 0 h 1230"/>
              <a:gd name="p0x1" fmla="*/ 4925 w 5015"/>
              <a:gd name="p0y1" fmla="*/ 0 h 1230"/>
              <a:gd name="p0x2" fmla="*/ 4974 w 5015"/>
              <a:gd name="p0y2" fmla="*/ 0 h 1230"/>
              <a:gd name="p0x3" fmla="*/ 5015 w 5015"/>
              <a:gd name="p0y3" fmla="*/ 40 h 1230"/>
              <a:gd name="p0x4" fmla="*/ 5015 w 5015"/>
              <a:gd name="p0y4" fmla="*/ 90 h 1230"/>
              <a:gd name="p0x5" fmla="*/ 5015 w 5015"/>
              <a:gd name="p0y5" fmla="*/ 1140 h 1230"/>
              <a:gd name="p0x6" fmla="*/ 5015 w 5015"/>
              <a:gd name="p0y6" fmla="*/ 1189 h 1230"/>
              <a:gd name="p0x7" fmla="*/ 4974 w 5015"/>
              <a:gd name="p0y7" fmla="*/ 1230 h 1230"/>
              <a:gd name="p0x8" fmla="*/ 4925 w 5015"/>
              <a:gd name="p0y8" fmla="*/ 1230 h 1230"/>
              <a:gd name="p0x9" fmla="*/ 90 w 5015"/>
              <a:gd name="p0y9" fmla="*/ 1230 h 1230"/>
              <a:gd name="p0x10" fmla="*/ 40 w 5015"/>
              <a:gd name="p0y10" fmla="*/ 1230 h 1230"/>
              <a:gd name="p0x11" fmla="*/ 0 w 5015"/>
              <a:gd name="p0y11" fmla="*/ 1189 h 1230"/>
              <a:gd name="p0x12" fmla="*/ 0 w 5015"/>
              <a:gd name="p0y12" fmla="*/ 1140 h 1230"/>
              <a:gd name="p0x13" fmla="*/ 0 w 5015"/>
              <a:gd name="p0y13" fmla="*/ 90 h 1230"/>
              <a:gd name="p0x14" fmla="*/ 0 w 5015"/>
              <a:gd name="p0y14" fmla="*/ 40 h 1230"/>
              <a:gd name="p0x15" fmla="*/ 40 w 5015"/>
              <a:gd name="p0y15" fmla="*/ 0 h 1230"/>
              <a:gd name="p0x16" fmla="*/ 90 w 5015"/>
              <a:gd name="p0y16" fmla="*/ 0 h 12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4622826" y="2905125"/>
            <a:ext cx="294642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4A6E8E"/>
                </a:solidFill>
                <a:cs typeface="+mn-lt"/>
              </a:rPr>
              <a:t>检验</a:t>
            </a:r>
            <a:endParaRPr sz="1200" b="1" spc="72">
              <a:solidFill>
                <a:srgbClr val="4A6E8E"/>
              </a:solidFill>
              <a:cs typeface="+mn-lt"/>
            </a:endParaRPr>
          </a:p>
        </p:txBody>
      </p:sp>
      <p:sp>
        <p:nvSpPr>
          <p:cNvPr id="33" name="文本框 32"/>
          <p:cNvSpPr txBox="1"/>
          <p:nvPr>
            <p:custDataLst>
              <p:tags r:id="rId31"/>
            </p:custDataLst>
          </p:nvPr>
        </p:nvSpPr>
        <p:spPr>
          <a:xfrm>
            <a:off x="4622826" y="3128963"/>
            <a:ext cx="294642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E8E"/>
                </a:solidFill>
                <a:cs typeface="+mn-lt"/>
              </a:rPr>
              <a:t>动手改变它，结果会不会变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34" name="任意多边形 33"/>
          <p:cNvSpPr/>
          <p:nvPr>
            <p:custDataLst>
              <p:tags r:id="rId32"/>
            </p:custDataLst>
          </p:nvPr>
        </p:nvSpPr>
        <p:spPr>
          <a:xfrm>
            <a:off x="4503420" y="6071870"/>
            <a:ext cx="1009015" cy="238125"/>
          </a:xfrm>
          <a:custGeom>
            <a:avLst/>
            <a:gdLst>
              <a:gd name="sw" fmla="*/ 1 w 1588"/>
              <a:gd name="sh" fmla="*/ 1 h 375"/>
              <a:gd name="mins" fmla="min sw sh"/>
              <a:gd name="dsw" fmla="+- 0 sw mins"/>
              <a:gd name="dsh" fmla="+- 0 sh mins"/>
              <a:gd name="p0x0" fmla="*/ 187 w 1588"/>
              <a:gd name="p0y0" fmla="*/ 0 h 375"/>
              <a:gd name="p0x1" fmla="*/ 1400 w 1588"/>
              <a:gd name="p0y1" fmla="*/ 0 h 375"/>
              <a:gd name="p0x2" fmla="*/ 1504 w 1588"/>
              <a:gd name="p0y2" fmla="*/ 0 h 375"/>
              <a:gd name="p0x3" fmla="*/ 1588 w 1588"/>
              <a:gd name="p0y3" fmla="*/ 83 h 375"/>
              <a:gd name="p0x4" fmla="*/ 1588 w 1588"/>
              <a:gd name="p0y4" fmla="*/ 187 h 375"/>
              <a:gd name="p0x5" fmla="*/ 1588 w 1588"/>
              <a:gd name="p0y5" fmla="*/ 291 h 375"/>
              <a:gd name="p0x6" fmla="*/ 1504 w 1588"/>
              <a:gd name="p0y6" fmla="*/ 375 h 375"/>
              <a:gd name="p0x7" fmla="*/ 1400 w 1588"/>
              <a:gd name="p0y7" fmla="*/ 375 h 375"/>
              <a:gd name="p0x8" fmla="*/ 187 w 1588"/>
              <a:gd name="p0y8" fmla="*/ 375 h 375"/>
              <a:gd name="p0x9" fmla="*/ 83 w 1588"/>
              <a:gd name="p0y9" fmla="*/ 375 h 375"/>
              <a:gd name="p0x10" fmla="*/ 0 w 1588"/>
              <a:gd name="p0y10" fmla="*/ 291 h 375"/>
              <a:gd name="p0x11" fmla="*/ 0 w 1588"/>
              <a:gd name="p0y11" fmla="*/ 187 h 375"/>
              <a:gd name="p0x12" fmla="*/ 0 w 1588"/>
              <a:gd name="p0y12" fmla="*/ 83 h 375"/>
              <a:gd name="p0x13" fmla="*/ 83 w 1588"/>
              <a:gd name="p0y13" fmla="*/ 0 h 375"/>
              <a:gd name="p0x14" fmla="*/ 187 w 1588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B8F0EC"/>
          </a:solidFill>
          <a:ln w="9525" cmpd="sng">
            <a:solidFill>
              <a:schemeClr val="accent1">
                <a:lumMod val="18051"/>
                <a:lumOff val="81949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4622826" y="6106478"/>
            <a:ext cx="922953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200" b="1">
                <a:solidFill>
                  <a:schemeClr val="accent2">
                    <a:lumMod val="55435"/>
                  </a:schemeClr>
                </a:solidFill>
                <a:cs typeface="+mn-lt"/>
              </a:rPr>
              <a:t>相关</a:t>
            </a:r>
            <a:r>
              <a:rPr lang="en-US" altLang="zh-CN" sz="1200" b="1">
                <a:solidFill>
                  <a:schemeClr val="accent2">
                    <a:lumMod val="55435"/>
                  </a:schemeClr>
                </a:solidFill>
                <a:cs typeface="+mn-lt"/>
              </a:rPr>
              <a:t>vs</a:t>
            </a:r>
            <a:r>
              <a:rPr lang="zh-CN" altLang="en-US" sz="1200" b="1">
                <a:solidFill>
                  <a:schemeClr val="accent2">
                    <a:lumMod val="55435"/>
                  </a:schemeClr>
                </a:solidFill>
                <a:cs typeface="+mn-lt"/>
              </a:rPr>
              <a:t>因果</a:t>
            </a:r>
            <a:endParaRPr lang="zh-CN" altLang="en-US" sz="1200" b="1">
              <a:solidFill>
                <a:schemeClr val="accent2">
                  <a:lumMod val="55435"/>
                </a:schemeClr>
              </a:solidFill>
              <a:cs typeface="+mn-lt"/>
            </a:endParaRPr>
          </a:p>
        </p:txBody>
      </p:sp>
      <p:sp>
        <p:nvSpPr>
          <p:cNvPr id="36" name="任意多边形 35"/>
          <p:cNvSpPr/>
          <p:nvPr>
            <p:custDataLst>
              <p:tags r:id="rId34"/>
            </p:custDataLst>
          </p:nvPr>
        </p:nvSpPr>
        <p:spPr>
          <a:xfrm>
            <a:off x="5598160" y="607187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B8F0EC"/>
          </a:solidFill>
          <a:ln w="9525" cmpd="sng">
            <a:solidFill>
              <a:schemeClr val="accent1">
                <a:lumMod val="18051"/>
                <a:lumOff val="81949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5717229" y="6106478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200" b="1">
                <a:solidFill>
                  <a:schemeClr val="accent2">
                    <a:lumMod val="55435"/>
                  </a:schemeClr>
                </a:solidFill>
                <a:cs typeface="+mn-lt"/>
              </a:rPr>
              <a:t>干预结果</a:t>
            </a:r>
            <a:endParaRPr sz="1200" b="1">
              <a:solidFill>
                <a:schemeClr val="accent2">
                  <a:lumMod val="55435"/>
                </a:schemeClr>
              </a:solidFill>
              <a:cs typeface="+mn-lt"/>
            </a:endParaRPr>
          </a:p>
        </p:txBody>
      </p:sp>
      <p:sp>
        <p:nvSpPr>
          <p:cNvPr id="38" name="任意多边形 37"/>
          <p:cNvSpPr/>
          <p:nvPr>
            <p:custDataLst>
              <p:tags r:id="rId36"/>
            </p:custDataLst>
          </p:nvPr>
        </p:nvSpPr>
        <p:spPr>
          <a:xfrm>
            <a:off x="810704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420 w 5525"/>
              <a:gd name="p0y0" fmla="*/ 0 h 8445"/>
              <a:gd name="p0x1" fmla="*/ 5105 w 5525"/>
              <a:gd name="p0y1" fmla="*/ 0 h 8445"/>
              <a:gd name="p0x2" fmla="*/ 5336 w 5525"/>
              <a:gd name="p0y2" fmla="*/ 0 h 8445"/>
              <a:gd name="p0x3" fmla="*/ 5525 w 5525"/>
              <a:gd name="p0y3" fmla="*/ 188 h 8445"/>
              <a:gd name="p0x4" fmla="*/ 5525 w 5525"/>
              <a:gd name="p0y4" fmla="*/ 420 h 8445"/>
              <a:gd name="p0x5" fmla="*/ 5525 w 5525"/>
              <a:gd name="p0y5" fmla="*/ 8025 h 8445"/>
              <a:gd name="p0x6" fmla="*/ 5525 w 5525"/>
              <a:gd name="p0y6" fmla="*/ 8256 h 8445"/>
              <a:gd name="p0x7" fmla="*/ 5336 w 5525"/>
              <a:gd name="p0y7" fmla="*/ 8445 h 8445"/>
              <a:gd name="p0x8" fmla="*/ 5105 w 5525"/>
              <a:gd name="p0y8" fmla="*/ 8445 h 8445"/>
              <a:gd name="p0x9" fmla="*/ 420 w 5525"/>
              <a:gd name="p0y9" fmla="*/ 8445 h 8445"/>
              <a:gd name="p0x10" fmla="*/ 188 w 5525"/>
              <a:gd name="p0y10" fmla="*/ 8445 h 8445"/>
              <a:gd name="p0x11" fmla="*/ 0 w 5525"/>
              <a:gd name="p0y11" fmla="*/ 8256 h 8445"/>
              <a:gd name="p0x12" fmla="*/ 0 w 5525"/>
              <a:gd name="p0y12" fmla="*/ 8025 h 8445"/>
              <a:gd name="p0x13" fmla="*/ 0 w 5525"/>
              <a:gd name="p0y13" fmla="*/ 420 h 8445"/>
              <a:gd name="p0x14" fmla="*/ 0 w 5525"/>
              <a:gd name="p0y14" fmla="*/ 188 h 8445"/>
              <a:gd name="p0x15" fmla="*/ 188 w 5525"/>
              <a:gd name="p0y15" fmla="*/ 0 h 8445"/>
              <a:gd name="p0x16" fmla="*/ 4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  <a:alpha val="4000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3" name="组合 62"/>
          <p:cNvGrpSpPr/>
          <p:nvPr/>
        </p:nvGrpSpPr>
        <p:grpSpPr>
          <a:xfrm>
            <a:off x="8264525" y="1266825"/>
            <a:ext cx="3194050" cy="428625"/>
            <a:chOff x="13015" y="1995"/>
            <a:chExt cx="5030" cy="675"/>
          </a:xfrm>
        </p:grpSpPr>
        <p:sp>
          <p:nvSpPr>
            <p:cNvPr id="39" name="任意多边形 38"/>
            <p:cNvSpPr/>
            <p:nvPr>
              <p:custDataLst>
                <p:tags r:id="rId37"/>
              </p:custDataLst>
            </p:nvPr>
          </p:nvSpPr>
          <p:spPr>
            <a:xfrm>
              <a:off x="13015" y="1995"/>
              <a:ext cx="5030" cy="675"/>
            </a:xfrm>
            <a:custGeom>
              <a:avLst/>
              <a:gdLst>
                <a:gd name="sw" fmla="*/ 1 w 5030"/>
                <a:gd name="sh" fmla="*/ 1 h 675"/>
                <a:gd name="mins" fmla="min sw sh"/>
                <a:gd name="dsw" fmla="+- 0 sw mins"/>
                <a:gd name="dsh" fmla="+- 0 sh mins"/>
                <a:gd name="p0x0" fmla="*/ 0 w 5030"/>
                <a:gd name="p0y0" fmla="*/ 0 h 675"/>
                <a:gd name="p0x1" fmla="*/ 5030 w 5030"/>
                <a:gd name="p0y1" fmla="*/ 0 h 675"/>
                <a:gd name="p0x2" fmla="*/ 5030 w 5030"/>
                <a:gd name="p0y2" fmla="*/ 675 h 675"/>
                <a:gd name="p0x3" fmla="*/ 0 w 5030"/>
                <a:gd name="p0y3" fmla="*/ 675 h 675"/>
                <a:gd name="p0x4" fmla="*/ 0 w 5030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>
              <p:custDataLst>
                <p:tags r:id="rId38"/>
              </p:custDataLst>
            </p:nvPr>
          </p:nvSpPr>
          <p:spPr>
            <a:xfrm>
              <a:off x="13015" y="2640"/>
              <a:ext cx="5030" cy="30"/>
            </a:xfrm>
            <a:custGeom>
              <a:avLst/>
              <a:gdLst>
                <a:gd name="sw" fmla="*/ 1 w 5030"/>
                <a:gd name="sh" fmla="*/ 1 h 30"/>
                <a:gd name="mins" fmla="min sw sh"/>
                <a:gd name="dsw" fmla="+- 0 sw mins"/>
                <a:gd name="dsh" fmla="+- 0 sh mins"/>
                <a:gd name="p0x0" fmla="*/ 5030 w 5030"/>
                <a:gd name="p0y0" fmla="*/ 30 h 30"/>
                <a:gd name="p0x1" fmla="*/ 0 w 5030"/>
                <a:gd name="p0y1" fmla="*/ 30 h 30"/>
                <a:gd name="p0x2" fmla="*/ 0 w 5030"/>
                <a:gd name="p0y2" fmla="*/ 0 h 30"/>
                <a:gd name="p0x3" fmla="*/ 5030 w 5030"/>
                <a:gd name="p0y3" fmla="*/ 0 h 30"/>
                <a:gd name="p0x4" fmla="*/ 5030 w 503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2" name="任意多边形 41"/>
          <p:cNvSpPr/>
          <p:nvPr>
            <p:custDataLst>
              <p:tags r:id="rId39"/>
            </p:custDataLst>
          </p:nvPr>
        </p:nvSpPr>
        <p:spPr>
          <a:xfrm>
            <a:off x="8264525" y="129984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90 w 420"/>
              <a:gd name="p0y0" fmla="*/ 0 h 420"/>
              <a:gd name="p0x1" fmla="*/ 330 w 420"/>
              <a:gd name="p0y1" fmla="*/ 0 h 420"/>
              <a:gd name="p0x2" fmla="*/ 379 w 420"/>
              <a:gd name="p0y2" fmla="*/ 0 h 420"/>
              <a:gd name="p0x3" fmla="*/ 420 w 420"/>
              <a:gd name="p0y3" fmla="*/ 40 h 420"/>
              <a:gd name="p0x4" fmla="*/ 420 w 420"/>
              <a:gd name="p0y4" fmla="*/ 90 h 420"/>
              <a:gd name="p0x5" fmla="*/ 420 w 420"/>
              <a:gd name="p0y5" fmla="*/ 330 h 420"/>
              <a:gd name="p0x6" fmla="*/ 420 w 420"/>
              <a:gd name="p0y6" fmla="*/ 379 h 420"/>
              <a:gd name="p0x7" fmla="*/ 379 w 420"/>
              <a:gd name="p0y7" fmla="*/ 420 h 420"/>
              <a:gd name="p0x8" fmla="*/ 330 w 420"/>
              <a:gd name="p0y8" fmla="*/ 420 h 420"/>
              <a:gd name="p0x9" fmla="*/ 90 w 420"/>
              <a:gd name="p0y9" fmla="*/ 420 h 420"/>
              <a:gd name="p0x10" fmla="*/ 40 w 420"/>
              <a:gd name="p0y10" fmla="*/ 420 h 420"/>
              <a:gd name="p0x11" fmla="*/ 0 w 420"/>
              <a:gd name="p0y11" fmla="*/ 379 h 420"/>
              <a:gd name="p0x12" fmla="*/ 0 w 420"/>
              <a:gd name="p0y12" fmla="*/ 330 h 420"/>
              <a:gd name="p0x13" fmla="*/ 0 w 420"/>
              <a:gd name="p0y13" fmla="*/ 90 h 420"/>
              <a:gd name="p0x14" fmla="*/ 0 w 420"/>
              <a:gd name="p0y14" fmla="*/ 40 h 420"/>
              <a:gd name="p0x15" fmla="*/ 40 w 420"/>
              <a:gd name="p0y15" fmla="*/ 0 h 420"/>
              <a:gd name="p0x16" fmla="*/ 9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t="-7143" b="-7143"/>
          <a:stretch>
            <a:fillRect/>
          </a:stretch>
        </p:blipFill>
        <p:spPr>
          <a:xfrm>
            <a:off x="8321675" y="1356995"/>
            <a:ext cx="152400" cy="152400"/>
          </a:xfrm>
          <a:prstGeom prst="rect">
            <a:avLst/>
          </a:prstGeom>
        </p:spPr>
      </p:pic>
      <p:sp>
        <p:nvSpPr>
          <p:cNvPr id="45" name="文本框 44"/>
          <p:cNvSpPr txBox="1"/>
          <p:nvPr>
            <p:custDataLst>
              <p:tags r:id="rId43"/>
            </p:custDataLst>
          </p:nvPr>
        </p:nvSpPr>
        <p:spPr>
          <a:xfrm>
            <a:off x="8645576" y="1250632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D3E5E"/>
                </a:solidFill>
                <a:cs typeface="+mn-lt"/>
              </a:rPr>
              <a:t>可迁移性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46" name="任意多边形 45"/>
          <p:cNvSpPr/>
          <p:nvPr>
            <p:custDataLst>
              <p:tags r:id="rId44"/>
            </p:custDataLst>
          </p:nvPr>
        </p:nvSpPr>
        <p:spPr>
          <a:xfrm>
            <a:off x="8268970" y="1814195"/>
            <a:ext cx="3184525" cy="847725"/>
          </a:xfrm>
          <a:custGeom>
            <a:avLst/>
            <a:gdLst>
              <a:gd name="sw" fmla="*/ 1 w 5015"/>
              <a:gd name="sh" fmla="*/ 1 h 1335"/>
              <a:gd name="mins" fmla="min sw sh"/>
              <a:gd name="dsw" fmla="+- 0 sw mins"/>
              <a:gd name="dsh" fmla="+- 0 sh mins"/>
              <a:gd name="p0x0" fmla="*/ 90 w 5015"/>
              <a:gd name="p0y0" fmla="*/ 0 h 1335"/>
              <a:gd name="p0x1" fmla="*/ 4925 w 5015"/>
              <a:gd name="p0y1" fmla="*/ 0 h 1335"/>
              <a:gd name="p0x2" fmla="*/ 4974 w 5015"/>
              <a:gd name="p0y2" fmla="*/ 0 h 1335"/>
              <a:gd name="p0x3" fmla="*/ 5015 w 5015"/>
              <a:gd name="p0y3" fmla="*/ 40 h 1335"/>
              <a:gd name="p0x4" fmla="*/ 5015 w 5015"/>
              <a:gd name="p0y4" fmla="*/ 90 h 1335"/>
              <a:gd name="p0x5" fmla="*/ 5015 w 5015"/>
              <a:gd name="p0y5" fmla="*/ 1245 h 1335"/>
              <a:gd name="p0x6" fmla="*/ 5015 w 5015"/>
              <a:gd name="p0y6" fmla="*/ 1294 h 1335"/>
              <a:gd name="p0x7" fmla="*/ 4974 w 5015"/>
              <a:gd name="p0y7" fmla="*/ 1335 h 1335"/>
              <a:gd name="p0x8" fmla="*/ 4925 w 5015"/>
              <a:gd name="p0y8" fmla="*/ 1335 h 1335"/>
              <a:gd name="p0x9" fmla="*/ 90 w 5015"/>
              <a:gd name="p0y9" fmla="*/ 1335 h 1335"/>
              <a:gd name="p0x10" fmla="*/ 40 w 5015"/>
              <a:gd name="p0y10" fmla="*/ 1335 h 1335"/>
              <a:gd name="p0x11" fmla="*/ 0 w 5015"/>
              <a:gd name="p0y11" fmla="*/ 1294 h 1335"/>
              <a:gd name="p0x12" fmla="*/ 0 w 5015"/>
              <a:gd name="p0y12" fmla="*/ 1245 h 1335"/>
              <a:gd name="p0x13" fmla="*/ 0 w 5015"/>
              <a:gd name="p0y13" fmla="*/ 90 h 1335"/>
              <a:gd name="p0x14" fmla="*/ 0 w 5015"/>
              <a:gd name="p0y14" fmla="*/ 40 h 1335"/>
              <a:gd name="p0x15" fmla="*/ 40 w 5015"/>
              <a:gd name="p0y15" fmla="*/ 0 h 1335"/>
              <a:gd name="p0x16" fmla="*/ 90 w 501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45"/>
            </p:custDataLst>
          </p:nvPr>
        </p:nvSpPr>
        <p:spPr>
          <a:xfrm>
            <a:off x="8388401" y="1919288"/>
            <a:ext cx="294642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 b="1">
                <a:solidFill>
                  <a:schemeClr val="accent3"/>
                </a:solidFill>
                <a:cs typeface="+mn-lt"/>
              </a:rPr>
              <a:t>分布外</a:t>
            </a:r>
            <a:r>
              <a:rPr sz="1500">
                <a:solidFill>
                  <a:schemeClr val="tx2"/>
                </a:solidFill>
                <a:cs typeface="+mn-lt"/>
              </a:rPr>
              <a:t>、</a:t>
            </a:r>
            <a:r>
              <a:rPr sz="1500" b="1">
                <a:solidFill>
                  <a:schemeClr val="accent3"/>
                </a:solidFill>
                <a:cs typeface="+mn-lt"/>
              </a:rPr>
              <a:t>跨物种</a:t>
            </a:r>
            <a:r>
              <a:rPr sz="1500">
                <a:solidFill>
                  <a:schemeClr val="tx2"/>
                </a:solidFill>
                <a:cs typeface="+mn-lt"/>
              </a:rPr>
              <a:t>、</a:t>
            </a:r>
            <a:r>
              <a:rPr sz="1500" b="1">
                <a:solidFill>
                  <a:schemeClr val="accent3"/>
                </a:solidFill>
                <a:cs typeface="+mn-lt"/>
              </a:rPr>
              <a:t>零样本</a:t>
            </a:r>
            <a:r>
              <a:rPr sz="1500">
                <a:solidFill>
                  <a:schemeClr val="tx2"/>
                </a:solidFill>
                <a:cs typeface="+mn-lt"/>
              </a:rPr>
              <a:t>场景下，是否依然有效</a:t>
            </a:r>
            <a:endParaRPr sz="1500">
              <a:solidFill>
                <a:schemeClr val="tx2"/>
              </a:solidFill>
              <a:cs typeface="+mn-lt"/>
            </a:endParaRPr>
          </a:p>
        </p:txBody>
      </p:sp>
      <p:sp>
        <p:nvSpPr>
          <p:cNvPr id="48" name="任意多边形 47"/>
          <p:cNvSpPr/>
          <p:nvPr>
            <p:custDataLst>
              <p:tags r:id="rId46"/>
            </p:custDataLst>
          </p:nvPr>
        </p:nvSpPr>
        <p:spPr>
          <a:xfrm>
            <a:off x="8268970" y="2785745"/>
            <a:ext cx="3184525" cy="781050"/>
          </a:xfrm>
          <a:custGeom>
            <a:avLst/>
            <a:gdLst>
              <a:gd name="sw" fmla="*/ 1 w 5015"/>
              <a:gd name="sh" fmla="*/ 1 h 1230"/>
              <a:gd name="mins" fmla="min sw sh"/>
              <a:gd name="dsw" fmla="+- 0 sw mins"/>
              <a:gd name="dsh" fmla="+- 0 sh mins"/>
              <a:gd name="p0x0" fmla="*/ 90 w 5015"/>
              <a:gd name="p0y0" fmla="*/ 0 h 1230"/>
              <a:gd name="p0x1" fmla="*/ 4925 w 5015"/>
              <a:gd name="p0y1" fmla="*/ 0 h 1230"/>
              <a:gd name="p0x2" fmla="*/ 4974 w 5015"/>
              <a:gd name="p0y2" fmla="*/ 0 h 1230"/>
              <a:gd name="p0x3" fmla="*/ 5015 w 5015"/>
              <a:gd name="p0y3" fmla="*/ 40 h 1230"/>
              <a:gd name="p0x4" fmla="*/ 5015 w 5015"/>
              <a:gd name="p0y4" fmla="*/ 90 h 1230"/>
              <a:gd name="p0x5" fmla="*/ 5015 w 5015"/>
              <a:gd name="p0y5" fmla="*/ 1140 h 1230"/>
              <a:gd name="p0x6" fmla="*/ 5015 w 5015"/>
              <a:gd name="p0y6" fmla="*/ 1189 h 1230"/>
              <a:gd name="p0x7" fmla="*/ 4974 w 5015"/>
              <a:gd name="p0y7" fmla="*/ 1230 h 1230"/>
              <a:gd name="p0x8" fmla="*/ 4925 w 5015"/>
              <a:gd name="p0y8" fmla="*/ 1230 h 1230"/>
              <a:gd name="p0x9" fmla="*/ 90 w 5015"/>
              <a:gd name="p0y9" fmla="*/ 1230 h 1230"/>
              <a:gd name="p0x10" fmla="*/ 40 w 5015"/>
              <a:gd name="p0y10" fmla="*/ 1230 h 1230"/>
              <a:gd name="p0x11" fmla="*/ 0 w 5015"/>
              <a:gd name="p0y11" fmla="*/ 1189 h 1230"/>
              <a:gd name="p0x12" fmla="*/ 0 w 5015"/>
              <a:gd name="p0y12" fmla="*/ 1140 h 1230"/>
              <a:gd name="p0x13" fmla="*/ 0 w 5015"/>
              <a:gd name="p0y13" fmla="*/ 90 h 1230"/>
              <a:gd name="p0x14" fmla="*/ 0 w 5015"/>
              <a:gd name="p0y14" fmla="*/ 40 h 1230"/>
              <a:gd name="p0x15" fmla="*/ 40 w 5015"/>
              <a:gd name="p0y15" fmla="*/ 0 h 1230"/>
              <a:gd name="p0x16" fmla="*/ 90 w 5015"/>
              <a:gd name="p0y16" fmla="*/ 0 h 12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47"/>
            </p:custDataLst>
          </p:nvPr>
        </p:nvSpPr>
        <p:spPr>
          <a:xfrm>
            <a:off x="8388401" y="2905125"/>
            <a:ext cx="294642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4A6E8E"/>
                </a:solidFill>
                <a:cs typeface="+mn-lt"/>
              </a:rPr>
              <a:t>检验</a:t>
            </a:r>
            <a:endParaRPr sz="1200" b="1" spc="72">
              <a:solidFill>
                <a:srgbClr val="4A6E8E"/>
              </a:solidFill>
              <a:cs typeface="+mn-lt"/>
            </a:endParaRPr>
          </a:p>
        </p:txBody>
      </p:sp>
      <p:sp>
        <p:nvSpPr>
          <p:cNvPr id="50" name="文本框 49"/>
          <p:cNvSpPr txBox="1"/>
          <p:nvPr>
            <p:custDataLst>
              <p:tags r:id="rId48"/>
            </p:custDataLst>
          </p:nvPr>
        </p:nvSpPr>
        <p:spPr>
          <a:xfrm>
            <a:off x="8388401" y="3128963"/>
            <a:ext cx="294642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E8E"/>
                </a:solidFill>
                <a:cs typeface="+mn-lt"/>
              </a:rPr>
              <a:t>换个物种、换个组织，再测一遍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51" name="任意多边形 50"/>
          <p:cNvSpPr/>
          <p:nvPr>
            <p:custDataLst>
              <p:tags r:id="rId49"/>
            </p:custDataLst>
          </p:nvPr>
        </p:nvSpPr>
        <p:spPr>
          <a:xfrm>
            <a:off x="8225790" y="6038215"/>
            <a:ext cx="695325" cy="238125"/>
          </a:xfrm>
          <a:custGeom>
            <a:avLst/>
            <a:gdLst>
              <a:gd name="sw" fmla="*/ 1 w 1095"/>
              <a:gd name="sh" fmla="*/ 1 h 375"/>
              <a:gd name="mins" fmla="min sw sh"/>
              <a:gd name="dsw" fmla="+- 0 sw mins"/>
              <a:gd name="dsh" fmla="+- 0 sh mins"/>
              <a:gd name="p0x0" fmla="*/ 187 w 1095"/>
              <a:gd name="p0y0" fmla="*/ 0 h 375"/>
              <a:gd name="p0x1" fmla="*/ 907 w 1095"/>
              <a:gd name="p0y1" fmla="*/ 0 h 375"/>
              <a:gd name="p0x2" fmla="*/ 1011 w 1095"/>
              <a:gd name="p0y2" fmla="*/ 0 h 375"/>
              <a:gd name="p0x3" fmla="*/ 1095 w 1095"/>
              <a:gd name="p0y3" fmla="*/ 83 h 375"/>
              <a:gd name="p0x4" fmla="*/ 1095 w 1095"/>
              <a:gd name="p0y4" fmla="*/ 187 h 375"/>
              <a:gd name="p0x5" fmla="*/ 1095 w 1095"/>
              <a:gd name="p0y5" fmla="*/ 291 h 375"/>
              <a:gd name="p0x6" fmla="*/ 1011 w 1095"/>
              <a:gd name="p0y6" fmla="*/ 375 h 375"/>
              <a:gd name="p0x7" fmla="*/ 907 w 1095"/>
              <a:gd name="p0y7" fmla="*/ 375 h 375"/>
              <a:gd name="p0x8" fmla="*/ 187 w 1095"/>
              <a:gd name="p0y8" fmla="*/ 375 h 375"/>
              <a:gd name="p0x9" fmla="*/ 83 w 1095"/>
              <a:gd name="p0y9" fmla="*/ 375 h 375"/>
              <a:gd name="p0x10" fmla="*/ 0 w 1095"/>
              <a:gd name="p0y10" fmla="*/ 291 h 375"/>
              <a:gd name="p0x11" fmla="*/ 0 w 1095"/>
              <a:gd name="p0y11" fmla="*/ 187 h 375"/>
              <a:gd name="p0x12" fmla="*/ 0 w 1095"/>
              <a:gd name="p0y12" fmla="*/ 83 h 375"/>
              <a:gd name="p0x13" fmla="*/ 83 w 1095"/>
              <a:gd name="p0y13" fmla="*/ 0 h 375"/>
              <a:gd name="p0x14" fmla="*/ 187 w 109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3">
              <a:lumMod val="17712"/>
              <a:lumOff val="82288"/>
            </a:schemeClr>
          </a:solidFill>
          <a:ln w="9525" cmpd="sng">
            <a:solidFill>
              <a:schemeClr val="accent1">
                <a:lumMod val="18051"/>
                <a:lumOff val="81949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50"/>
            </p:custDataLst>
          </p:nvPr>
        </p:nvSpPr>
        <p:spPr>
          <a:xfrm>
            <a:off x="8311566" y="6071609"/>
            <a:ext cx="6096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200" b="1">
                <a:solidFill>
                  <a:schemeClr val="accent3">
                    <a:lumMod val="67365"/>
                  </a:schemeClr>
                </a:solidFill>
                <a:cs typeface="+mn-lt"/>
              </a:rPr>
              <a:t>分布外</a:t>
            </a:r>
            <a:endParaRPr sz="1200" b="1">
              <a:solidFill>
                <a:schemeClr val="accent3">
                  <a:lumMod val="67365"/>
                </a:schemeClr>
              </a:solidFill>
              <a:cs typeface="+mn-lt"/>
            </a:endParaRPr>
          </a:p>
        </p:txBody>
      </p:sp>
      <p:sp>
        <p:nvSpPr>
          <p:cNvPr id="53" name="任意多边形 52"/>
          <p:cNvSpPr/>
          <p:nvPr>
            <p:custDataLst>
              <p:tags r:id="rId51"/>
            </p:custDataLst>
          </p:nvPr>
        </p:nvSpPr>
        <p:spPr>
          <a:xfrm>
            <a:off x="9006840" y="6038215"/>
            <a:ext cx="695325" cy="238125"/>
          </a:xfrm>
          <a:custGeom>
            <a:avLst/>
            <a:gdLst>
              <a:gd name="sw" fmla="*/ 1 w 1095"/>
              <a:gd name="sh" fmla="*/ 1 h 375"/>
              <a:gd name="mins" fmla="min sw sh"/>
              <a:gd name="dsw" fmla="+- 0 sw mins"/>
              <a:gd name="dsh" fmla="+- 0 sh mins"/>
              <a:gd name="p0x0" fmla="*/ 187 w 1095"/>
              <a:gd name="p0y0" fmla="*/ 0 h 375"/>
              <a:gd name="p0x1" fmla="*/ 907 w 1095"/>
              <a:gd name="p0y1" fmla="*/ 0 h 375"/>
              <a:gd name="p0x2" fmla="*/ 1011 w 1095"/>
              <a:gd name="p0y2" fmla="*/ 0 h 375"/>
              <a:gd name="p0x3" fmla="*/ 1095 w 1095"/>
              <a:gd name="p0y3" fmla="*/ 83 h 375"/>
              <a:gd name="p0x4" fmla="*/ 1095 w 1095"/>
              <a:gd name="p0y4" fmla="*/ 187 h 375"/>
              <a:gd name="p0x5" fmla="*/ 1095 w 1095"/>
              <a:gd name="p0y5" fmla="*/ 291 h 375"/>
              <a:gd name="p0x6" fmla="*/ 1011 w 1095"/>
              <a:gd name="p0y6" fmla="*/ 375 h 375"/>
              <a:gd name="p0x7" fmla="*/ 907 w 1095"/>
              <a:gd name="p0y7" fmla="*/ 375 h 375"/>
              <a:gd name="p0x8" fmla="*/ 187 w 1095"/>
              <a:gd name="p0y8" fmla="*/ 375 h 375"/>
              <a:gd name="p0x9" fmla="*/ 83 w 1095"/>
              <a:gd name="p0y9" fmla="*/ 375 h 375"/>
              <a:gd name="p0x10" fmla="*/ 0 w 1095"/>
              <a:gd name="p0y10" fmla="*/ 291 h 375"/>
              <a:gd name="p0x11" fmla="*/ 0 w 1095"/>
              <a:gd name="p0y11" fmla="*/ 187 h 375"/>
              <a:gd name="p0x12" fmla="*/ 0 w 1095"/>
              <a:gd name="p0y12" fmla="*/ 83 h 375"/>
              <a:gd name="p0x13" fmla="*/ 83 w 1095"/>
              <a:gd name="p0y13" fmla="*/ 0 h 375"/>
              <a:gd name="p0x14" fmla="*/ 187 w 109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3">
              <a:lumMod val="17712"/>
              <a:lumOff val="82288"/>
            </a:schemeClr>
          </a:solidFill>
          <a:ln w="9525" cmpd="sng">
            <a:solidFill>
              <a:schemeClr val="accent1">
                <a:lumMod val="18051"/>
                <a:lumOff val="81949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52"/>
            </p:custDataLst>
          </p:nvPr>
        </p:nvSpPr>
        <p:spPr>
          <a:xfrm>
            <a:off x="9092692" y="6071609"/>
            <a:ext cx="6096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200" b="1">
                <a:solidFill>
                  <a:schemeClr val="accent3">
                    <a:lumMod val="67365"/>
                  </a:schemeClr>
                </a:solidFill>
                <a:cs typeface="+mn-lt"/>
              </a:rPr>
              <a:t>跨物种</a:t>
            </a:r>
            <a:endParaRPr sz="1200" b="1">
              <a:solidFill>
                <a:schemeClr val="accent3">
                  <a:lumMod val="67365"/>
                </a:schemeClr>
              </a:solidFill>
              <a:cs typeface="+mn-lt"/>
            </a:endParaRPr>
          </a:p>
        </p:txBody>
      </p:sp>
      <p:sp>
        <p:nvSpPr>
          <p:cNvPr id="55" name="任意多边形 54"/>
          <p:cNvSpPr/>
          <p:nvPr>
            <p:custDataLst>
              <p:tags r:id="rId53"/>
            </p:custDataLst>
          </p:nvPr>
        </p:nvSpPr>
        <p:spPr>
          <a:xfrm>
            <a:off x="9787890" y="6038215"/>
            <a:ext cx="695325" cy="238125"/>
          </a:xfrm>
          <a:custGeom>
            <a:avLst/>
            <a:gdLst>
              <a:gd name="sw" fmla="*/ 1 w 1095"/>
              <a:gd name="sh" fmla="*/ 1 h 375"/>
              <a:gd name="mins" fmla="min sw sh"/>
              <a:gd name="dsw" fmla="+- 0 sw mins"/>
              <a:gd name="dsh" fmla="+- 0 sh mins"/>
              <a:gd name="p0x0" fmla="*/ 187 w 1095"/>
              <a:gd name="p0y0" fmla="*/ 0 h 375"/>
              <a:gd name="p0x1" fmla="*/ 907 w 1095"/>
              <a:gd name="p0y1" fmla="*/ 0 h 375"/>
              <a:gd name="p0x2" fmla="*/ 1011 w 1095"/>
              <a:gd name="p0y2" fmla="*/ 0 h 375"/>
              <a:gd name="p0x3" fmla="*/ 1095 w 1095"/>
              <a:gd name="p0y3" fmla="*/ 83 h 375"/>
              <a:gd name="p0x4" fmla="*/ 1095 w 1095"/>
              <a:gd name="p0y4" fmla="*/ 187 h 375"/>
              <a:gd name="p0x5" fmla="*/ 1095 w 1095"/>
              <a:gd name="p0y5" fmla="*/ 291 h 375"/>
              <a:gd name="p0x6" fmla="*/ 1011 w 1095"/>
              <a:gd name="p0y6" fmla="*/ 375 h 375"/>
              <a:gd name="p0x7" fmla="*/ 907 w 1095"/>
              <a:gd name="p0y7" fmla="*/ 375 h 375"/>
              <a:gd name="p0x8" fmla="*/ 187 w 1095"/>
              <a:gd name="p0y8" fmla="*/ 375 h 375"/>
              <a:gd name="p0x9" fmla="*/ 83 w 1095"/>
              <a:gd name="p0y9" fmla="*/ 375 h 375"/>
              <a:gd name="p0x10" fmla="*/ 0 w 1095"/>
              <a:gd name="p0y10" fmla="*/ 291 h 375"/>
              <a:gd name="p0x11" fmla="*/ 0 w 1095"/>
              <a:gd name="p0y11" fmla="*/ 187 h 375"/>
              <a:gd name="p0x12" fmla="*/ 0 w 1095"/>
              <a:gd name="p0y12" fmla="*/ 83 h 375"/>
              <a:gd name="p0x13" fmla="*/ 83 w 1095"/>
              <a:gd name="p0y13" fmla="*/ 0 h 375"/>
              <a:gd name="p0x14" fmla="*/ 187 w 109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3">
              <a:lumMod val="17712"/>
              <a:lumOff val="82288"/>
            </a:schemeClr>
          </a:solidFill>
          <a:ln w="9525" cmpd="sng">
            <a:solidFill>
              <a:schemeClr val="accent1">
                <a:lumMod val="18051"/>
                <a:lumOff val="81949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54"/>
            </p:custDataLst>
          </p:nvPr>
        </p:nvSpPr>
        <p:spPr>
          <a:xfrm>
            <a:off x="9873818" y="6071609"/>
            <a:ext cx="6096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200" b="1">
                <a:solidFill>
                  <a:schemeClr val="accent3">
                    <a:lumMod val="67365"/>
                  </a:schemeClr>
                </a:solidFill>
                <a:cs typeface="+mn-lt"/>
              </a:rPr>
              <a:t>零样本</a:t>
            </a:r>
            <a:endParaRPr sz="1200" b="1">
              <a:solidFill>
                <a:schemeClr val="accent3">
                  <a:lumMod val="67365"/>
                </a:schemeClr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09625" y="2483644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1B7FCE"/>
                </a:solidFill>
                <a:cs typeface="+mn-lt"/>
              </a:rPr>
              <a:t>CHAPTER</a:t>
            </a:r>
            <a:endParaRPr sz="1050" b="1" spc="315">
              <a:solidFill>
                <a:srgbClr val="1B7FCE"/>
              </a:solidFill>
              <a:cs typeface="+mn-lt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66750" y="2894171"/>
            <a:ext cx="4533900" cy="13982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“预测准确”</a:t>
            </a:r>
            <a:endParaRPr sz="42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  <a:p>
            <a:pPr algn="l">
              <a:lnSpc>
                <a:spcPct val="104000"/>
              </a:lnSpc>
            </a:pPr>
            <a:r>
              <a:rPr lang="zh-CN" altLang="en-US" sz="42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并不等于</a:t>
            </a:r>
            <a:r>
              <a:rPr sz="42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“理解”</a:t>
            </a:r>
            <a:endParaRPr sz="42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66750" y="4564380"/>
            <a:ext cx="5705475" cy="9525"/>
          </a:xfrm>
          <a:prstGeom prst="rect">
            <a:avLst/>
          </a:prstGeom>
          <a:solidFill>
            <a:schemeClr val="accent1">
              <a:lumMod val="38990"/>
              <a:lumOff val="6101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666750" y="4864894"/>
            <a:ext cx="295505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4A6E8E"/>
                </a:solidFill>
                <a:cs typeface="+mn-lt"/>
              </a:rPr>
              <a:t>用三条标准检验</a:t>
            </a:r>
            <a:r>
              <a:rPr lang="en-US" altLang="zh-CN" sz="1500" spc="30">
                <a:solidFill>
                  <a:srgbClr val="4A6E8E"/>
                </a:solidFill>
                <a:cs typeface="+mn-lt"/>
              </a:rPr>
              <a:t> AlphaGenome</a:t>
            </a:r>
            <a:endParaRPr lang="en-US" altLang="zh-CN" sz="1500" spc="30">
              <a:solidFill>
                <a:srgbClr val="4A6E8E"/>
              </a:solidFill>
              <a:cs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666750" y="5412105"/>
            <a:ext cx="770890" cy="314325"/>
          </a:xfrm>
          <a:custGeom>
            <a:avLst/>
            <a:gdLst>
              <a:gd name="sw" fmla="*/ 1 w 1214"/>
              <a:gd name="sh" fmla="*/ 1 h 495"/>
              <a:gd name="mins" fmla="min sw sh"/>
              <a:gd name="dsw" fmla="+- 0 sw mins"/>
              <a:gd name="dsh" fmla="+- 0 sh mins"/>
              <a:gd name="p0x0" fmla="*/ 247 w 1214"/>
              <a:gd name="p0y0" fmla="*/ 0 h 495"/>
              <a:gd name="p0x1" fmla="*/ 966 w 1214"/>
              <a:gd name="p0y1" fmla="*/ 0 h 495"/>
              <a:gd name="p0x2" fmla="*/ 1103 w 1214"/>
              <a:gd name="p0y2" fmla="*/ 0 h 495"/>
              <a:gd name="p0x3" fmla="*/ 1214 w 1214"/>
              <a:gd name="p0y3" fmla="*/ 110 h 495"/>
              <a:gd name="p0x4" fmla="*/ 1214 w 1214"/>
              <a:gd name="p0y4" fmla="*/ 247 h 495"/>
              <a:gd name="p0x5" fmla="*/ 1214 w 1214"/>
              <a:gd name="p0y5" fmla="*/ 384 h 495"/>
              <a:gd name="p0x6" fmla="*/ 1103 w 1214"/>
              <a:gd name="p0y6" fmla="*/ 495 h 495"/>
              <a:gd name="p0x7" fmla="*/ 966 w 1214"/>
              <a:gd name="p0y7" fmla="*/ 495 h 495"/>
              <a:gd name="p0x8" fmla="*/ 247 w 1214"/>
              <a:gd name="p0y8" fmla="*/ 495 h 495"/>
              <a:gd name="p0x9" fmla="*/ 110 w 1214"/>
              <a:gd name="p0y9" fmla="*/ 495 h 495"/>
              <a:gd name="p0x10" fmla="*/ 0 w 1214"/>
              <a:gd name="p0y10" fmla="*/ 384 h 495"/>
              <a:gd name="p0x11" fmla="*/ 0 w 1214"/>
              <a:gd name="p0y11" fmla="*/ 247 h 495"/>
              <a:gd name="p0x12" fmla="*/ 0 w 1214"/>
              <a:gd name="p0y12" fmla="*/ 110 h 495"/>
              <a:gd name="p0x13" fmla="*/ 110 w 1214"/>
              <a:gd name="p0y13" fmla="*/ 0 h 495"/>
              <a:gd name="p0x14" fmla="*/ 247 w 1214"/>
              <a:gd name="p0y14" fmla="*/ 0 h 4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819150" y="5469731"/>
            <a:ext cx="61875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24">
                <a:solidFill>
                  <a:srgbClr val="4A6E8E"/>
                </a:solidFill>
                <a:cs typeface="+mn-lt"/>
              </a:rPr>
              <a:t>主讲人</a:t>
            </a:r>
            <a:endParaRPr sz="1200" spc="24">
              <a:solidFill>
                <a:srgbClr val="4A6E8E"/>
              </a:solidFill>
              <a:cs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1552204" y="5469731"/>
            <a:ext cx="61875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24">
                <a:solidFill>
                  <a:srgbClr val="4A6E8E"/>
                </a:solidFill>
                <a:cs typeface="+mn-lt"/>
              </a:rPr>
              <a:t>徐君颐</a:t>
            </a:r>
            <a:endParaRPr sz="1200" spc="24">
              <a:solidFill>
                <a:srgbClr val="4A6E8E"/>
              </a:solidFill>
              <a:cs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666750" y="1140619"/>
            <a:ext cx="2355352" cy="11763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8250" b="1">
                <a:solidFill>
                  <a:srgbClr val="1B7FCE">
                    <a:alpha val="90001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04</a:t>
            </a:r>
            <a:endParaRPr sz="8250" b="1">
              <a:solidFill>
                <a:srgbClr val="1B7FCE">
                  <a:alpha val="90001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矩形 3"/>
          <p:cNvSpPr/>
          <p:nvPr>
            <p:custDataLst>
              <p:tags r:id="rId9"/>
            </p:custDataLst>
          </p:nvPr>
        </p:nvSpPr>
        <p:spPr>
          <a:xfrm rot="2700000">
            <a:off x="666750" y="2547620"/>
            <a:ext cx="47625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0"/>
            </p:custDataLst>
          </p:nvPr>
        </p:nvSpPr>
        <p:spPr>
          <a:xfrm>
            <a:off x="1819910" y="2566670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第一</a:t>
            </a:r>
            <a:r>
              <a:rPr lang="en-US" altLang="zh-CN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 </a:t>
            </a: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可解释性</a:t>
            </a:r>
            <a:endParaRPr lang="zh-CN" altLang="en-US"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A6E8E"/>
                </a:solidFill>
                <a:cs typeface="+mn-lt"/>
              </a:rPr>
              <a:t>上一部分，我们已经给出了判断</a:t>
            </a:r>
            <a:r>
              <a:rPr lang="en-US" altLang="zh-CN" sz="1500">
                <a:solidFill>
                  <a:srgbClr val="4A6E8E"/>
                </a:solidFill>
                <a:cs typeface="+mn-lt"/>
              </a:rPr>
              <a:t>"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理解</a:t>
            </a:r>
            <a:r>
              <a:rPr lang="en-US" altLang="zh-CN" sz="1500">
                <a:solidFill>
                  <a:srgbClr val="4A6E8E"/>
                </a:solidFill>
                <a:cs typeface="+mn-lt"/>
              </a:rPr>
              <a:t>"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的三条标准。那么接下来，我们直接用这三条标准，来检查</a:t>
            </a:r>
            <a:r>
              <a:rPr lang="en-US" altLang="zh-CN" sz="1500">
                <a:solidFill>
                  <a:srgbClr val="4A6E8E"/>
                </a:solidFill>
                <a:cs typeface="+mn-lt"/>
              </a:rPr>
              <a:t> AlphaGenome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。</a:t>
            </a:r>
            <a:endParaRPr lang="zh-CN" altLang="en-US"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28" name="任意多边形 27"/>
          <p:cNvSpPr/>
          <p:nvPr>
            <p:custDataLst>
              <p:tags r:id="rId3"/>
            </p:custDataLst>
          </p:nvPr>
        </p:nvSpPr>
        <p:spPr>
          <a:xfrm>
            <a:off x="571500" y="5943600"/>
            <a:ext cx="11049000" cy="533400"/>
          </a:xfrm>
          <a:custGeom>
            <a:avLst/>
            <a:gdLst>
              <a:gd name="sw" fmla="*/ 1 w 17400"/>
              <a:gd name="sh" fmla="*/ 1 h 840"/>
              <a:gd name="mins" fmla="min sw sh"/>
              <a:gd name="dsw" fmla="+- 0 sw mins"/>
              <a:gd name="dsh" fmla="+- 0 sh mins"/>
              <a:gd name="p0x0" fmla="*/ 180 w 17400"/>
              <a:gd name="p0y0" fmla="*/ 0 h 840"/>
              <a:gd name="p0x1" fmla="*/ 17220 w 17400"/>
              <a:gd name="p0y1" fmla="*/ 0 h 840"/>
              <a:gd name="p0x2" fmla="*/ 17319 w 17400"/>
              <a:gd name="p0y2" fmla="*/ 0 h 840"/>
              <a:gd name="p0x3" fmla="*/ 17400 w 17400"/>
              <a:gd name="p0y3" fmla="*/ 80 h 840"/>
              <a:gd name="p0x4" fmla="*/ 17400 w 17400"/>
              <a:gd name="p0y4" fmla="*/ 180 h 840"/>
              <a:gd name="p0x5" fmla="*/ 17400 w 17400"/>
              <a:gd name="p0y5" fmla="*/ 660 h 840"/>
              <a:gd name="p0x6" fmla="*/ 17400 w 17400"/>
              <a:gd name="p0y6" fmla="*/ 759 h 840"/>
              <a:gd name="p0x7" fmla="*/ 17319 w 17400"/>
              <a:gd name="p0y7" fmla="*/ 840 h 840"/>
              <a:gd name="p0x8" fmla="*/ 17220 w 17400"/>
              <a:gd name="p0y8" fmla="*/ 840 h 840"/>
              <a:gd name="p0x9" fmla="*/ 180 w 17400"/>
              <a:gd name="p0y9" fmla="*/ 840 h 840"/>
              <a:gd name="p0x10" fmla="*/ 80 w 17400"/>
              <a:gd name="p0y10" fmla="*/ 840 h 840"/>
              <a:gd name="p0x11" fmla="*/ 0 w 17400"/>
              <a:gd name="p0y11" fmla="*/ 759 h 840"/>
              <a:gd name="p0x12" fmla="*/ 0 w 17400"/>
              <a:gd name="p0y12" fmla="*/ 660 h 840"/>
              <a:gd name="p0x13" fmla="*/ 0 w 17400"/>
              <a:gd name="p0y13" fmla="*/ 180 h 840"/>
              <a:gd name="p0x14" fmla="*/ 0 w 17400"/>
              <a:gd name="p0y14" fmla="*/ 80 h 840"/>
              <a:gd name="p0x15" fmla="*/ 80 w 17400"/>
              <a:gd name="p0y15" fmla="*/ 0 h 840"/>
              <a:gd name="p0x16" fmla="*/ 180 w 17400"/>
              <a:gd name="p0y16" fmla="*/ 0 h 8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4"/>
            </p:custDataLst>
          </p:nvPr>
        </p:nvSpPr>
        <p:spPr>
          <a:xfrm>
            <a:off x="723900" y="6115050"/>
            <a:ext cx="28575" cy="190500"/>
          </a:xfrm>
          <a:custGeom>
            <a:avLst/>
            <a:gdLst>
              <a:gd name="sw" fmla="*/ 1 w 45"/>
              <a:gd name="sh" fmla="*/ 1 h 300"/>
              <a:gd name="mins" fmla="min sw sh"/>
              <a:gd name="dsw" fmla="+- 0 sw mins"/>
              <a:gd name="dsh" fmla="+- 0 sh mins"/>
              <a:gd name="p0x0" fmla="*/ 22 w 45"/>
              <a:gd name="p0y0" fmla="*/ 0 h 300"/>
              <a:gd name="p0x1" fmla="*/ 34 w 45"/>
              <a:gd name="p0y1" fmla="*/ 0 h 300"/>
              <a:gd name="p0x2" fmla="*/ 45 w 45"/>
              <a:gd name="p0y2" fmla="*/ 10 h 300"/>
              <a:gd name="p0x3" fmla="*/ 45 w 45"/>
              <a:gd name="p0y3" fmla="*/ 22 h 300"/>
              <a:gd name="p0x4" fmla="*/ 45 w 45"/>
              <a:gd name="p0y4" fmla="*/ 277 h 300"/>
              <a:gd name="p0x5" fmla="*/ 45 w 45"/>
              <a:gd name="p0y5" fmla="*/ 289 h 300"/>
              <a:gd name="p0x6" fmla="*/ 34 w 45"/>
              <a:gd name="p0y6" fmla="*/ 300 h 300"/>
              <a:gd name="p0x7" fmla="*/ 22 w 45"/>
              <a:gd name="p0y7" fmla="*/ 300 h 300"/>
              <a:gd name="p0x8" fmla="*/ 10 w 45"/>
              <a:gd name="p0y8" fmla="*/ 300 h 300"/>
              <a:gd name="p0x9" fmla="*/ 0 w 45"/>
              <a:gd name="p0y9" fmla="*/ 289 h 300"/>
              <a:gd name="p0x10" fmla="*/ 0 w 45"/>
              <a:gd name="p0y10" fmla="*/ 277 h 300"/>
              <a:gd name="p0x11" fmla="*/ 0 w 45"/>
              <a:gd name="p0y11" fmla="*/ 22 h 300"/>
              <a:gd name="p0x12" fmla="*/ 0 w 45"/>
              <a:gd name="p0y12" fmla="*/ 10 h 300"/>
              <a:gd name="p0x13" fmla="*/ 10 w 45"/>
              <a:gd name="p0y13" fmla="*/ 0 h 300"/>
              <a:gd name="p0x14" fmla="*/ 22 w 45"/>
              <a:gd name="p0y14" fmla="*/ 0 h 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5"/>
            </p:custDataLst>
          </p:nvPr>
        </p:nvSpPr>
        <p:spPr>
          <a:xfrm>
            <a:off x="866775" y="6043613"/>
            <a:ext cx="669265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4A6E8E"/>
                </a:solidFill>
                <a:cs typeface="+mn-lt"/>
              </a:rPr>
              <a:t>AlphaGenome </a:t>
            </a:r>
            <a:r>
              <a:rPr lang="zh-CN" sz="1500">
                <a:solidFill>
                  <a:srgbClr val="4A6E8E"/>
                </a:solidFill>
                <a:cs typeface="+mn-lt"/>
              </a:rPr>
              <a:t>已经在这方面取得了一些进展，但目前还只能算</a:t>
            </a:r>
            <a:r>
              <a:rPr sz="1500" b="1">
                <a:solidFill>
                  <a:schemeClr val="accent1"/>
                </a:solidFill>
                <a:cs typeface="+mn-lt"/>
              </a:rPr>
              <a:t>部分达到</a:t>
            </a:r>
            <a:r>
              <a:rPr sz="1500">
                <a:solidFill>
                  <a:srgbClr val="4A6E8E"/>
                </a:solidFill>
                <a:cs typeface="+mn-lt"/>
              </a:rPr>
              <a:t>。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575945" y="1452245"/>
            <a:ext cx="5438775" cy="4333875"/>
          </a:xfrm>
          <a:custGeom>
            <a:avLst/>
            <a:gdLst>
              <a:gd name="sw" fmla="*/ 1 w 8565"/>
              <a:gd name="sh" fmla="*/ 1 h 6825"/>
              <a:gd name="mins" fmla="min sw sh"/>
              <a:gd name="dsw" fmla="+- 0 sw mins"/>
              <a:gd name="dsh" fmla="+- 0 sh mins"/>
              <a:gd name="p0x0" fmla="*/ 420 w 8565"/>
              <a:gd name="p0y0" fmla="*/ 0 h 6825"/>
              <a:gd name="p0x1" fmla="*/ 8145 w 8565"/>
              <a:gd name="p0y1" fmla="*/ 0 h 6825"/>
              <a:gd name="p0x2" fmla="*/ 8376 w 8565"/>
              <a:gd name="p0y2" fmla="*/ 0 h 6825"/>
              <a:gd name="p0x3" fmla="*/ 8565 w 8565"/>
              <a:gd name="p0y3" fmla="*/ 188 h 6825"/>
              <a:gd name="p0x4" fmla="*/ 8565 w 8565"/>
              <a:gd name="p0y4" fmla="*/ 420 h 6825"/>
              <a:gd name="p0x5" fmla="*/ 8565 w 8565"/>
              <a:gd name="p0y5" fmla="*/ 6405 h 6825"/>
              <a:gd name="p0x6" fmla="*/ 8565 w 8565"/>
              <a:gd name="p0y6" fmla="*/ 6636 h 6825"/>
              <a:gd name="p0x7" fmla="*/ 8376 w 8565"/>
              <a:gd name="p0y7" fmla="*/ 6825 h 6825"/>
              <a:gd name="p0x8" fmla="*/ 8145 w 8565"/>
              <a:gd name="p0y8" fmla="*/ 6825 h 6825"/>
              <a:gd name="p0x9" fmla="*/ 420 w 8565"/>
              <a:gd name="p0y9" fmla="*/ 6825 h 6825"/>
              <a:gd name="p0x10" fmla="*/ 188 w 8565"/>
              <a:gd name="p0y10" fmla="*/ 6825 h 6825"/>
              <a:gd name="p0x11" fmla="*/ 0 w 8565"/>
              <a:gd name="p0y11" fmla="*/ 6636 h 6825"/>
              <a:gd name="p0x12" fmla="*/ 0 w 8565"/>
              <a:gd name="p0y12" fmla="*/ 6405 h 6825"/>
              <a:gd name="p0x13" fmla="*/ 0 w 8565"/>
              <a:gd name="p0y13" fmla="*/ 420 h 6825"/>
              <a:gd name="p0x14" fmla="*/ 0 w 8565"/>
              <a:gd name="p0y14" fmla="*/ 188 h 6825"/>
              <a:gd name="p0x15" fmla="*/ 188 w 8565"/>
              <a:gd name="p0y15" fmla="*/ 0 h 6825"/>
              <a:gd name="p0x16" fmla="*/ 420 w 8565"/>
              <a:gd name="p0y16" fmla="*/ 0 h 68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  <a:alpha val="4000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771525" y="1631633"/>
            <a:ext cx="50482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1D3E5E"/>
                </a:solidFill>
                <a:cs typeface="+mn-lt"/>
              </a:rPr>
              <a:t>AlphaGenome </a:t>
            </a:r>
            <a:r>
              <a:rPr lang="zh-CN" sz="2100" b="1" spc="42">
                <a:solidFill>
                  <a:srgbClr val="1D3E5E"/>
                </a:solidFill>
                <a:cs typeface="+mn-lt"/>
              </a:rPr>
              <a:t>当前能力</a:t>
            </a:r>
            <a:endParaRPr lang="zh-CN"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8"/>
            </p:custDataLst>
          </p:nvPr>
        </p:nvSpPr>
        <p:spPr>
          <a:xfrm>
            <a:off x="771525" y="22764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E8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904875" y="2157413"/>
            <a:ext cx="3238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D3E5E"/>
                </a:solidFill>
                <a:cs typeface="+mn-lt"/>
              </a:rPr>
              <a:t>可以预测一个变异可能产生</a:t>
            </a:r>
            <a:r>
              <a:rPr sz="1500" b="1">
                <a:solidFill>
                  <a:schemeClr val="tx2"/>
                </a:solidFill>
                <a:cs typeface="+mn-lt"/>
              </a:rPr>
              <a:t>什么影响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771525" y="3329940"/>
            <a:ext cx="5048250" cy="1092200"/>
            <a:chOff x="1215" y="5244"/>
            <a:chExt cx="7950" cy="1720"/>
          </a:xfrm>
        </p:grpSpPr>
        <p:sp>
          <p:nvSpPr>
            <p:cNvPr id="9" name="任意多边形 8"/>
            <p:cNvSpPr/>
            <p:nvPr>
              <p:custDataLst>
                <p:tags r:id="rId10"/>
              </p:custDataLst>
            </p:nvPr>
          </p:nvSpPr>
          <p:spPr>
            <a:xfrm>
              <a:off x="1215" y="5244"/>
              <a:ext cx="7950" cy="1720"/>
            </a:xfrm>
            <a:custGeom>
              <a:avLst/>
              <a:gdLst>
                <a:gd name="sw" fmla="*/ 1 w 7950"/>
                <a:gd name="sh" fmla="*/ 1 h 1719"/>
                <a:gd name="mins" fmla="min sw sh"/>
                <a:gd name="dsw" fmla="+- 0 sw mins"/>
                <a:gd name="dsh" fmla="+- 0 sh mins"/>
                <a:gd name="p0x0" fmla="*/ 0 w 7950"/>
                <a:gd name="p0y0" fmla="*/ 0 h 1719"/>
                <a:gd name="p0x1" fmla="*/ 7950 w 7950"/>
                <a:gd name="p0y1" fmla="*/ 0 h 1719"/>
                <a:gd name="p0x2" fmla="*/ 7950 w 7950"/>
                <a:gd name="p0y2" fmla="*/ 1719 h 1719"/>
                <a:gd name="p0x3" fmla="*/ 0 w 7950"/>
                <a:gd name="p0y3" fmla="*/ 1719 h 1719"/>
                <a:gd name="p0x4" fmla="*/ 0 w 7950"/>
                <a:gd name="p0y4" fmla="*/ 0 h 171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11"/>
              </p:custDataLst>
            </p:nvPr>
          </p:nvSpPr>
          <p:spPr>
            <a:xfrm>
              <a:off x="1215" y="5244"/>
              <a:ext cx="7950" cy="15"/>
            </a:xfrm>
            <a:custGeom>
              <a:avLst/>
              <a:gdLst>
                <a:gd name="sw" fmla="*/ 1 w 7950"/>
                <a:gd name="sh" fmla="*/ 1 h 15"/>
                <a:gd name="mins" fmla="min sw sh"/>
                <a:gd name="dsw" fmla="+- 0 sw mins"/>
                <a:gd name="dsh" fmla="+- 0 sh mins"/>
                <a:gd name="p0x0" fmla="*/ 0 w 7950"/>
                <a:gd name="p0y0" fmla="*/ 0 h 15"/>
                <a:gd name="p0x1" fmla="*/ 7950 w 7950"/>
                <a:gd name="p0y1" fmla="*/ 0 h 15"/>
                <a:gd name="p0x2" fmla="*/ 7950 w 7950"/>
                <a:gd name="p0y2" fmla="*/ 15 h 15"/>
                <a:gd name="p0x3" fmla="*/ 0 w 7950"/>
                <a:gd name="p0y3" fmla="*/ 15 h 15"/>
                <a:gd name="p0x4" fmla="*/ 0 w 795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lumMod val="20577"/>
                <a:lumOff val="7942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771525" y="344424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E8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904875" y="3325787"/>
            <a:ext cx="3619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D3E5E"/>
                </a:solidFill>
                <a:cs typeface="+mn-lt"/>
              </a:rPr>
              <a:t>进一步指出哪些</a:t>
            </a:r>
            <a:r>
              <a:rPr sz="1500" b="1">
                <a:solidFill>
                  <a:schemeClr val="tx2"/>
                </a:solidFill>
                <a:cs typeface="+mn-lt"/>
              </a:rPr>
              <a:t>因素</a:t>
            </a:r>
            <a:r>
              <a:rPr sz="1500">
                <a:solidFill>
                  <a:srgbClr val="1D3E5E"/>
                </a:solidFill>
                <a:cs typeface="+mn-lt"/>
              </a:rPr>
              <a:t>可能与这个结果有关</a:t>
            </a:r>
            <a:endParaRPr sz="1500">
              <a:solidFill>
                <a:srgbClr val="1D3E5E"/>
              </a:solidFill>
              <a:cs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71525" y="4498340"/>
            <a:ext cx="5048250" cy="1092200"/>
            <a:chOff x="1215" y="7084"/>
            <a:chExt cx="7950" cy="1720"/>
          </a:xfrm>
        </p:grpSpPr>
        <p:sp>
          <p:nvSpPr>
            <p:cNvPr id="14" name="任意多边形 13"/>
            <p:cNvSpPr/>
            <p:nvPr>
              <p:custDataLst>
                <p:tags r:id="rId14"/>
              </p:custDataLst>
            </p:nvPr>
          </p:nvSpPr>
          <p:spPr>
            <a:xfrm>
              <a:off x="1215" y="7084"/>
              <a:ext cx="7950" cy="1720"/>
            </a:xfrm>
            <a:custGeom>
              <a:avLst/>
              <a:gdLst>
                <a:gd name="sw" fmla="*/ 1 w 7950"/>
                <a:gd name="sh" fmla="*/ 1 h 1719"/>
                <a:gd name="mins" fmla="min sw sh"/>
                <a:gd name="dsw" fmla="+- 0 sw mins"/>
                <a:gd name="dsh" fmla="+- 0 sh mins"/>
                <a:gd name="p0x0" fmla="*/ 0 w 7950"/>
                <a:gd name="p0y0" fmla="*/ 0 h 1719"/>
                <a:gd name="p0x1" fmla="*/ 7950 w 7950"/>
                <a:gd name="p0y1" fmla="*/ 0 h 1719"/>
                <a:gd name="p0x2" fmla="*/ 7950 w 7950"/>
                <a:gd name="p0y2" fmla="*/ 1719 h 1719"/>
                <a:gd name="p0x3" fmla="*/ 0 w 7950"/>
                <a:gd name="p0y3" fmla="*/ 1719 h 1719"/>
                <a:gd name="p0x4" fmla="*/ 0 w 7950"/>
                <a:gd name="p0y4" fmla="*/ 0 h 171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>
              <p:custDataLst>
                <p:tags r:id="rId15"/>
              </p:custDataLst>
            </p:nvPr>
          </p:nvSpPr>
          <p:spPr>
            <a:xfrm>
              <a:off x="1215" y="7084"/>
              <a:ext cx="7950" cy="15"/>
            </a:xfrm>
            <a:custGeom>
              <a:avLst/>
              <a:gdLst>
                <a:gd name="sw" fmla="*/ 1 w 7950"/>
                <a:gd name="sh" fmla="*/ 1 h 15"/>
                <a:gd name="mins" fmla="min sw sh"/>
                <a:gd name="dsw" fmla="+- 0 sw mins"/>
                <a:gd name="dsh" fmla="+- 0 sh mins"/>
                <a:gd name="p0x0" fmla="*/ 0 w 7950"/>
                <a:gd name="p0y0" fmla="*/ 0 h 15"/>
                <a:gd name="p0x1" fmla="*/ 7950 w 7950"/>
                <a:gd name="p0y1" fmla="*/ 0 h 15"/>
                <a:gd name="p0x2" fmla="*/ 7950 w 7950"/>
                <a:gd name="p0y2" fmla="*/ 15 h 15"/>
                <a:gd name="p0x3" fmla="*/ 0 w 7950"/>
                <a:gd name="p0y3" fmla="*/ 15 h 15"/>
                <a:gd name="p0x4" fmla="*/ 0 w 795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lumMod val="20577"/>
                <a:lumOff val="7942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任意多边形 16"/>
          <p:cNvSpPr/>
          <p:nvPr>
            <p:custDataLst>
              <p:tags r:id="rId16"/>
            </p:custDataLst>
          </p:nvPr>
        </p:nvSpPr>
        <p:spPr>
          <a:xfrm>
            <a:off x="771525" y="461264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E8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904875" y="4494162"/>
            <a:ext cx="4572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预测它有影响</a:t>
            </a:r>
            <a:r>
              <a:rPr sz="1500">
                <a:solidFill>
                  <a:srgbClr val="1D3E5E"/>
                </a:solidFill>
                <a:cs typeface="+mn-lt"/>
              </a:rPr>
              <a:t>和</a:t>
            </a:r>
            <a:r>
              <a:rPr sz="1500" b="1">
                <a:solidFill>
                  <a:schemeClr val="tx2"/>
                </a:solidFill>
                <a:cs typeface="+mn-lt"/>
              </a:rPr>
              <a:t>解释它为什么有影响</a:t>
            </a:r>
            <a:r>
              <a:rPr sz="1500">
                <a:solidFill>
                  <a:srgbClr val="1D3E5E"/>
                </a:solidFill>
                <a:cs typeface="+mn-lt"/>
              </a:rPr>
              <a:t>并不是一回事</a:t>
            </a:r>
            <a:endParaRPr sz="1500">
              <a:solidFill>
                <a:srgbClr val="1D3E5E"/>
              </a:solidFill>
              <a:cs typeface="+mn-lt"/>
            </a:endParaRPr>
          </a:p>
        </p:txBody>
      </p:sp>
      <p:sp>
        <p:nvSpPr>
          <p:cNvPr id="19" name="任意多边形 18"/>
          <p:cNvSpPr/>
          <p:nvPr>
            <p:custDataLst>
              <p:tags r:id="rId18"/>
            </p:custDataLst>
          </p:nvPr>
        </p:nvSpPr>
        <p:spPr>
          <a:xfrm>
            <a:off x="6176645" y="1452245"/>
            <a:ext cx="5438775" cy="4333875"/>
          </a:xfrm>
          <a:custGeom>
            <a:avLst/>
            <a:gdLst>
              <a:gd name="sw" fmla="*/ 1 w 8565"/>
              <a:gd name="sh" fmla="*/ 1 h 6825"/>
              <a:gd name="mins" fmla="min sw sh"/>
              <a:gd name="dsw" fmla="+- 0 sw mins"/>
              <a:gd name="dsh" fmla="+- 0 sh mins"/>
              <a:gd name="p0x0" fmla="*/ 420 w 8565"/>
              <a:gd name="p0y0" fmla="*/ 0 h 6825"/>
              <a:gd name="p0x1" fmla="*/ 8145 w 8565"/>
              <a:gd name="p0y1" fmla="*/ 0 h 6825"/>
              <a:gd name="p0x2" fmla="*/ 8376 w 8565"/>
              <a:gd name="p0y2" fmla="*/ 0 h 6825"/>
              <a:gd name="p0x3" fmla="*/ 8565 w 8565"/>
              <a:gd name="p0y3" fmla="*/ 188 h 6825"/>
              <a:gd name="p0x4" fmla="*/ 8565 w 8565"/>
              <a:gd name="p0y4" fmla="*/ 420 h 6825"/>
              <a:gd name="p0x5" fmla="*/ 8565 w 8565"/>
              <a:gd name="p0y5" fmla="*/ 6405 h 6825"/>
              <a:gd name="p0x6" fmla="*/ 8565 w 8565"/>
              <a:gd name="p0y6" fmla="*/ 6636 h 6825"/>
              <a:gd name="p0x7" fmla="*/ 8376 w 8565"/>
              <a:gd name="p0y7" fmla="*/ 6825 h 6825"/>
              <a:gd name="p0x8" fmla="*/ 8145 w 8565"/>
              <a:gd name="p0y8" fmla="*/ 6825 h 6825"/>
              <a:gd name="p0x9" fmla="*/ 420 w 8565"/>
              <a:gd name="p0y9" fmla="*/ 6825 h 6825"/>
              <a:gd name="p0x10" fmla="*/ 188 w 8565"/>
              <a:gd name="p0y10" fmla="*/ 6825 h 6825"/>
              <a:gd name="p0x11" fmla="*/ 0 w 8565"/>
              <a:gd name="p0y11" fmla="*/ 6636 h 6825"/>
              <a:gd name="p0x12" fmla="*/ 0 w 8565"/>
              <a:gd name="p0y12" fmla="*/ 6405 h 6825"/>
              <a:gd name="p0x13" fmla="*/ 0 w 8565"/>
              <a:gd name="p0y13" fmla="*/ 420 h 6825"/>
              <a:gd name="p0x14" fmla="*/ 0 w 8565"/>
              <a:gd name="p0y14" fmla="*/ 188 h 6825"/>
              <a:gd name="p0x15" fmla="*/ 188 w 8565"/>
              <a:gd name="p0y15" fmla="*/ 0 h 6825"/>
              <a:gd name="p0x16" fmla="*/ 420 w 8565"/>
              <a:gd name="p0y16" fmla="*/ 0 h 68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 w="9525" cmpd="sng">
            <a:solidFill>
              <a:schemeClr val="accent2"/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6372225" y="1631633"/>
            <a:ext cx="50482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chemeClr val="accent1">
                    <a:lumMod val="56651"/>
                  </a:schemeClr>
                </a:solidFill>
                <a:cs typeface="+mn-lt"/>
              </a:rPr>
              <a:t>真正理解的要求</a:t>
            </a:r>
            <a:endParaRPr sz="2100" b="1" spc="42">
              <a:solidFill>
                <a:schemeClr val="accent1">
                  <a:lumMod val="56651"/>
                </a:schemeClr>
              </a:solidFill>
              <a:cs typeface="+mn-lt"/>
            </a:endParaRPr>
          </a:p>
        </p:txBody>
      </p:sp>
      <p:sp>
        <p:nvSpPr>
          <p:cNvPr id="21" name="任意多边形 20"/>
          <p:cNvSpPr/>
          <p:nvPr>
            <p:custDataLst>
              <p:tags r:id="rId20"/>
            </p:custDataLst>
          </p:nvPr>
        </p:nvSpPr>
        <p:spPr>
          <a:xfrm>
            <a:off x="6372225" y="22764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E8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1"/>
            </p:custDataLst>
          </p:nvPr>
        </p:nvSpPr>
        <p:spPr>
          <a:xfrm>
            <a:off x="6505575" y="2157413"/>
            <a:ext cx="3048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0A4A7A"/>
                </a:solidFill>
                <a:cs typeface="+mn-lt"/>
              </a:rPr>
              <a:t>需要能够进一步说清楚</a:t>
            </a:r>
            <a:r>
              <a:rPr sz="1500" b="1">
                <a:solidFill>
                  <a:schemeClr val="accent1">
                    <a:lumMod val="56651"/>
                  </a:schemeClr>
                </a:solidFill>
                <a:cs typeface="+mn-lt"/>
              </a:rPr>
              <a:t>背后的机制</a:t>
            </a:r>
            <a:endParaRPr sz="1500" b="1">
              <a:solidFill>
                <a:schemeClr val="accent1">
                  <a:lumMod val="56651"/>
                </a:schemeClr>
              </a:solidFill>
              <a:cs typeface="+mn-lt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6372225" y="3914775"/>
            <a:ext cx="5048250" cy="1676400"/>
            <a:chOff x="10035" y="6165"/>
            <a:chExt cx="7950" cy="2640"/>
          </a:xfrm>
        </p:grpSpPr>
        <p:sp>
          <p:nvSpPr>
            <p:cNvPr id="23" name="任意多边形 22"/>
            <p:cNvSpPr/>
            <p:nvPr>
              <p:custDataLst>
                <p:tags r:id="rId22"/>
              </p:custDataLst>
            </p:nvPr>
          </p:nvSpPr>
          <p:spPr>
            <a:xfrm>
              <a:off x="10035" y="6165"/>
              <a:ext cx="7950" cy="2640"/>
            </a:xfrm>
            <a:custGeom>
              <a:avLst/>
              <a:gdLst>
                <a:gd name="sw" fmla="*/ 1 w 7950"/>
                <a:gd name="sh" fmla="*/ 1 h 2640"/>
                <a:gd name="mins" fmla="min sw sh"/>
                <a:gd name="dsw" fmla="+- 0 sw mins"/>
                <a:gd name="dsh" fmla="+- 0 sh mins"/>
                <a:gd name="p0x0" fmla="*/ 0 w 7950"/>
                <a:gd name="p0y0" fmla="*/ 0 h 2640"/>
                <a:gd name="p0x1" fmla="*/ 7950 w 7950"/>
                <a:gd name="p0y1" fmla="*/ 0 h 2640"/>
                <a:gd name="p0x2" fmla="*/ 7950 w 7950"/>
                <a:gd name="p0y2" fmla="*/ 2640 h 2640"/>
                <a:gd name="p0x3" fmla="*/ 0 w 7950"/>
                <a:gd name="p0y3" fmla="*/ 2640 h 2640"/>
                <a:gd name="p0x4" fmla="*/ 0 w 7950"/>
                <a:gd name="p0y4" fmla="*/ 0 h 26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>
              <p:custDataLst>
                <p:tags r:id="rId23"/>
              </p:custDataLst>
            </p:nvPr>
          </p:nvSpPr>
          <p:spPr>
            <a:xfrm>
              <a:off x="10035" y="6165"/>
              <a:ext cx="7950" cy="15"/>
            </a:xfrm>
            <a:custGeom>
              <a:avLst/>
              <a:gdLst>
                <a:gd name="sw" fmla="*/ 1 w 7950"/>
                <a:gd name="sh" fmla="*/ 1 h 15"/>
                <a:gd name="mins" fmla="min sw sh"/>
                <a:gd name="dsw" fmla="+- 0 sw mins"/>
                <a:gd name="dsh" fmla="+- 0 sh mins"/>
                <a:gd name="p0x0" fmla="*/ 0 w 7950"/>
                <a:gd name="p0y0" fmla="*/ 0 h 15"/>
                <a:gd name="p0x1" fmla="*/ 7950 w 7950"/>
                <a:gd name="p0y1" fmla="*/ 0 h 15"/>
                <a:gd name="p0x2" fmla="*/ 7950 w 7950"/>
                <a:gd name="p0y2" fmla="*/ 15 h 15"/>
                <a:gd name="p0x3" fmla="*/ 0 w 7950"/>
                <a:gd name="p0y3" fmla="*/ 15 h 15"/>
                <a:gd name="p0x4" fmla="*/ 0 w 795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6" name="任意多边形 25"/>
          <p:cNvSpPr/>
          <p:nvPr>
            <p:custDataLst>
              <p:tags r:id="rId24"/>
            </p:custDataLst>
          </p:nvPr>
        </p:nvSpPr>
        <p:spPr>
          <a:xfrm>
            <a:off x="6372225" y="40290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E8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6505575" y="3910013"/>
            <a:ext cx="2857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0A4A7A"/>
                </a:solidFill>
                <a:cs typeface="+mn-lt"/>
              </a:rPr>
              <a:t>提出可通过</a:t>
            </a:r>
            <a:r>
              <a:rPr sz="1500" b="1">
                <a:solidFill>
                  <a:schemeClr val="accent1">
                    <a:lumMod val="56651"/>
                  </a:schemeClr>
                </a:solidFill>
                <a:cs typeface="+mn-lt"/>
              </a:rPr>
              <a:t>实验验证</a:t>
            </a:r>
            <a:r>
              <a:rPr sz="1500">
                <a:solidFill>
                  <a:srgbClr val="0A4A7A"/>
                </a:solidFill>
                <a:cs typeface="+mn-lt"/>
              </a:rPr>
              <a:t>的具体判断</a:t>
            </a:r>
            <a:endParaRPr sz="1500">
              <a:solidFill>
                <a:srgbClr val="0A4A7A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第二</a:t>
            </a:r>
            <a:r>
              <a:rPr lang="en-US" altLang="zh-CN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 </a:t>
            </a: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因果性</a:t>
            </a:r>
            <a:endParaRPr lang="zh-CN" altLang="en-US"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925830"/>
          </a:xfrm>
          <a:custGeom>
            <a:avLst/>
            <a:gdLst>
              <a:gd name="sw" fmla="*/ 1 w 17400"/>
              <a:gd name="sh" fmla="*/ 1 h 1458"/>
              <a:gd name="mins" fmla="min sw sh"/>
              <a:gd name="dsw" fmla="+- 0 sw mins"/>
              <a:gd name="dsh" fmla="+- 0 sh mins"/>
              <a:gd name="p0x0" fmla="*/ 180 w 17400"/>
              <a:gd name="p0y0" fmla="*/ 0 h 1458"/>
              <a:gd name="p0x1" fmla="*/ 17220 w 17400"/>
              <a:gd name="p0y1" fmla="*/ 0 h 1458"/>
              <a:gd name="p0x2" fmla="*/ 17319 w 17400"/>
              <a:gd name="p0y2" fmla="*/ 0 h 1458"/>
              <a:gd name="p0x3" fmla="*/ 17400 w 17400"/>
              <a:gd name="p0y3" fmla="*/ 80 h 1458"/>
              <a:gd name="p0x4" fmla="*/ 17400 w 17400"/>
              <a:gd name="p0y4" fmla="*/ 180 h 1458"/>
              <a:gd name="p0x5" fmla="*/ 17400 w 17400"/>
              <a:gd name="p0y5" fmla="*/ 1278 h 1458"/>
              <a:gd name="p0x6" fmla="*/ 17400 w 17400"/>
              <a:gd name="p0y6" fmla="*/ 1377 h 1458"/>
              <a:gd name="p0x7" fmla="*/ 17319 w 17400"/>
              <a:gd name="p0y7" fmla="*/ 1458 h 1458"/>
              <a:gd name="p0x8" fmla="*/ 17220 w 17400"/>
              <a:gd name="p0y8" fmla="*/ 1458 h 1458"/>
              <a:gd name="p0x9" fmla="*/ 180 w 17400"/>
              <a:gd name="p0y9" fmla="*/ 1458 h 1458"/>
              <a:gd name="p0x10" fmla="*/ 80 w 17400"/>
              <a:gd name="p0y10" fmla="*/ 1458 h 1458"/>
              <a:gd name="p0x11" fmla="*/ 0 w 17400"/>
              <a:gd name="p0y11" fmla="*/ 1377 h 1458"/>
              <a:gd name="p0x12" fmla="*/ 0 w 17400"/>
              <a:gd name="p0y12" fmla="*/ 1278 h 1458"/>
              <a:gd name="p0x13" fmla="*/ 0 w 17400"/>
              <a:gd name="p0y13" fmla="*/ 180 h 1458"/>
              <a:gd name="p0x14" fmla="*/ 0 w 17400"/>
              <a:gd name="p0y14" fmla="*/ 80 h 1458"/>
              <a:gd name="p0x15" fmla="*/ 80 w 17400"/>
              <a:gd name="p0y15" fmla="*/ 0 h 1458"/>
              <a:gd name="p0x16" fmla="*/ 180 w 17400"/>
              <a:gd name="p0y16" fmla="*/ 0 h 145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329"/>
              <a:lumOff val="82671"/>
            </a:schemeClr>
          </a:solidFill>
          <a:ln>
            <a:noFill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280160"/>
            <a:ext cx="9020032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>
                <a:solidFill>
                  <a:srgbClr val="1D3E5E"/>
                </a:solidFill>
                <a:cs typeface="+mn-lt"/>
              </a:rPr>
              <a:t>目前</a:t>
            </a:r>
            <a:r>
              <a:rPr lang="en-US" altLang="zh-CN">
                <a:solidFill>
                  <a:srgbClr val="1D3E5E"/>
                </a:solidFill>
                <a:cs typeface="+mn-lt"/>
              </a:rPr>
              <a:t> AlphaGenome </a:t>
            </a:r>
            <a:r>
              <a:rPr lang="zh-CN" altLang="en-US">
                <a:solidFill>
                  <a:srgbClr val="1D3E5E"/>
                </a:solidFill>
                <a:cs typeface="+mn-lt"/>
              </a:rPr>
              <a:t>更多还是从已有数据中学习规律，</a:t>
            </a:r>
            <a:r>
              <a:rPr b="1">
                <a:solidFill>
                  <a:srgbClr val="0E5A9E"/>
                </a:solidFill>
                <a:cs typeface="+mn-lt"/>
              </a:rPr>
              <a:t>距离真正的因果理解还有差距</a:t>
            </a:r>
            <a:endParaRPr b="1">
              <a:solidFill>
                <a:srgbClr val="0E5A9E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2263775"/>
            <a:ext cx="11039475" cy="4208145"/>
          </a:xfrm>
          <a:custGeom>
            <a:avLst/>
            <a:gdLst>
              <a:gd name="sw" fmla="*/ 1 w 17385"/>
              <a:gd name="sh" fmla="*/ 1 h 6626"/>
              <a:gd name="mins" fmla="min sw sh"/>
              <a:gd name="dsw" fmla="+- 0 sw mins"/>
              <a:gd name="dsh" fmla="+- 0 sh mins"/>
              <a:gd name="p0x0" fmla="*/ 180 w 17385"/>
              <a:gd name="p0y0" fmla="*/ 0 h 6626"/>
              <a:gd name="p0x1" fmla="*/ 17205 w 17385"/>
              <a:gd name="p0y1" fmla="*/ 0 h 6626"/>
              <a:gd name="p0x2" fmla="*/ 17304 w 17385"/>
              <a:gd name="p0y2" fmla="*/ 0 h 6626"/>
              <a:gd name="p0x3" fmla="*/ 17385 w 17385"/>
              <a:gd name="p0y3" fmla="*/ 80 h 6626"/>
              <a:gd name="p0x4" fmla="*/ 17385 w 17385"/>
              <a:gd name="p0y4" fmla="*/ 180 h 6626"/>
              <a:gd name="p0x5" fmla="*/ 17385 w 17385"/>
              <a:gd name="p0y5" fmla="*/ 6446 h 6626"/>
              <a:gd name="p0x6" fmla="*/ 17385 w 17385"/>
              <a:gd name="p0y6" fmla="*/ 6546 h 6626"/>
              <a:gd name="p0x7" fmla="*/ 17304 w 17385"/>
              <a:gd name="p0y7" fmla="*/ 6626 h 6626"/>
              <a:gd name="p0x8" fmla="*/ 17205 w 17385"/>
              <a:gd name="p0y8" fmla="*/ 6626 h 6626"/>
              <a:gd name="p0x9" fmla="*/ 180 w 17385"/>
              <a:gd name="p0y9" fmla="*/ 6626 h 6626"/>
              <a:gd name="p0x10" fmla="*/ 80 w 17385"/>
              <a:gd name="p0y10" fmla="*/ 6626 h 6626"/>
              <a:gd name="p0x11" fmla="*/ 0 w 17385"/>
              <a:gd name="p0y11" fmla="*/ 6546 h 6626"/>
              <a:gd name="p0x12" fmla="*/ 0 w 17385"/>
              <a:gd name="p0y12" fmla="*/ 6446 h 6626"/>
              <a:gd name="p0x13" fmla="*/ 0 w 17385"/>
              <a:gd name="p0y13" fmla="*/ 180 h 6626"/>
              <a:gd name="p0x14" fmla="*/ 0 w 17385"/>
              <a:gd name="p0y14" fmla="*/ 80 h 6626"/>
              <a:gd name="p0x15" fmla="*/ 80 w 17385"/>
              <a:gd name="p0y15" fmla="*/ 0 h 6626"/>
              <a:gd name="p0x16" fmla="*/ 180 w 17385"/>
              <a:gd name="p0y16" fmla="*/ 0 h 66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733425" y="2383155"/>
            <a:ext cx="10725150" cy="370840"/>
            <a:chOff x="1155" y="3753"/>
            <a:chExt cx="16890" cy="584"/>
          </a:xfrm>
        </p:grpSpPr>
        <p:sp>
          <p:nvSpPr>
            <p:cNvPr id="8" name="任意多边形 7"/>
            <p:cNvSpPr/>
            <p:nvPr>
              <p:custDataLst>
                <p:tags r:id="rId5"/>
              </p:custDataLst>
            </p:nvPr>
          </p:nvSpPr>
          <p:spPr>
            <a:xfrm>
              <a:off x="1155" y="3753"/>
              <a:ext cx="16890" cy="585"/>
            </a:xfrm>
            <a:custGeom>
              <a:avLst/>
              <a:gdLst>
                <a:gd name="sw" fmla="*/ 1 w 16890"/>
                <a:gd name="sh" fmla="*/ 1 h 585"/>
                <a:gd name="mins" fmla="min sw sh"/>
                <a:gd name="dsw" fmla="+- 0 sw mins"/>
                <a:gd name="dsh" fmla="+- 0 sh mins"/>
                <a:gd name="p0x0" fmla="*/ 0 w 16890"/>
                <a:gd name="p0y0" fmla="*/ 0 h 585"/>
                <a:gd name="p0x1" fmla="*/ 16890 w 16890"/>
                <a:gd name="p0y1" fmla="*/ 0 h 585"/>
                <a:gd name="p0x2" fmla="*/ 16890 w 16890"/>
                <a:gd name="p0y2" fmla="*/ 585 h 585"/>
                <a:gd name="p0x3" fmla="*/ 0 w 16890"/>
                <a:gd name="p0y3" fmla="*/ 585 h 585"/>
                <a:gd name="p0x4" fmla="*/ 0 w 16890"/>
                <a:gd name="p0y4" fmla="*/ 0 h 58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6"/>
              </p:custDataLst>
            </p:nvPr>
          </p:nvSpPr>
          <p:spPr>
            <a:xfrm>
              <a:off x="1155" y="4323"/>
              <a:ext cx="16890" cy="15"/>
            </a:xfrm>
            <a:custGeom>
              <a:avLst/>
              <a:gdLst>
                <a:gd name="sw" fmla="*/ 1 w 16890"/>
                <a:gd name="sh" fmla="*/ 1 h 15"/>
                <a:gd name="mins" fmla="min sw sh"/>
                <a:gd name="dsw" fmla="+- 0 sw mins"/>
                <a:gd name="dsh" fmla="+- 0 sh mins"/>
                <a:gd name="p0x0" fmla="*/ 16890 w 16890"/>
                <a:gd name="p0y0" fmla="*/ 15 h 15"/>
                <a:gd name="p0x1" fmla="*/ 0 w 16890"/>
                <a:gd name="p0y1" fmla="*/ 15 h 15"/>
                <a:gd name="p0x2" fmla="*/ 0 w 16890"/>
                <a:gd name="p0y2" fmla="*/ 0 h 15"/>
                <a:gd name="p0x3" fmla="*/ 16890 w 16890"/>
                <a:gd name="p0y3" fmla="*/ 0 h 15"/>
                <a:gd name="p0x4" fmla="*/ 16890 w 168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lumMod val="20577"/>
                <a:lumOff val="7942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733425" y="239268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90 w 420"/>
              <a:gd name="p0y0" fmla="*/ 0 h 420"/>
              <a:gd name="p0x1" fmla="*/ 330 w 420"/>
              <a:gd name="p0y1" fmla="*/ 0 h 420"/>
              <a:gd name="p0x2" fmla="*/ 379 w 420"/>
              <a:gd name="p0y2" fmla="*/ 0 h 420"/>
              <a:gd name="p0x3" fmla="*/ 420 w 420"/>
              <a:gd name="p0y3" fmla="*/ 40 h 420"/>
              <a:gd name="p0x4" fmla="*/ 420 w 420"/>
              <a:gd name="p0y4" fmla="*/ 90 h 420"/>
              <a:gd name="p0x5" fmla="*/ 420 w 420"/>
              <a:gd name="p0y5" fmla="*/ 330 h 420"/>
              <a:gd name="p0x6" fmla="*/ 420 w 420"/>
              <a:gd name="p0y6" fmla="*/ 379 h 420"/>
              <a:gd name="p0x7" fmla="*/ 379 w 420"/>
              <a:gd name="p0y7" fmla="*/ 420 h 420"/>
              <a:gd name="p0x8" fmla="*/ 330 w 420"/>
              <a:gd name="p0y8" fmla="*/ 420 h 420"/>
              <a:gd name="p0x9" fmla="*/ 90 w 420"/>
              <a:gd name="p0y9" fmla="*/ 420 h 420"/>
              <a:gd name="p0x10" fmla="*/ 40 w 420"/>
              <a:gd name="p0y10" fmla="*/ 420 h 420"/>
              <a:gd name="p0x11" fmla="*/ 0 w 420"/>
              <a:gd name="p0y11" fmla="*/ 379 h 420"/>
              <a:gd name="p0x12" fmla="*/ 0 w 420"/>
              <a:gd name="p0y12" fmla="*/ 330 h 420"/>
              <a:gd name="p0x13" fmla="*/ 0 w 420"/>
              <a:gd name="p0y13" fmla="*/ 90 h 420"/>
              <a:gd name="p0x14" fmla="*/ 0 w 420"/>
              <a:gd name="p0y14" fmla="*/ 40 h 420"/>
              <a:gd name="p0x15" fmla="*/ 40 w 420"/>
              <a:gd name="p0y15" fmla="*/ 0 h 420"/>
              <a:gd name="p0x16" fmla="*/ 9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790499" y="2426046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因</a:t>
            </a:r>
            <a:endParaRPr sz="1200" b="1">
              <a:solidFill>
                <a:schemeClr val="accent1">
                  <a:lumMod val="56651"/>
                </a:schemeClr>
              </a:solidFill>
              <a:cs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1076325" y="2367944"/>
            <a:ext cx="209401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1D3E5E"/>
                </a:solidFill>
                <a:cs typeface="+mn-lt"/>
              </a:rPr>
              <a:t>因果性的四个维度</a:t>
            </a:r>
            <a:endParaRPr b="1" spc="36">
              <a:solidFill>
                <a:srgbClr val="1D3E5E"/>
              </a:solidFill>
              <a:cs typeface="+mn-lt"/>
            </a:endParaRPr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>
            <a:off x="737870" y="3075305"/>
            <a:ext cx="10715625" cy="410210"/>
          </a:xfrm>
          <a:custGeom>
            <a:avLst/>
            <a:gdLst>
              <a:gd name="sw" fmla="*/ 1 w 16875"/>
              <a:gd name="sh" fmla="*/ 1 h 646"/>
              <a:gd name="mins" fmla="min sw sh"/>
              <a:gd name="dsw" fmla="+- 0 sw mins"/>
              <a:gd name="dsh" fmla="+- 0 sh mins"/>
              <a:gd name="p0x0" fmla="*/ 90 w 16875"/>
              <a:gd name="p0y0" fmla="*/ 0 h 646"/>
              <a:gd name="p0x1" fmla="*/ 16785 w 16875"/>
              <a:gd name="p0y1" fmla="*/ 0 h 646"/>
              <a:gd name="p0x2" fmla="*/ 16834 w 16875"/>
              <a:gd name="p0y2" fmla="*/ 0 h 646"/>
              <a:gd name="p0x3" fmla="*/ 16875 w 16875"/>
              <a:gd name="p0y3" fmla="*/ 40 h 646"/>
              <a:gd name="p0x4" fmla="*/ 16875 w 16875"/>
              <a:gd name="p0y4" fmla="*/ 90 h 646"/>
              <a:gd name="p0x5" fmla="*/ 16875 w 16875"/>
              <a:gd name="p0y5" fmla="*/ 556 h 646"/>
              <a:gd name="p0x6" fmla="*/ 16875 w 16875"/>
              <a:gd name="p0y6" fmla="*/ 606 h 646"/>
              <a:gd name="p0x7" fmla="*/ 16834 w 16875"/>
              <a:gd name="p0y7" fmla="*/ 646 h 646"/>
              <a:gd name="p0x8" fmla="*/ 16785 w 16875"/>
              <a:gd name="p0y8" fmla="*/ 646 h 646"/>
              <a:gd name="p0x9" fmla="*/ 90 w 16875"/>
              <a:gd name="p0y9" fmla="*/ 646 h 646"/>
              <a:gd name="p0x10" fmla="*/ 40 w 16875"/>
              <a:gd name="p0y10" fmla="*/ 646 h 646"/>
              <a:gd name="p0x11" fmla="*/ 0 w 16875"/>
              <a:gd name="p0y11" fmla="*/ 606 h 646"/>
              <a:gd name="p0x12" fmla="*/ 0 w 16875"/>
              <a:gd name="p0y12" fmla="*/ 556 h 646"/>
              <a:gd name="p0x13" fmla="*/ 0 w 16875"/>
              <a:gd name="p0y13" fmla="*/ 90 h 646"/>
              <a:gd name="p0x14" fmla="*/ 0 w 16875"/>
              <a:gd name="p0y14" fmla="*/ 40 h 646"/>
              <a:gd name="p0x15" fmla="*/ 40 w 16875"/>
              <a:gd name="p0y15" fmla="*/ 0 h 646"/>
              <a:gd name="p0x16" fmla="*/ 90 w 16875"/>
              <a:gd name="p0y16" fmla="*/ 0 h 6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>
            <a:off x="857250" y="3175000"/>
            <a:ext cx="762000" cy="228600"/>
          </a:xfrm>
          <a:custGeom>
            <a:avLst/>
            <a:gdLst>
              <a:gd name="sw" fmla="*/ 1 w 1200"/>
              <a:gd name="sh" fmla="*/ 1 h 360"/>
              <a:gd name="mins" fmla="min sw sh"/>
              <a:gd name="dsw" fmla="+- 0 sw mins"/>
              <a:gd name="dsh" fmla="+- 0 sh mins"/>
              <a:gd name="p0x0" fmla="*/ 90 w 1200"/>
              <a:gd name="p0y0" fmla="*/ 0 h 360"/>
              <a:gd name="p0x1" fmla="*/ 1110 w 1200"/>
              <a:gd name="p0y1" fmla="*/ 0 h 360"/>
              <a:gd name="p0x2" fmla="*/ 1159 w 1200"/>
              <a:gd name="p0y2" fmla="*/ 0 h 360"/>
              <a:gd name="p0x3" fmla="*/ 1200 w 1200"/>
              <a:gd name="p0y3" fmla="*/ 40 h 360"/>
              <a:gd name="p0x4" fmla="*/ 1200 w 1200"/>
              <a:gd name="p0y4" fmla="*/ 90 h 360"/>
              <a:gd name="p0x5" fmla="*/ 1200 w 1200"/>
              <a:gd name="p0y5" fmla="*/ 270 h 360"/>
              <a:gd name="p0x6" fmla="*/ 1200 w 1200"/>
              <a:gd name="p0y6" fmla="*/ 319 h 360"/>
              <a:gd name="p0x7" fmla="*/ 1159 w 1200"/>
              <a:gd name="p0y7" fmla="*/ 360 h 360"/>
              <a:gd name="p0x8" fmla="*/ 1110 w 1200"/>
              <a:gd name="p0y8" fmla="*/ 360 h 360"/>
              <a:gd name="p0x9" fmla="*/ 90 w 1200"/>
              <a:gd name="p0y9" fmla="*/ 360 h 360"/>
              <a:gd name="p0x10" fmla="*/ 40 w 1200"/>
              <a:gd name="p0y10" fmla="*/ 360 h 360"/>
              <a:gd name="p0x11" fmla="*/ 0 w 1200"/>
              <a:gd name="p0y11" fmla="*/ 319 h 360"/>
              <a:gd name="p0x12" fmla="*/ 0 w 1200"/>
              <a:gd name="p0y12" fmla="*/ 270 h 360"/>
              <a:gd name="p0x13" fmla="*/ 0 w 1200"/>
              <a:gd name="p0y13" fmla="*/ 90 h 360"/>
              <a:gd name="p0x14" fmla="*/ 0 w 1200"/>
              <a:gd name="p0y14" fmla="*/ 40 h 360"/>
              <a:gd name="p0x15" fmla="*/ 40 w 1200"/>
              <a:gd name="p0y15" fmla="*/ 0 h 360"/>
              <a:gd name="p0x16" fmla="*/ 90 w 120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933450" y="3185798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频繁共现</a:t>
            </a:r>
            <a:endParaRPr sz="1200" b="1">
              <a:solidFill>
                <a:schemeClr val="accent1">
                  <a:lumMod val="56651"/>
                </a:schemeClr>
              </a:solidFill>
              <a:cs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1695526" y="3144364"/>
            <a:ext cx="4286326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350">
                <a:solidFill>
                  <a:schemeClr val="tx2"/>
                </a:solidFill>
                <a:cs typeface="+mn-lt"/>
              </a:rPr>
              <a:t>两个因素经常同时出现，可据此做规律层面的观察。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14"/>
            </p:custDataLst>
          </p:nvPr>
        </p:nvSpPr>
        <p:spPr>
          <a:xfrm>
            <a:off x="737870" y="3810635"/>
            <a:ext cx="10715625" cy="410845"/>
          </a:xfrm>
          <a:custGeom>
            <a:avLst/>
            <a:gdLst>
              <a:gd name="sw" fmla="*/ 1 w 16875"/>
              <a:gd name="sh" fmla="*/ 1 h 646"/>
              <a:gd name="mins" fmla="min sw sh"/>
              <a:gd name="dsw" fmla="+- 0 sw mins"/>
              <a:gd name="dsh" fmla="+- 0 sh mins"/>
              <a:gd name="p0x0" fmla="*/ 90 w 16875"/>
              <a:gd name="p0y0" fmla="*/ 0 h 646"/>
              <a:gd name="p0x1" fmla="*/ 16785 w 16875"/>
              <a:gd name="p0y1" fmla="*/ 0 h 646"/>
              <a:gd name="p0x2" fmla="*/ 16834 w 16875"/>
              <a:gd name="p0y2" fmla="*/ 0 h 646"/>
              <a:gd name="p0x3" fmla="*/ 16875 w 16875"/>
              <a:gd name="p0y3" fmla="*/ 40 h 646"/>
              <a:gd name="p0x4" fmla="*/ 16875 w 16875"/>
              <a:gd name="p0y4" fmla="*/ 90 h 646"/>
              <a:gd name="p0x5" fmla="*/ 16875 w 16875"/>
              <a:gd name="p0y5" fmla="*/ 556 h 646"/>
              <a:gd name="p0x6" fmla="*/ 16875 w 16875"/>
              <a:gd name="p0y6" fmla="*/ 606 h 646"/>
              <a:gd name="p0x7" fmla="*/ 16834 w 16875"/>
              <a:gd name="p0y7" fmla="*/ 646 h 646"/>
              <a:gd name="p0x8" fmla="*/ 16785 w 16875"/>
              <a:gd name="p0y8" fmla="*/ 646 h 646"/>
              <a:gd name="p0x9" fmla="*/ 90 w 16875"/>
              <a:gd name="p0y9" fmla="*/ 646 h 646"/>
              <a:gd name="p0x10" fmla="*/ 40 w 16875"/>
              <a:gd name="p0y10" fmla="*/ 646 h 646"/>
              <a:gd name="p0x11" fmla="*/ 0 w 16875"/>
              <a:gd name="p0y11" fmla="*/ 606 h 646"/>
              <a:gd name="p0x12" fmla="*/ 0 w 16875"/>
              <a:gd name="p0y12" fmla="*/ 556 h 646"/>
              <a:gd name="p0x13" fmla="*/ 0 w 16875"/>
              <a:gd name="p0y13" fmla="*/ 90 h 646"/>
              <a:gd name="p0x14" fmla="*/ 0 w 16875"/>
              <a:gd name="p0y14" fmla="*/ 40 h 646"/>
              <a:gd name="p0x15" fmla="*/ 40 w 16875"/>
              <a:gd name="p0y15" fmla="*/ 0 h 646"/>
              <a:gd name="p0x16" fmla="*/ 90 w 16875"/>
              <a:gd name="p0y16" fmla="*/ 0 h 6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5"/>
            </p:custDataLst>
          </p:nvPr>
        </p:nvSpPr>
        <p:spPr>
          <a:xfrm>
            <a:off x="857250" y="3910965"/>
            <a:ext cx="762000" cy="228600"/>
          </a:xfrm>
          <a:custGeom>
            <a:avLst/>
            <a:gdLst>
              <a:gd name="sw" fmla="*/ 1 w 1200"/>
              <a:gd name="sh" fmla="*/ 1 h 360"/>
              <a:gd name="mins" fmla="min sw sh"/>
              <a:gd name="dsw" fmla="+- 0 sw mins"/>
              <a:gd name="dsh" fmla="+- 0 sh mins"/>
              <a:gd name="p0x0" fmla="*/ 90 w 1200"/>
              <a:gd name="p0y0" fmla="*/ 0 h 360"/>
              <a:gd name="p0x1" fmla="*/ 1110 w 1200"/>
              <a:gd name="p0y1" fmla="*/ 0 h 360"/>
              <a:gd name="p0x2" fmla="*/ 1159 w 1200"/>
              <a:gd name="p0y2" fmla="*/ 0 h 360"/>
              <a:gd name="p0x3" fmla="*/ 1200 w 1200"/>
              <a:gd name="p0y3" fmla="*/ 40 h 360"/>
              <a:gd name="p0x4" fmla="*/ 1200 w 1200"/>
              <a:gd name="p0y4" fmla="*/ 90 h 360"/>
              <a:gd name="p0x5" fmla="*/ 1200 w 1200"/>
              <a:gd name="p0y5" fmla="*/ 270 h 360"/>
              <a:gd name="p0x6" fmla="*/ 1200 w 1200"/>
              <a:gd name="p0y6" fmla="*/ 319 h 360"/>
              <a:gd name="p0x7" fmla="*/ 1159 w 1200"/>
              <a:gd name="p0y7" fmla="*/ 360 h 360"/>
              <a:gd name="p0x8" fmla="*/ 1110 w 1200"/>
              <a:gd name="p0y8" fmla="*/ 360 h 360"/>
              <a:gd name="p0x9" fmla="*/ 90 w 1200"/>
              <a:gd name="p0y9" fmla="*/ 360 h 360"/>
              <a:gd name="p0x10" fmla="*/ 40 w 1200"/>
              <a:gd name="p0y10" fmla="*/ 360 h 360"/>
              <a:gd name="p0x11" fmla="*/ 0 w 1200"/>
              <a:gd name="p0y11" fmla="*/ 319 h 360"/>
              <a:gd name="p0x12" fmla="*/ 0 w 1200"/>
              <a:gd name="p0y12" fmla="*/ 270 h 360"/>
              <a:gd name="p0x13" fmla="*/ 0 w 1200"/>
              <a:gd name="p0y13" fmla="*/ 90 h 360"/>
              <a:gd name="p0x14" fmla="*/ 0 w 1200"/>
              <a:gd name="p0y14" fmla="*/ 40 h 360"/>
              <a:gd name="p0x15" fmla="*/ 40 w 1200"/>
              <a:gd name="p0y15" fmla="*/ 0 h 360"/>
              <a:gd name="p0x16" fmla="*/ 90 w 120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933450" y="3921681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规律预测</a:t>
            </a:r>
            <a:endParaRPr sz="1200" b="1">
              <a:solidFill>
                <a:schemeClr val="accent1">
                  <a:lumMod val="56651"/>
                </a:schemeClr>
              </a:solidFill>
              <a:cs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1695526" y="3880247"/>
            <a:ext cx="2743276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350">
                <a:solidFill>
                  <a:schemeClr val="tx2"/>
                </a:solidFill>
                <a:cs typeface="+mn-lt"/>
              </a:rPr>
              <a:t>可以利用这种共现规律进行预测。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22" name="任意多边形 21"/>
          <p:cNvSpPr/>
          <p:nvPr>
            <p:custDataLst>
              <p:tags r:id="rId18"/>
            </p:custDataLst>
          </p:nvPr>
        </p:nvSpPr>
        <p:spPr>
          <a:xfrm>
            <a:off x="737870" y="4546600"/>
            <a:ext cx="10715625" cy="410845"/>
          </a:xfrm>
          <a:custGeom>
            <a:avLst/>
            <a:gdLst>
              <a:gd name="sw" fmla="*/ 1 w 16875"/>
              <a:gd name="sh" fmla="*/ 1 h 646"/>
              <a:gd name="mins" fmla="min sw sh"/>
              <a:gd name="dsw" fmla="+- 0 sw mins"/>
              <a:gd name="dsh" fmla="+- 0 sh mins"/>
              <a:gd name="p0x0" fmla="*/ 90 w 16875"/>
              <a:gd name="p0y0" fmla="*/ 0 h 646"/>
              <a:gd name="p0x1" fmla="*/ 16785 w 16875"/>
              <a:gd name="p0y1" fmla="*/ 0 h 646"/>
              <a:gd name="p0x2" fmla="*/ 16834 w 16875"/>
              <a:gd name="p0y2" fmla="*/ 0 h 646"/>
              <a:gd name="p0x3" fmla="*/ 16875 w 16875"/>
              <a:gd name="p0y3" fmla="*/ 40 h 646"/>
              <a:gd name="p0x4" fmla="*/ 16875 w 16875"/>
              <a:gd name="p0y4" fmla="*/ 90 h 646"/>
              <a:gd name="p0x5" fmla="*/ 16875 w 16875"/>
              <a:gd name="p0y5" fmla="*/ 556 h 646"/>
              <a:gd name="p0x6" fmla="*/ 16875 w 16875"/>
              <a:gd name="p0y6" fmla="*/ 606 h 646"/>
              <a:gd name="p0x7" fmla="*/ 16834 w 16875"/>
              <a:gd name="p0y7" fmla="*/ 646 h 646"/>
              <a:gd name="p0x8" fmla="*/ 16785 w 16875"/>
              <a:gd name="p0y8" fmla="*/ 646 h 646"/>
              <a:gd name="p0x9" fmla="*/ 90 w 16875"/>
              <a:gd name="p0y9" fmla="*/ 646 h 646"/>
              <a:gd name="p0x10" fmla="*/ 40 w 16875"/>
              <a:gd name="p0y10" fmla="*/ 646 h 646"/>
              <a:gd name="p0x11" fmla="*/ 0 w 16875"/>
              <a:gd name="p0y11" fmla="*/ 606 h 646"/>
              <a:gd name="p0x12" fmla="*/ 0 w 16875"/>
              <a:gd name="p0y12" fmla="*/ 556 h 646"/>
              <a:gd name="p0x13" fmla="*/ 0 w 16875"/>
              <a:gd name="p0y13" fmla="*/ 90 h 646"/>
              <a:gd name="p0x14" fmla="*/ 0 w 16875"/>
              <a:gd name="p0y14" fmla="*/ 40 h 646"/>
              <a:gd name="p0x15" fmla="*/ 40 w 16875"/>
              <a:gd name="p0y15" fmla="*/ 0 h 646"/>
              <a:gd name="p0x16" fmla="*/ 90 w 16875"/>
              <a:gd name="p0y16" fmla="*/ 0 h 6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19"/>
            </p:custDataLst>
          </p:nvPr>
        </p:nvSpPr>
        <p:spPr>
          <a:xfrm>
            <a:off x="857250" y="4646930"/>
            <a:ext cx="762000" cy="228600"/>
          </a:xfrm>
          <a:custGeom>
            <a:avLst/>
            <a:gdLst>
              <a:gd name="sw" fmla="*/ 1 w 1200"/>
              <a:gd name="sh" fmla="*/ 1 h 360"/>
              <a:gd name="mins" fmla="min sw sh"/>
              <a:gd name="dsw" fmla="+- 0 sw mins"/>
              <a:gd name="dsh" fmla="+- 0 sh mins"/>
              <a:gd name="p0x0" fmla="*/ 90 w 1200"/>
              <a:gd name="p0y0" fmla="*/ 0 h 360"/>
              <a:gd name="p0x1" fmla="*/ 1110 w 1200"/>
              <a:gd name="p0y1" fmla="*/ 0 h 360"/>
              <a:gd name="p0x2" fmla="*/ 1159 w 1200"/>
              <a:gd name="p0y2" fmla="*/ 0 h 360"/>
              <a:gd name="p0x3" fmla="*/ 1200 w 1200"/>
              <a:gd name="p0y3" fmla="*/ 40 h 360"/>
              <a:gd name="p0x4" fmla="*/ 1200 w 1200"/>
              <a:gd name="p0y4" fmla="*/ 90 h 360"/>
              <a:gd name="p0x5" fmla="*/ 1200 w 1200"/>
              <a:gd name="p0y5" fmla="*/ 270 h 360"/>
              <a:gd name="p0x6" fmla="*/ 1200 w 1200"/>
              <a:gd name="p0y6" fmla="*/ 319 h 360"/>
              <a:gd name="p0x7" fmla="*/ 1159 w 1200"/>
              <a:gd name="p0y7" fmla="*/ 360 h 360"/>
              <a:gd name="p0x8" fmla="*/ 1110 w 1200"/>
              <a:gd name="p0y8" fmla="*/ 360 h 360"/>
              <a:gd name="p0x9" fmla="*/ 90 w 1200"/>
              <a:gd name="p0y9" fmla="*/ 360 h 360"/>
              <a:gd name="p0x10" fmla="*/ 40 w 1200"/>
              <a:gd name="p0y10" fmla="*/ 360 h 360"/>
              <a:gd name="p0x11" fmla="*/ 0 w 1200"/>
              <a:gd name="p0y11" fmla="*/ 319 h 360"/>
              <a:gd name="p0x12" fmla="*/ 0 w 1200"/>
              <a:gd name="p0y12" fmla="*/ 270 h 360"/>
              <a:gd name="p0x13" fmla="*/ 0 w 1200"/>
              <a:gd name="p0y13" fmla="*/ 90 h 360"/>
              <a:gd name="p0x14" fmla="*/ 0 w 1200"/>
              <a:gd name="p0y14" fmla="*/ 40 h 360"/>
              <a:gd name="p0x15" fmla="*/ 40 w 1200"/>
              <a:gd name="p0y15" fmla="*/ 0 h 360"/>
              <a:gd name="p0x16" fmla="*/ 90 w 120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0"/>
            </p:custDataLst>
          </p:nvPr>
        </p:nvSpPr>
        <p:spPr>
          <a:xfrm>
            <a:off x="933450" y="4657563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干预未知</a:t>
            </a:r>
            <a:endParaRPr sz="1200" b="1">
              <a:solidFill>
                <a:schemeClr val="accent1">
                  <a:lumMod val="56651"/>
                </a:schemeClr>
              </a:solidFill>
              <a:cs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21"/>
            </p:custDataLst>
          </p:nvPr>
        </p:nvSpPr>
        <p:spPr>
          <a:xfrm>
            <a:off x="1695526" y="4616129"/>
            <a:ext cx="4629226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350">
                <a:solidFill>
                  <a:schemeClr val="tx2"/>
                </a:solidFill>
                <a:cs typeface="+mn-lt"/>
              </a:rPr>
              <a:t>不知道主动改变其中一个，另一个是否一定会跟着改变。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26" name="任意多边形 25"/>
          <p:cNvSpPr/>
          <p:nvPr>
            <p:custDataLst>
              <p:tags r:id="rId22"/>
            </p:custDataLst>
          </p:nvPr>
        </p:nvSpPr>
        <p:spPr>
          <a:xfrm>
            <a:off x="737870" y="5282565"/>
            <a:ext cx="10715625" cy="410845"/>
          </a:xfrm>
          <a:custGeom>
            <a:avLst/>
            <a:gdLst>
              <a:gd name="sw" fmla="*/ 1 w 16875"/>
              <a:gd name="sh" fmla="*/ 1 h 646"/>
              <a:gd name="mins" fmla="min sw sh"/>
              <a:gd name="dsw" fmla="+- 0 sw mins"/>
              <a:gd name="dsh" fmla="+- 0 sh mins"/>
              <a:gd name="p0x0" fmla="*/ 90 w 16875"/>
              <a:gd name="p0y0" fmla="*/ 0 h 646"/>
              <a:gd name="p0x1" fmla="*/ 16785 w 16875"/>
              <a:gd name="p0y1" fmla="*/ 0 h 646"/>
              <a:gd name="p0x2" fmla="*/ 16834 w 16875"/>
              <a:gd name="p0y2" fmla="*/ 0 h 646"/>
              <a:gd name="p0x3" fmla="*/ 16875 w 16875"/>
              <a:gd name="p0y3" fmla="*/ 40 h 646"/>
              <a:gd name="p0x4" fmla="*/ 16875 w 16875"/>
              <a:gd name="p0y4" fmla="*/ 90 h 646"/>
              <a:gd name="p0x5" fmla="*/ 16875 w 16875"/>
              <a:gd name="p0y5" fmla="*/ 556 h 646"/>
              <a:gd name="p0x6" fmla="*/ 16875 w 16875"/>
              <a:gd name="p0y6" fmla="*/ 606 h 646"/>
              <a:gd name="p0x7" fmla="*/ 16834 w 16875"/>
              <a:gd name="p0y7" fmla="*/ 646 h 646"/>
              <a:gd name="p0x8" fmla="*/ 16785 w 16875"/>
              <a:gd name="p0y8" fmla="*/ 646 h 646"/>
              <a:gd name="p0x9" fmla="*/ 90 w 16875"/>
              <a:gd name="p0y9" fmla="*/ 646 h 646"/>
              <a:gd name="p0x10" fmla="*/ 40 w 16875"/>
              <a:gd name="p0y10" fmla="*/ 646 h 646"/>
              <a:gd name="p0x11" fmla="*/ 0 w 16875"/>
              <a:gd name="p0y11" fmla="*/ 606 h 646"/>
              <a:gd name="p0x12" fmla="*/ 0 w 16875"/>
              <a:gd name="p0y12" fmla="*/ 556 h 646"/>
              <a:gd name="p0x13" fmla="*/ 0 w 16875"/>
              <a:gd name="p0y13" fmla="*/ 90 h 646"/>
              <a:gd name="p0x14" fmla="*/ 0 w 16875"/>
              <a:gd name="p0y14" fmla="*/ 40 h 646"/>
              <a:gd name="p0x15" fmla="*/ 40 w 16875"/>
              <a:gd name="p0y15" fmla="*/ 0 h 646"/>
              <a:gd name="p0x16" fmla="*/ 90 w 16875"/>
              <a:gd name="p0y16" fmla="*/ 0 h 6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3"/>
            </p:custDataLst>
          </p:nvPr>
        </p:nvSpPr>
        <p:spPr>
          <a:xfrm>
            <a:off x="857250" y="5382895"/>
            <a:ext cx="762000" cy="228600"/>
          </a:xfrm>
          <a:custGeom>
            <a:avLst/>
            <a:gdLst>
              <a:gd name="sw" fmla="*/ 1 w 1200"/>
              <a:gd name="sh" fmla="*/ 1 h 360"/>
              <a:gd name="mins" fmla="min sw sh"/>
              <a:gd name="dsw" fmla="+- 0 sw mins"/>
              <a:gd name="dsh" fmla="+- 0 sh mins"/>
              <a:gd name="p0x0" fmla="*/ 90 w 1200"/>
              <a:gd name="p0y0" fmla="*/ 0 h 360"/>
              <a:gd name="p0x1" fmla="*/ 1110 w 1200"/>
              <a:gd name="p0y1" fmla="*/ 0 h 360"/>
              <a:gd name="p0x2" fmla="*/ 1159 w 1200"/>
              <a:gd name="p0y2" fmla="*/ 0 h 360"/>
              <a:gd name="p0x3" fmla="*/ 1200 w 1200"/>
              <a:gd name="p0y3" fmla="*/ 40 h 360"/>
              <a:gd name="p0x4" fmla="*/ 1200 w 1200"/>
              <a:gd name="p0y4" fmla="*/ 90 h 360"/>
              <a:gd name="p0x5" fmla="*/ 1200 w 1200"/>
              <a:gd name="p0y5" fmla="*/ 270 h 360"/>
              <a:gd name="p0x6" fmla="*/ 1200 w 1200"/>
              <a:gd name="p0y6" fmla="*/ 319 h 360"/>
              <a:gd name="p0x7" fmla="*/ 1159 w 1200"/>
              <a:gd name="p0y7" fmla="*/ 360 h 360"/>
              <a:gd name="p0x8" fmla="*/ 1110 w 1200"/>
              <a:gd name="p0y8" fmla="*/ 360 h 360"/>
              <a:gd name="p0x9" fmla="*/ 90 w 1200"/>
              <a:gd name="p0y9" fmla="*/ 360 h 360"/>
              <a:gd name="p0x10" fmla="*/ 40 w 1200"/>
              <a:gd name="p0y10" fmla="*/ 360 h 360"/>
              <a:gd name="p0x11" fmla="*/ 0 w 1200"/>
              <a:gd name="p0y11" fmla="*/ 319 h 360"/>
              <a:gd name="p0x12" fmla="*/ 0 w 1200"/>
              <a:gd name="p0y12" fmla="*/ 270 h 360"/>
              <a:gd name="p0x13" fmla="*/ 0 w 1200"/>
              <a:gd name="p0y13" fmla="*/ 90 h 360"/>
              <a:gd name="p0x14" fmla="*/ 0 w 1200"/>
              <a:gd name="p0y14" fmla="*/ 40 h 360"/>
              <a:gd name="p0x15" fmla="*/ 40 w 1200"/>
              <a:gd name="p0y15" fmla="*/ 0 h 360"/>
              <a:gd name="p0x16" fmla="*/ 90 w 120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933450" y="5393446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干预问题</a:t>
            </a:r>
            <a:endParaRPr sz="1200" b="1">
              <a:solidFill>
                <a:schemeClr val="accent1">
                  <a:lumMod val="56651"/>
                </a:schemeClr>
              </a:solidFill>
              <a:cs typeface="+mn-lt"/>
            </a:endParaRPr>
          </a:p>
        </p:txBody>
      </p:sp>
      <p:sp>
        <p:nvSpPr>
          <p:cNvPr id="29" name="文本框 28"/>
          <p:cNvSpPr txBox="1"/>
          <p:nvPr>
            <p:custDataLst>
              <p:tags r:id="rId25"/>
            </p:custDataLst>
          </p:nvPr>
        </p:nvSpPr>
        <p:spPr>
          <a:xfrm>
            <a:off x="1695526" y="5352012"/>
            <a:ext cx="4457776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350">
                <a:solidFill>
                  <a:schemeClr val="tx2"/>
                </a:solidFill>
                <a:cs typeface="+mn-lt"/>
              </a:rPr>
              <a:t>真正的因果理解，要求模型能够面对这样的干预问题。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30" name="任意多边形 29"/>
          <p:cNvSpPr/>
          <p:nvPr>
            <p:custDataLst>
              <p:tags r:id="rId26"/>
            </p:custDataLst>
          </p:nvPr>
        </p:nvSpPr>
        <p:spPr>
          <a:xfrm>
            <a:off x="737870" y="6056630"/>
            <a:ext cx="1045845" cy="291465"/>
          </a:xfrm>
          <a:custGeom>
            <a:avLst/>
            <a:gdLst>
              <a:gd name="sw" fmla="*/ 1 w 1647"/>
              <a:gd name="sh" fmla="*/ 1 h 458"/>
              <a:gd name="mins" fmla="min sw sh"/>
              <a:gd name="dsw" fmla="+- 0 sw mins"/>
              <a:gd name="dsh" fmla="+- 0 sh mins"/>
              <a:gd name="p0x0" fmla="*/ 229 w 1647"/>
              <a:gd name="p0y0" fmla="*/ 0 h 458"/>
              <a:gd name="p0x1" fmla="*/ 1417 w 1647"/>
              <a:gd name="p0y1" fmla="*/ 0 h 458"/>
              <a:gd name="p0x2" fmla="*/ 1544 w 1647"/>
              <a:gd name="p0y2" fmla="*/ 0 h 458"/>
              <a:gd name="p0x3" fmla="*/ 1647 w 1647"/>
              <a:gd name="p0y3" fmla="*/ 102 h 458"/>
              <a:gd name="p0x4" fmla="*/ 1647 w 1647"/>
              <a:gd name="p0y4" fmla="*/ 229 h 458"/>
              <a:gd name="p0x5" fmla="*/ 1647 w 1647"/>
              <a:gd name="p0y5" fmla="*/ 356 h 458"/>
              <a:gd name="p0x6" fmla="*/ 1544 w 1647"/>
              <a:gd name="p0y6" fmla="*/ 458 h 458"/>
              <a:gd name="p0x7" fmla="*/ 1417 w 1647"/>
              <a:gd name="p0y7" fmla="*/ 458 h 458"/>
              <a:gd name="p0x8" fmla="*/ 229 w 1647"/>
              <a:gd name="p0y8" fmla="*/ 458 h 458"/>
              <a:gd name="p0x9" fmla="*/ 102 w 1647"/>
              <a:gd name="p0y9" fmla="*/ 458 h 458"/>
              <a:gd name="p0x10" fmla="*/ 0 w 1647"/>
              <a:gd name="p0y10" fmla="*/ 356 h 458"/>
              <a:gd name="p0x11" fmla="*/ 0 w 1647"/>
              <a:gd name="p0y11" fmla="*/ 229 h 458"/>
              <a:gd name="p0x12" fmla="*/ 0 w 1647"/>
              <a:gd name="p0y12" fmla="*/ 102 h 458"/>
              <a:gd name="p0x13" fmla="*/ 102 w 1647"/>
              <a:gd name="p0y13" fmla="*/ 0 h 458"/>
              <a:gd name="p0x14" fmla="*/ 229 w 1647"/>
              <a:gd name="p0y14" fmla="*/ 0 h 45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noFill/>
          <a:ln w="9525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7"/>
            </p:custDataLst>
          </p:nvPr>
        </p:nvSpPr>
        <p:spPr>
          <a:xfrm>
            <a:off x="857250" y="6069387"/>
            <a:ext cx="960168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 b="1" spc="72">
                <a:solidFill>
                  <a:schemeClr val="tx2"/>
                </a:solidFill>
                <a:cs typeface="+mn-lt"/>
              </a:rPr>
              <a:t>因果性检验</a:t>
            </a:r>
            <a:endParaRPr sz="1200" b="1" spc="72">
              <a:solidFill>
                <a:schemeClr val="tx2"/>
              </a:solidFill>
              <a:cs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28"/>
            </p:custDataLst>
          </p:nvPr>
        </p:nvSpPr>
        <p:spPr>
          <a:xfrm>
            <a:off x="1865043" y="6050318"/>
            <a:ext cx="436461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chemeClr val="tx2"/>
                </a:solidFill>
                <a:cs typeface="+mn-lt"/>
              </a:rPr>
              <a:t>目前</a:t>
            </a:r>
            <a:r>
              <a:rPr lang="en-US" altLang="zh-CN" sz="1350">
                <a:solidFill>
                  <a:schemeClr val="tx2"/>
                </a:solidFill>
                <a:cs typeface="+mn-lt"/>
              </a:rPr>
              <a:t> AlphaGenome </a:t>
            </a:r>
            <a:r>
              <a:rPr lang="zh-CN" altLang="en-US" sz="1350">
                <a:solidFill>
                  <a:schemeClr val="tx2"/>
                </a:solidFill>
                <a:cs typeface="+mn-lt"/>
              </a:rPr>
              <a:t>更多还是从已有数据中学习规律</a:t>
            </a:r>
            <a:endParaRPr lang="zh-CN" altLang="en-US" sz="1350">
              <a:solidFill>
                <a:schemeClr val="tx2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第三</a:t>
            </a:r>
            <a:r>
              <a:rPr lang="en-US" altLang="zh-CN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 </a:t>
            </a:r>
            <a:r>
              <a:rPr lang="zh-CN" alt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可迁移性</a:t>
            </a:r>
            <a:endParaRPr lang="zh-CN" altLang="en-US"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pic>
        <p:nvPicPr>
          <p:cNvPr id="4" name="图片 3" descr="d11d5f6a-c317-11f1-ac83-a62ecfad3ade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3" b="3"/>
          <a:stretch>
            <a:fillRect/>
          </a:stretch>
        </p:blipFill>
        <p:spPr>
          <a:xfrm>
            <a:off x="571500" y="1104900"/>
            <a:ext cx="11049000" cy="20574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0" h="3240">
                <a:moveTo>
                  <a:pt x="120" y="0"/>
                </a:moveTo>
                <a:lnTo>
                  <a:pt x="17280" y="0"/>
                </a:lnTo>
                <a:cubicBezTo>
                  <a:pt x="17346" y="0"/>
                  <a:pt x="17400" y="54"/>
                  <a:pt x="17400" y="120"/>
                </a:cubicBezTo>
                <a:lnTo>
                  <a:pt x="17400" y="3120"/>
                </a:lnTo>
                <a:cubicBezTo>
                  <a:pt x="17400" y="3186"/>
                  <a:pt x="17346" y="3240"/>
                  <a:pt x="17280" y="3240"/>
                </a:cubicBezTo>
                <a:lnTo>
                  <a:pt x="120" y="3240"/>
                </a:lnTo>
                <a:cubicBezTo>
                  <a:pt x="54" y="3240"/>
                  <a:pt x="0" y="3186"/>
                  <a:pt x="0" y="312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</p:spPr>
      </p:pic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3695700" y="337470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cs typeface="+mn-lt"/>
              </a:rPr>
              <a:t>部分规律可迁移，精细效应难稳定迁移</a:t>
            </a:r>
            <a:endParaRPr sz="2100" b="1">
              <a:solidFill>
                <a:schemeClr val="accent1"/>
              </a:solidFill>
              <a:cs typeface="+mn-lt"/>
            </a:endParaRPr>
          </a:p>
        </p:txBody>
      </p:sp>
      <p:sp>
        <p:nvSpPr>
          <p:cNvPr id="19" name="任意多边形 18"/>
          <p:cNvSpPr/>
          <p:nvPr>
            <p:custDataLst>
              <p:tags r:id="rId5"/>
            </p:custDataLst>
          </p:nvPr>
        </p:nvSpPr>
        <p:spPr>
          <a:xfrm>
            <a:off x="571500" y="6096000"/>
            <a:ext cx="11049000" cy="381000"/>
          </a:xfrm>
          <a:custGeom>
            <a:avLst/>
            <a:gdLst>
              <a:gd name="sw" fmla="*/ 1 w 17400"/>
              <a:gd name="sh" fmla="*/ 1 h 600"/>
              <a:gd name="mins" fmla="min sw sh"/>
              <a:gd name="dsw" fmla="+- 0 sw mins"/>
              <a:gd name="dsh" fmla="+- 0 sh mins"/>
              <a:gd name="p0x0" fmla="*/ 180 w 17400"/>
              <a:gd name="p0y0" fmla="*/ 0 h 600"/>
              <a:gd name="p0x1" fmla="*/ 17220 w 17400"/>
              <a:gd name="p0y1" fmla="*/ 0 h 600"/>
              <a:gd name="p0x2" fmla="*/ 17319 w 17400"/>
              <a:gd name="p0y2" fmla="*/ 0 h 600"/>
              <a:gd name="p0x3" fmla="*/ 17400 w 17400"/>
              <a:gd name="p0y3" fmla="*/ 80 h 600"/>
              <a:gd name="p0x4" fmla="*/ 17400 w 17400"/>
              <a:gd name="p0y4" fmla="*/ 180 h 600"/>
              <a:gd name="p0x5" fmla="*/ 17400 w 17400"/>
              <a:gd name="p0y5" fmla="*/ 420 h 600"/>
              <a:gd name="p0x6" fmla="*/ 17400 w 17400"/>
              <a:gd name="p0y6" fmla="*/ 519 h 600"/>
              <a:gd name="p0x7" fmla="*/ 17319 w 17400"/>
              <a:gd name="p0y7" fmla="*/ 600 h 600"/>
              <a:gd name="p0x8" fmla="*/ 17220 w 17400"/>
              <a:gd name="p0y8" fmla="*/ 600 h 600"/>
              <a:gd name="p0x9" fmla="*/ 180 w 17400"/>
              <a:gd name="p0y9" fmla="*/ 600 h 600"/>
              <a:gd name="p0x10" fmla="*/ 80 w 17400"/>
              <a:gd name="p0y10" fmla="*/ 600 h 600"/>
              <a:gd name="p0x11" fmla="*/ 0 w 17400"/>
              <a:gd name="p0y11" fmla="*/ 519 h 600"/>
              <a:gd name="p0x12" fmla="*/ 0 w 17400"/>
              <a:gd name="p0y12" fmla="*/ 420 h 600"/>
              <a:gd name="p0x13" fmla="*/ 0 w 17400"/>
              <a:gd name="p0y13" fmla="*/ 180 h 600"/>
              <a:gd name="p0x14" fmla="*/ 0 w 17400"/>
              <a:gd name="p0y14" fmla="*/ 80 h 600"/>
              <a:gd name="p0x15" fmla="*/ 80 w 17400"/>
              <a:gd name="p0y15" fmla="*/ 0 h 600"/>
              <a:gd name="p0x16" fmla="*/ 180 w 17400"/>
              <a:gd name="p0y16" fmla="*/ 0 h 6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4124249" y="6172200"/>
            <a:ext cx="39434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>
                <a:solidFill>
                  <a:srgbClr val="4A6E8E"/>
                </a:solidFill>
                <a:cs typeface="+mn-lt"/>
              </a:rPr>
              <a:t>可迁移性检验：换一个环境，规律也应依然成立</a:t>
            </a:r>
            <a:endParaRPr sz="1350">
              <a:solidFill>
                <a:srgbClr val="4A6E8E"/>
              </a:solidFill>
              <a:cs typeface="+mn-lt"/>
            </a:endParaRPr>
          </a:p>
        </p:txBody>
      </p:sp>
      <p:sp>
        <p:nvSpPr>
          <p:cNvPr id="8" name="任意多边形 7"/>
          <p:cNvSpPr/>
          <p:nvPr>
            <p:custDataLst>
              <p:tags r:id="rId7"/>
            </p:custDataLst>
          </p:nvPr>
        </p:nvSpPr>
        <p:spPr>
          <a:xfrm>
            <a:off x="575945" y="3843020"/>
            <a:ext cx="5438775" cy="2133600"/>
          </a:xfrm>
          <a:custGeom>
            <a:avLst/>
            <a:gdLst>
              <a:gd name="sw" fmla="*/ 1 w 8565"/>
              <a:gd name="sh" fmla="*/ 1 h 3360"/>
              <a:gd name="mins" fmla="min sw sh"/>
              <a:gd name="dsw" fmla="+- 0 sw mins"/>
              <a:gd name="dsh" fmla="+- 0 sh mins"/>
              <a:gd name="p0x0" fmla="*/ 420 w 8565"/>
              <a:gd name="p0y0" fmla="*/ 0 h 3360"/>
              <a:gd name="p0x1" fmla="*/ 8145 w 8565"/>
              <a:gd name="p0y1" fmla="*/ 0 h 3360"/>
              <a:gd name="p0x2" fmla="*/ 8376 w 8565"/>
              <a:gd name="p0y2" fmla="*/ 0 h 3360"/>
              <a:gd name="p0x3" fmla="*/ 8565 w 8565"/>
              <a:gd name="p0y3" fmla="*/ 188 h 3360"/>
              <a:gd name="p0x4" fmla="*/ 8565 w 8565"/>
              <a:gd name="p0y4" fmla="*/ 420 h 3360"/>
              <a:gd name="p0x5" fmla="*/ 8565 w 8565"/>
              <a:gd name="p0y5" fmla="*/ 2940 h 3360"/>
              <a:gd name="p0x6" fmla="*/ 8565 w 8565"/>
              <a:gd name="p0y6" fmla="*/ 3171 h 3360"/>
              <a:gd name="p0x7" fmla="*/ 8376 w 8565"/>
              <a:gd name="p0y7" fmla="*/ 3360 h 3360"/>
              <a:gd name="p0x8" fmla="*/ 8145 w 8565"/>
              <a:gd name="p0y8" fmla="*/ 3360 h 3360"/>
              <a:gd name="p0x9" fmla="*/ 420 w 8565"/>
              <a:gd name="p0y9" fmla="*/ 3360 h 3360"/>
              <a:gd name="p0x10" fmla="*/ 188 w 8565"/>
              <a:gd name="p0y10" fmla="*/ 3360 h 3360"/>
              <a:gd name="p0x11" fmla="*/ 0 w 8565"/>
              <a:gd name="p0y11" fmla="*/ 3171 h 3360"/>
              <a:gd name="p0x12" fmla="*/ 0 w 8565"/>
              <a:gd name="p0y12" fmla="*/ 2940 h 3360"/>
              <a:gd name="p0x13" fmla="*/ 0 w 8565"/>
              <a:gd name="p0y13" fmla="*/ 420 h 3360"/>
              <a:gd name="p0x14" fmla="*/ 0 w 8565"/>
              <a:gd name="p0y14" fmla="*/ 188 h 3360"/>
              <a:gd name="p0x15" fmla="*/ 188 w 8565"/>
              <a:gd name="p0y15" fmla="*/ 0 h 3360"/>
              <a:gd name="p0x16" fmla="*/ 420 w 8565"/>
              <a:gd name="p0y16" fmla="*/ 0 h 3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  <a:alpha val="4000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771525" y="4146233"/>
            <a:ext cx="50482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D3E5E"/>
                </a:solidFill>
                <a:cs typeface="+mn-lt"/>
              </a:rPr>
              <a:t>经典剪接位点预测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581969" y="4748213"/>
            <a:ext cx="1194121" cy="4619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000" b="1">
                <a:solidFill>
                  <a:schemeClr val="tx2"/>
                </a:solidFill>
                <a:cs typeface="+mn-lt"/>
              </a:rPr>
              <a:t>0.96</a:t>
            </a:r>
            <a:endParaRPr sz="30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3190" y="4910138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4A6E8E"/>
                </a:solidFill>
                <a:cs typeface="+mn-lt"/>
              </a:rPr>
              <a:t>小鼠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3777034" y="4748213"/>
            <a:ext cx="1194121" cy="4619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000" b="1">
                <a:solidFill>
                  <a:schemeClr val="tx2"/>
                </a:solidFill>
                <a:cs typeface="+mn-lt"/>
              </a:rPr>
              <a:t>0.98</a:t>
            </a:r>
            <a:endParaRPr sz="30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4628255" y="4910138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4A6E8E"/>
                </a:solidFill>
                <a:cs typeface="+mn-lt"/>
              </a:rPr>
              <a:t>人类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771525" y="5429250"/>
            <a:ext cx="2799017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4A6E8E"/>
                </a:solidFill>
                <a:cs typeface="+mn-lt"/>
              </a:rPr>
              <a:t>小鼠与人类的剪接位点预测</a:t>
            </a:r>
            <a:r>
              <a:rPr lang="en-US" altLang="zh-CN" sz="1350">
                <a:solidFill>
                  <a:srgbClr val="4A6E8E"/>
                </a:solidFill>
                <a:cs typeface="+mn-lt"/>
              </a:rPr>
              <a:t> </a:t>
            </a:r>
            <a:r>
              <a:rPr sz="1350" b="1">
                <a:solidFill>
                  <a:schemeClr val="tx2"/>
                </a:solidFill>
                <a:cs typeface="+mn-lt"/>
              </a:rPr>
              <a:t>很接近</a:t>
            </a:r>
            <a:endParaRPr sz="135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14"/>
            </p:custDataLst>
          </p:nvPr>
        </p:nvSpPr>
        <p:spPr>
          <a:xfrm>
            <a:off x="6176645" y="3843020"/>
            <a:ext cx="5438775" cy="2133600"/>
          </a:xfrm>
          <a:custGeom>
            <a:avLst/>
            <a:gdLst>
              <a:gd name="sw" fmla="*/ 1 w 8565"/>
              <a:gd name="sh" fmla="*/ 1 h 3360"/>
              <a:gd name="mins" fmla="min sw sh"/>
              <a:gd name="dsw" fmla="+- 0 sw mins"/>
              <a:gd name="dsh" fmla="+- 0 sh mins"/>
              <a:gd name="p0x0" fmla="*/ 420 w 8565"/>
              <a:gd name="p0y0" fmla="*/ 0 h 3360"/>
              <a:gd name="p0x1" fmla="*/ 8145 w 8565"/>
              <a:gd name="p0y1" fmla="*/ 0 h 3360"/>
              <a:gd name="p0x2" fmla="*/ 8376 w 8565"/>
              <a:gd name="p0y2" fmla="*/ 0 h 3360"/>
              <a:gd name="p0x3" fmla="*/ 8565 w 8565"/>
              <a:gd name="p0y3" fmla="*/ 188 h 3360"/>
              <a:gd name="p0x4" fmla="*/ 8565 w 8565"/>
              <a:gd name="p0y4" fmla="*/ 420 h 3360"/>
              <a:gd name="p0x5" fmla="*/ 8565 w 8565"/>
              <a:gd name="p0y5" fmla="*/ 2940 h 3360"/>
              <a:gd name="p0x6" fmla="*/ 8565 w 8565"/>
              <a:gd name="p0y6" fmla="*/ 3171 h 3360"/>
              <a:gd name="p0x7" fmla="*/ 8376 w 8565"/>
              <a:gd name="p0y7" fmla="*/ 3360 h 3360"/>
              <a:gd name="p0x8" fmla="*/ 8145 w 8565"/>
              <a:gd name="p0y8" fmla="*/ 3360 h 3360"/>
              <a:gd name="p0x9" fmla="*/ 420 w 8565"/>
              <a:gd name="p0y9" fmla="*/ 3360 h 3360"/>
              <a:gd name="p0x10" fmla="*/ 188 w 8565"/>
              <a:gd name="p0y10" fmla="*/ 3360 h 3360"/>
              <a:gd name="p0x11" fmla="*/ 0 w 8565"/>
              <a:gd name="p0y11" fmla="*/ 3171 h 3360"/>
              <a:gd name="p0x12" fmla="*/ 0 w 8565"/>
              <a:gd name="p0y12" fmla="*/ 2940 h 3360"/>
              <a:gd name="p0x13" fmla="*/ 0 w 8565"/>
              <a:gd name="p0y13" fmla="*/ 420 h 3360"/>
              <a:gd name="p0x14" fmla="*/ 0 w 8565"/>
              <a:gd name="p0y14" fmla="*/ 188 h 3360"/>
              <a:gd name="p0x15" fmla="*/ 188 w 8565"/>
              <a:gd name="p0y15" fmla="*/ 0 h 3360"/>
              <a:gd name="p0x16" fmla="*/ 420 w 8565"/>
              <a:gd name="p0y16" fmla="*/ 0 h 3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38990"/>
                <a:lumOff val="61010"/>
                <a:alpha val="40000"/>
              </a:schemeClr>
            </a:solidFill>
            <a:prstDash val="solid"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6372225" y="4146233"/>
            <a:ext cx="50482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D3E5E"/>
                </a:solidFill>
                <a:cs typeface="+mn-lt"/>
              </a:rPr>
              <a:t>定量表达效应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8158686" y="4748213"/>
            <a:ext cx="1856261" cy="4619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3000" b="1">
                <a:solidFill>
                  <a:schemeClr val="tx2"/>
                </a:solidFill>
                <a:cs typeface="+mn-lt"/>
              </a:rPr>
              <a:t>约</a:t>
            </a:r>
            <a:r>
              <a:rPr lang="en-US" altLang="zh-CN" sz="3000" b="1">
                <a:solidFill>
                  <a:schemeClr val="tx2"/>
                </a:solidFill>
                <a:cs typeface="+mn-lt"/>
              </a:rPr>
              <a:t>100</a:t>
            </a:r>
            <a:r>
              <a:rPr lang="zh-CN" altLang="en-US" sz="3000" b="1">
                <a:solidFill>
                  <a:schemeClr val="tx2"/>
                </a:solidFill>
                <a:cs typeface="+mn-lt"/>
              </a:rPr>
              <a:t>倍</a:t>
            </a:r>
            <a:endParaRPr lang="zh-CN" altLang="en-US" sz="30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6372225" y="5429250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4A6E8E"/>
                </a:solidFill>
                <a:cs typeface="+mn-lt"/>
              </a:rPr>
              <a:t>预测幅度</a:t>
            </a:r>
            <a:r>
              <a:rPr lang="en-US" altLang="zh-CN" sz="1350">
                <a:solidFill>
                  <a:srgbClr val="4A6E8E"/>
                </a:solidFill>
                <a:cs typeface="+mn-lt"/>
              </a:rPr>
              <a:t> </a:t>
            </a:r>
            <a:r>
              <a:rPr sz="1350" b="1">
                <a:solidFill>
                  <a:schemeClr val="tx2"/>
                </a:solidFill>
                <a:cs typeface="+mn-lt"/>
              </a:rPr>
              <a:t>被压缩</a:t>
            </a:r>
            <a:r>
              <a:rPr sz="1350">
                <a:solidFill>
                  <a:srgbClr val="4A6E8E"/>
                </a:solidFill>
                <a:cs typeface="+mn-lt"/>
              </a:rPr>
              <a:t>，精细生物学效应尚难稳定迁移</a:t>
            </a:r>
            <a:endParaRPr sz="1350">
              <a:solidFill>
                <a:srgbClr val="4A6E8E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预测准确不等于理解</a:t>
            </a:r>
            <a:endParaRPr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939165"/>
          </a:xfrm>
          <a:custGeom>
            <a:avLst/>
            <a:gdLst>
              <a:gd name="sw" fmla="*/ 1 w 17400"/>
              <a:gd name="sh" fmla="*/ 1 h 1479"/>
              <a:gd name="mins" fmla="min sw sh"/>
              <a:gd name="dsw" fmla="+- 0 sw mins"/>
              <a:gd name="dsh" fmla="+- 0 sh mins"/>
              <a:gd name="p0x0" fmla="*/ 180 w 17400"/>
              <a:gd name="p0y0" fmla="*/ 0 h 1479"/>
              <a:gd name="p0x1" fmla="*/ 17220 w 17400"/>
              <a:gd name="p0y1" fmla="*/ 0 h 1479"/>
              <a:gd name="p0x2" fmla="*/ 17319 w 17400"/>
              <a:gd name="p0y2" fmla="*/ 0 h 1479"/>
              <a:gd name="p0x3" fmla="*/ 17400 w 17400"/>
              <a:gd name="p0y3" fmla="*/ 80 h 1479"/>
              <a:gd name="p0x4" fmla="*/ 17400 w 17400"/>
              <a:gd name="p0y4" fmla="*/ 180 h 1479"/>
              <a:gd name="p0x5" fmla="*/ 17400 w 17400"/>
              <a:gd name="p0y5" fmla="*/ 1299 h 1479"/>
              <a:gd name="p0x6" fmla="*/ 17400 w 17400"/>
              <a:gd name="p0y6" fmla="*/ 1399 h 1479"/>
              <a:gd name="p0x7" fmla="*/ 17319 w 17400"/>
              <a:gd name="p0y7" fmla="*/ 1479 h 1479"/>
              <a:gd name="p0x8" fmla="*/ 17220 w 17400"/>
              <a:gd name="p0y8" fmla="*/ 1479 h 1479"/>
              <a:gd name="p0x9" fmla="*/ 180 w 17400"/>
              <a:gd name="p0y9" fmla="*/ 1479 h 1479"/>
              <a:gd name="p0x10" fmla="*/ 80 w 17400"/>
              <a:gd name="p0y10" fmla="*/ 1479 h 1479"/>
              <a:gd name="p0x11" fmla="*/ 0 w 17400"/>
              <a:gd name="p0y11" fmla="*/ 1399 h 1479"/>
              <a:gd name="p0x12" fmla="*/ 0 w 17400"/>
              <a:gd name="p0y12" fmla="*/ 1299 h 1479"/>
              <a:gd name="p0x13" fmla="*/ 0 w 17400"/>
              <a:gd name="p0y13" fmla="*/ 180 h 1479"/>
              <a:gd name="p0x14" fmla="*/ 0 w 17400"/>
              <a:gd name="p0y14" fmla="*/ 80 h 1479"/>
              <a:gd name="p0x15" fmla="*/ 80 w 17400"/>
              <a:gd name="p0y15" fmla="*/ 0 h 1479"/>
              <a:gd name="p0x16" fmla="*/ 180 w 17400"/>
              <a:gd name="p0y16" fmla="*/ 0 h 147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329"/>
              <a:lumOff val="82671"/>
            </a:schemeClr>
          </a:solidFill>
          <a:ln>
            <a:noFill/>
          </a:ln>
          <a:effectLst>
            <a:outerShdw blurRad="228600" dist="38100" dir="5399999" algn="ctr" rotWithShape="0">
              <a:schemeClr val="accent1">
                <a:lumMod val="8154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416558"/>
            <a:ext cx="6048232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>
                <a:solidFill>
                  <a:srgbClr val="1D3E5E"/>
                </a:solidFill>
                <a:cs typeface="+mn-lt"/>
              </a:rPr>
              <a:t>所以，我们并不是在否定</a:t>
            </a:r>
            <a:r>
              <a:rPr lang="en-US" altLang="zh-CN">
                <a:solidFill>
                  <a:srgbClr val="1D3E5E"/>
                </a:solidFill>
                <a:cs typeface="+mn-lt"/>
              </a:rPr>
              <a:t> </a:t>
            </a:r>
            <a:r>
              <a:rPr b="1">
                <a:solidFill>
                  <a:srgbClr val="0E5A9E"/>
                </a:solidFill>
                <a:cs typeface="+mn-lt"/>
              </a:rPr>
              <a:t>AlphaGenome</a:t>
            </a:r>
            <a:r>
              <a:rPr lang="en-US">
                <a:solidFill>
                  <a:srgbClr val="1D3E5E"/>
                </a:solidFill>
                <a:cs typeface="+mn-lt"/>
              </a:rPr>
              <a:t> </a:t>
            </a:r>
            <a:r>
              <a:rPr lang="zh-CN" altLang="en-US">
                <a:solidFill>
                  <a:srgbClr val="1D3E5E"/>
                </a:solidFill>
                <a:cs typeface="+mn-lt"/>
              </a:rPr>
              <a:t>的预测能力。</a:t>
            </a:r>
            <a:endParaRPr lang="zh-CN" altLang="en-US">
              <a:solidFill>
                <a:srgbClr val="1D3E5E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2277745"/>
            <a:ext cx="5400675" cy="4194175"/>
          </a:xfrm>
          <a:custGeom>
            <a:avLst/>
            <a:gdLst>
              <a:gd name="sw" fmla="*/ 1 w 8505"/>
              <a:gd name="sh" fmla="*/ 1 h 6605"/>
              <a:gd name="mins" fmla="min sw sh"/>
              <a:gd name="dsw" fmla="+- 0 sw mins"/>
              <a:gd name="dsh" fmla="+- 0 sh mins"/>
              <a:gd name="p0x0" fmla="*/ 270 w 8505"/>
              <a:gd name="p0y0" fmla="*/ 0 h 6605"/>
              <a:gd name="p0x1" fmla="*/ 8235 w 8505"/>
              <a:gd name="p0y1" fmla="*/ 0 h 6605"/>
              <a:gd name="p0x2" fmla="*/ 8384 w 8505"/>
              <a:gd name="p0y2" fmla="*/ 0 h 6605"/>
              <a:gd name="p0x3" fmla="*/ 8505 w 8505"/>
              <a:gd name="p0y3" fmla="*/ 120 h 6605"/>
              <a:gd name="p0x4" fmla="*/ 8505 w 8505"/>
              <a:gd name="p0y4" fmla="*/ 270 h 6605"/>
              <a:gd name="p0x5" fmla="*/ 8505 w 8505"/>
              <a:gd name="p0y5" fmla="*/ 6335 h 6605"/>
              <a:gd name="p0x6" fmla="*/ 8505 w 8505"/>
              <a:gd name="p0y6" fmla="*/ 6484 h 6605"/>
              <a:gd name="p0x7" fmla="*/ 8384 w 8505"/>
              <a:gd name="p0y7" fmla="*/ 6605 h 6605"/>
              <a:gd name="p0x8" fmla="*/ 8235 w 8505"/>
              <a:gd name="p0y8" fmla="*/ 6605 h 6605"/>
              <a:gd name="p0x9" fmla="*/ 270 w 8505"/>
              <a:gd name="p0y9" fmla="*/ 6605 h 6605"/>
              <a:gd name="p0x10" fmla="*/ 120 w 8505"/>
              <a:gd name="p0y10" fmla="*/ 6605 h 6605"/>
              <a:gd name="p0x11" fmla="*/ 0 w 8505"/>
              <a:gd name="p0y11" fmla="*/ 6484 h 6605"/>
              <a:gd name="p0x12" fmla="*/ 0 w 8505"/>
              <a:gd name="p0y12" fmla="*/ 6335 h 6605"/>
              <a:gd name="p0x13" fmla="*/ 0 w 8505"/>
              <a:gd name="p0y13" fmla="*/ 270 h 6605"/>
              <a:gd name="p0x14" fmla="*/ 0 w 8505"/>
              <a:gd name="p0y14" fmla="*/ 120 h 6605"/>
              <a:gd name="p0x15" fmla="*/ 120 w 8505"/>
              <a:gd name="p0y15" fmla="*/ 0 h 6605"/>
              <a:gd name="p0x16" fmla="*/ 270 w 8505"/>
              <a:gd name="p0y16" fmla="*/ 0 h 6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771525" y="2472690"/>
            <a:ext cx="5010150" cy="466090"/>
            <a:chOff x="1215" y="3894"/>
            <a:chExt cx="7890" cy="734"/>
          </a:xfrm>
        </p:grpSpPr>
        <p:sp>
          <p:nvSpPr>
            <p:cNvPr id="8" name="任意多边形 7"/>
            <p:cNvSpPr/>
            <p:nvPr>
              <p:custDataLst>
                <p:tags r:id="rId5"/>
              </p:custDataLst>
            </p:nvPr>
          </p:nvSpPr>
          <p:spPr>
            <a:xfrm>
              <a:off x="1215" y="3894"/>
              <a:ext cx="7890" cy="735"/>
            </a:xfrm>
            <a:custGeom>
              <a:avLst/>
              <a:gdLst>
                <a:gd name="sw" fmla="*/ 1 w 7890"/>
                <a:gd name="sh" fmla="*/ 1 h 735"/>
                <a:gd name="mins" fmla="min sw sh"/>
                <a:gd name="dsw" fmla="+- 0 sw mins"/>
                <a:gd name="dsh" fmla="+- 0 sh mins"/>
                <a:gd name="p0x0" fmla="*/ 0 w 7890"/>
                <a:gd name="p0y0" fmla="*/ 0 h 735"/>
                <a:gd name="p0x1" fmla="*/ 7890 w 7890"/>
                <a:gd name="p0y1" fmla="*/ 0 h 735"/>
                <a:gd name="p0x2" fmla="*/ 7890 w 7890"/>
                <a:gd name="p0y2" fmla="*/ 735 h 735"/>
                <a:gd name="p0x3" fmla="*/ 0 w 7890"/>
                <a:gd name="p0y3" fmla="*/ 735 h 735"/>
                <a:gd name="p0x4" fmla="*/ 0 w 789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6"/>
              </p:custDataLst>
            </p:nvPr>
          </p:nvSpPr>
          <p:spPr>
            <a:xfrm>
              <a:off x="1215" y="4614"/>
              <a:ext cx="7890" cy="15"/>
            </a:xfrm>
            <a:custGeom>
              <a:avLst/>
              <a:gdLst>
                <a:gd name="sw" fmla="*/ 1 w 7890"/>
                <a:gd name="sh" fmla="*/ 1 h 15"/>
                <a:gd name="mins" fmla="min sw sh"/>
                <a:gd name="dsw" fmla="+- 0 sw mins"/>
                <a:gd name="dsh" fmla="+- 0 sh mins"/>
                <a:gd name="p0x0" fmla="*/ 7890 w 7890"/>
                <a:gd name="p0y0" fmla="*/ 15 h 15"/>
                <a:gd name="p0x1" fmla="*/ 0 w 7890"/>
                <a:gd name="p0y1" fmla="*/ 15 h 15"/>
                <a:gd name="p0x2" fmla="*/ 0 w 7890"/>
                <a:gd name="p0y2" fmla="*/ 0 h 15"/>
                <a:gd name="p0x3" fmla="*/ 7890 w 7890"/>
                <a:gd name="p0y3" fmla="*/ 0 h 15"/>
                <a:gd name="p0x4" fmla="*/ 7890 w 78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lumMod val="20577"/>
                <a:lumOff val="7942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775970" y="24777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80 w 525"/>
              <a:gd name="p0y0" fmla="*/ 0 h 525"/>
              <a:gd name="p0x1" fmla="*/ 345 w 525"/>
              <a:gd name="p0y1" fmla="*/ 0 h 525"/>
              <a:gd name="p0x2" fmla="*/ 444 w 525"/>
              <a:gd name="p0y2" fmla="*/ 0 h 525"/>
              <a:gd name="p0x3" fmla="*/ 525 w 525"/>
              <a:gd name="p0y3" fmla="*/ 80 h 525"/>
              <a:gd name="p0x4" fmla="*/ 525 w 525"/>
              <a:gd name="p0y4" fmla="*/ 180 h 525"/>
              <a:gd name="p0x5" fmla="*/ 525 w 525"/>
              <a:gd name="p0y5" fmla="*/ 345 h 525"/>
              <a:gd name="p0x6" fmla="*/ 525 w 525"/>
              <a:gd name="p0y6" fmla="*/ 444 h 525"/>
              <a:gd name="p0x7" fmla="*/ 444 w 525"/>
              <a:gd name="p0y7" fmla="*/ 525 h 525"/>
              <a:gd name="p0x8" fmla="*/ 345 w 525"/>
              <a:gd name="p0y8" fmla="*/ 525 h 525"/>
              <a:gd name="p0x9" fmla="*/ 180 w 525"/>
              <a:gd name="p0y9" fmla="*/ 525 h 525"/>
              <a:gd name="p0x10" fmla="*/ 80 w 525"/>
              <a:gd name="p0y10" fmla="*/ 525 h 525"/>
              <a:gd name="p0x11" fmla="*/ 0 w 525"/>
              <a:gd name="p0y11" fmla="*/ 444 h 525"/>
              <a:gd name="p0x12" fmla="*/ 0 w 525"/>
              <a:gd name="p0y12" fmla="*/ 345 h 525"/>
              <a:gd name="p0x13" fmla="*/ 0 w 525"/>
              <a:gd name="p0y13" fmla="*/ 180 h 525"/>
              <a:gd name="p0x14" fmla="*/ 0 w 525"/>
              <a:gd name="p0y14" fmla="*/ 80 h 525"/>
              <a:gd name="p0x15" fmla="*/ 80 w 525"/>
              <a:gd name="p0y15" fmla="*/ 0 h 525"/>
              <a:gd name="p0x16" fmla="*/ 18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 w="9525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838200" y="2534920"/>
            <a:ext cx="209550" cy="21399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1228725" y="2461651"/>
            <a:ext cx="342892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D3E5E"/>
                </a:solidFill>
                <a:cs typeface="+mn-lt"/>
              </a:rPr>
              <a:t>预测回答的是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>
            <a:off x="4776470" y="2501265"/>
            <a:ext cx="1000125" cy="285750"/>
          </a:xfrm>
          <a:custGeom>
            <a:avLst/>
            <a:gdLst>
              <a:gd name="sw" fmla="*/ 1 w 1575"/>
              <a:gd name="sh" fmla="*/ 1 h 450"/>
              <a:gd name="mins" fmla="min sw sh"/>
              <a:gd name="dsw" fmla="+- 0 sw mins"/>
              <a:gd name="dsh" fmla="+- 0 sh mins"/>
              <a:gd name="p0x0" fmla="*/ 225 w 1575"/>
              <a:gd name="p0y0" fmla="*/ 0 h 450"/>
              <a:gd name="p0x1" fmla="*/ 1350 w 1575"/>
              <a:gd name="p0y1" fmla="*/ 0 h 450"/>
              <a:gd name="p0x2" fmla="*/ 1474 w 1575"/>
              <a:gd name="p0y2" fmla="*/ 0 h 450"/>
              <a:gd name="p0x3" fmla="*/ 1575 w 1575"/>
              <a:gd name="p0y3" fmla="*/ 100 h 450"/>
              <a:gd name="p0x4" fmla="*/ 1575 w 1575"/>
              <a:gd name="p0y4" fmla="*/ 225 h 450"/>
              <a:gd name="p0x5" fmla="*/ 1575 w 1575"/>
              <a:gd name="p0y5" fmla="*/ 349 h 450"/>
              <a:gd name="p0x6" fmla="*/ 1474 w 1575"/>
              <a:gd name="p0y6" fmla="*/ 450 h 450"/>
              <a:gd name="p0x7" fmla="*/ 1350 w 1575"/>
              <a:gd name="p0y7" fmla="*/ 450 h 450"/>
              <a:gd name="p0x8" fmla="*/ 225 w 1575"/>
              <a:gd name="p0y8" fmla="*/ 450 h 450"/>
              <a:gd name="p0x9" fmla="*/ 100 w 1575"/>
              <a:gd name="p0y9" fmla="*/ 450 h 450"/>
              <a:gd name="p0x10" fmla="*/ 0 w 1575"/>
              <a:gd name="p0y10" fmla="*/ 349 h 450"/>
              <a:gd name="p0x11" fmla="*/ 0 w 1575"/>
              <a:gd name="p0y11" fmla="*/ 225 h 450"/>
              <a:gd name="p0x12" fmla="*/ 0 w 1575"/>
              <a:gd name="p0y12" fmla="*/ 100 h 450"/>
              <a:gd name="p0x13" fmla="*/ 100 w 1575"/>
              <a:gd name="p0y13" fmla="*/ 0 h 450"/>
              <a:gd name="p0x14" fmla="*/ 225 w 1575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 w="9525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4895774" y="2544518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结果是什么</a:t>
            </a:r>
            <a:endParaRPr sz="1200" b="1">
              <a:solidFill>
                <a:schemeClr val="accent1">
                  <a:lumMod val="56651"/>
                </a:schemeClr>
              </a:solidFill>
              <a:cs typeface="+mn-lt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771525" y="4017645"/>
            <a:ext cx="5010150" cy="1295400"/>
            <a:chOff x="1215" y="6327"/>
            <a:chExt cx="7890" cy="2040"/>
          </a:xfrm>
        </p:grpSpPr>
        <p:sp>
          <p:nvSpPr>
            <p:cNvPr id="17" name="任意多边形 16"/>
            <p:cNvSpPr/>
            <p:nvPr>
              <p:custDataLst>
                <p:tags r:id="rId14"/>
              </p:custDataLst>
            </p:nvPr>
          </p:nvSpPr>
          <p:spPr>
            <a:xfrm>
              <a:off x="1215" y="6327"/>
              <a:ext cx="7890" cy="2040"/>
            </a:xfrm>
            <a:custGeom>
              <a:avLst/>
              <a:gdLst>
                <a:gd name="sw" fmla="*/ 1 w 7890"/>
                <a:gd name="sh" fmla="*/ 1 h 2039"/>
                <a:gd name="mins" fmla="min sw sh"/>
                <a:gd name="dsw" fmla="+- 0 sw mins"/>
                <a:gd name="dsh" fmla="+- 0 sh mins"/>
                <a:gd name="p0x0" fmla="*/ 180 w 7890"/>
                <a:gd name="p0y0" fmla="*/ 0 h 2039"/>
                <a:gd name="p0x1" fmla="*/ 7710 w 7890"/>
                <a:gd name="p0y1" fmla="*/ 0 h 2039"/>
                <a:gd name="p0x2" fmla="*/ 7809 w 7890"/>
                <a:gd name="p0y2" fmla="*/ 0 h 2039"/>
                <a:gd name="p0x3" fmla="*/ 7890 w 7890"/>
                <a:gd name="p0y3" fmla="*/ 80 h 2039"/>
                <a:gd name="p0x4" fmla="*/ 7890 w 7890"/>
                <a:gd name="p0y4" fmla="*/ 180 h 2039"/>
                <a:gd name="p0x5" fmla="*/ 7890 w 7890"/>
                <a:gd name="p0y5" fmla="*/ 1859 h 2039"/>
                <a:gd name="p0x6" fmla="*/ 7890 w 7890"/>
                <a:gd name="p0y6" fmla="*/ 1959 h 2039"/>
                <a:gd name="p0x7" fmla="*/ 7809 w 7890"/>
                <a:gd name="p0y7" fmla="*/ 2039 h 2039"/>
                <a:gd name="p0x8" fmla="*/ 7710 w 7890"/>
                <a:gd name="p0y8" fmla="*/ 2039 h 2039"/>
                <a:gd name="p0x9" fmla="*/ 180 w 7890"/>
                <a:gd name="p0y9" fmla="*/ 2039 h 2039"/>
                <a:gd name="p0x10" fmla="*/ 80 w 7890"/>
                <a:gd name="p0y10" fmla="*/ 2039 h 2039"/>
                <a:gd name="p0x11" fmla="*/ 0 w 7890"/>
                <a:gd name="p0y11" fmla="*/ 1959 h 2039"/>
                <a:gd name="p0x12" fmla="*/ 0 w 7890"/>
                <a:gd name="p0y12" fmla="*/ 1859 h 2039"/>
                <a:gd name="p0x13" fmla="*/ 0 w 7890"/>
                <a:gd name="p0y13" fmla="*/ 180 h 2039"/>
                <a:gd name="p0x14" fmla="*/ 0 w 7890"/>
                <a:gd name="p0y14" fmla="*/ 80 h 2039"/>
                <a:gd name="p0x15" fmla="*/ 80 w 7890"/>
                <a:gd name="p0y15" fmla="*/ 0 h 2039"/>
                <a:gd name="p0x16" fmla="*/ 180 w 7890"/>
                <a:gd name="p0y16" fmla="*/ 0 h 203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>
              <p:custDataLst>
                <p:tags r:id="rId15"/>
              </p:custDataLst>
            </p:nvPr>
          </p:nvSpPr>
          <p:spPr>
            <a:xfrm>
              <a:off x="1326" y="6327"/>
              <a:ext cx="7726" cy="63"/>
            </a:xfrm>
            <a:custGeom>
              <a:avLst/>
              <a:gdLst>
                <a:gd name="sw" fmla="*/ 1 w 7726"/>
                <a:gd name="sh" fmla="*/ 1 h 63"/>
                <a:gd name="mins" fmla="min sw sh"/>
                <a:gd name="dsw" fmla="+- 0 sw mins"/>
                <a:gd name="dsh" fmla="+- 0 sh mins"/>
                <a:gd name="p0x0" fmla="*/ 68 w 7726"/>
                <a:gd name="p0y0" fmla="*/ 0 h 63"/>
                <a:gd name="p0x1" fmla="*/ 7598 w 7726"/>
                <a:gd name="p0y1" fmla="*/ 0 h 63"/>
                <a:gd name="p0x2" fmla="*/ 7648 w 7726"/>
                <a:gd name="p0y2" fmla="*/ 0 h 63"/>
                <a:gd name="p0x3" fmla="*/ 7693 w 7726"/>
                <a:gd name="p0y3" fmla="*/ 20 h 63"/>
                <a:gd name="p0x4" fmla="*/ 7726 w 7726"/>
                <a:gd name="p0y4" fmla="*/ 52 h 63"/>
                <a:gd name="p0x5" fmla="*/ 7715 w 7726"/>
                <a:gd name="p0y5" fmla="*/ 63 h 63"/>
                <a:gd name="p0x6" fmla="*/ 7685 w 7726"/>
                <a:gd name="p0y6" fmla="*/ 33 h 63"/>
                <a:gd name="p0x7" fmla="*/ 7644 w 7726"/>
                <a:gd name="p0y7" fmla="*/ 15 h 63"/>
                <a:gd name="p0x8" fmla="*/ 7598 w 7726"/>
                <a:gd name="p0y8" fmla="*/ 15 h 63"/>
                <a:gd name="p0x9" fmla="*/ 68 w 7726"/>
                <a:gd name="p0y9" fmla="*/ 15 h 63"/>
                <a:gd name="p0x10" fmla="*/ 50 w 7726"/>
                <a:gd name="p0y10" fmla="*/ 15 h 63"/>
                <a:gd name="p0x11" fmla="*/ 33 w 7726"/>
                <a:gd name="p0y11" fmla="*/ 19 h 63"/>
                <a:gd name="p0x12" fmla="*/ 17 w 7726"/>
                <a:gd name="p0y12" fmla="*/ 27 h 63"/>
                <a:gd name="p0x13" fmla="*/ 0 w 7726"/>
                <a:gd name="p0y13" fmla="*/ 13 h 63"/>
                <a:gd name="p0x14" fmla="*/ 0 w 7726"/>
                <a:gd name="p0y14" fmla="*/ 13 h 63"/>
                <a:gd name="p0x15" fmla="*/ 21 w 7726"/>
                <a:gd name="p0y15" fmla="*/ 4 h 63"/>
                <a:gd name="p0x16" fmla="*/ 44 w 7726"/>
                <a:gd name="p0y16" fmla="*/ 0 h 63"/>
                <a:gd name="p0x17" fmla="*/ 68 w 7726"/>
                <a:gd name="p0y17" fmla="*/ 0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6"/>
              </p:custDataLst>
            </p:nvPr>
          </p:nvSpPr>
          <p:spPr>
            <a:xfrm>
              <a:off x="9041" y="6380"/>
              <a:ext cx="64" cy="1934"/>
            </a:xfrm>
            <a:custGeom>
              <a:avLst/>
              <a:gdLst>
                <a:gd name="sw" fmla="*/ 1 w 63"/>
                <a:gd name="sh" fmla="*/ 1 h 1934"/>
                <a:gd name="mins" fmla="min sw sh"/>
                <a:gd name="dsw" fmla="+- 0 sw mins"/>
                <a:gd name="dsh" fmla="+- 0 sh mins"/>
                <a:gd name="p0x0" fmla="*/ 63 w 63"/>
                <a:gd name="p0y0" fmla="*/ 127 h 1934"/>
                <a:gd name="p0x1" fmla="*/ 63 w 63"/>
                <a:gd name="p0y1" fmla="*/ 1807 h 1934"/>
                <a:gd name="p0x2" fmla="*/ 63 w 63"/>
                <a:gd name="p0y2" fmla="*/ 1856 h 1934"/>
                <a:gd name="p0x3" fmla="*/ 43 w 63"/>
                <a:gd name="p0y3" fmla="*/ 1901 h 1934"/>
                <a:gd name="p0x4" fmla="*/ 10 w 63"/>
                <a:gd name="p0y4" fmla="*/ 1934 h 1934"/>
                <a:gd name="p0x5" fmla="*/ 0 w 63"/>
                <a:gd name="p0y5" fmla="*/ 1923 h 1934"/>
                <a:gd name="p0x6" fmla="*/ 29 w 63"/>
                <a:gd name="p0y6" fmla="*/ 1894 h 1934"/>
                <a:gd name="p0x7" fmla="*/ 48 w 63"/>
                <a:gd name="p0y7" fmla="*/ 1852 h 1934"/>
                <a:gd name="p0x8" fmla="*/ 48 w 63"/>
                <a:gd name="p0y8" fmla="*/ 1807 h 1934"/>
                <a:gd name="p0x9" fmla="*/ 48 w 63"/>
                <a:gd name="p0y9" fmla="*/ 127 h 1934"/>
                <a:gd name="p0x10" fmla="*/ 48 w 63"/>
                <a:gd name="p0y10" fmla="*/ 81 h 1934"/>
                <a:gd name="p0x11" fmla="*/ 29 w 63"/>
                <a:gd name="p0y11" fmla="*/ 40 h 1934"/>
                <a:gd name="p0x12" fmla="*/ 0 w 63"/>
                <a:gd name="p0y12" fmla="*/ 10 h 1934"/>
                <a:gd name="p0x13" fmla="*/ 10 w 63"/>
                <a:gd name="p0y13" fmla="*/ 0 h 1934"/>
                <a:gd name="p0x14" fmla="*/ 43 w 63"/>
                <a:gd name="p0y14" fmla="*/ 32 h 1934"/>
                <a:gd name="p0x15" fmla="*/ 63 w 63"/>
                <a:gd name="p0y15" fmla="*/ 77 h 1934"/>
                <a:gd name="p0x16" fmla="*/ 63 w 63"/>
                <a:gd name="p0y16" fmla="*/ 127 h 193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>
              <p:custDataLst>
                <p:tags r:id="rId17"/>
              </p:custDataLst>
            </p:nvPr>
          </p:nvSpPr>
          <p:spPr>
            <a:xfrm>
              <a:off x="1326" y="8303"/>
              <a:ext cx="7726" cy="64"/>
            </a:xfrm>
            <a:custGeom>
              <a:avLst/>
              <a:gdLst>
                <a:gd name="sw" fmla="*/ 1 w 7726"/>
                <a:gd name="sh" fmla="*/ 1 h 63"/>
                <a:gd name="mins" fmla="min sw sh"/>
                <a:gd name="dsw" fmla="+- 0 sw mins"/>
                <a:gd name="dsh" fmla="+- 0 sh mins"/>
                <a:gd name="p0x0" fmla="*/ 7598 w 7726"/>
                <a:gd name="p0y0" fmla="*/ 63 h 63"/>
                <a:gd name="p0x1" fmla="*/ 68 w 7726"/>
                <a:gd name="p0y1" fmla="*/ 63 h 63"/>
                <a:gd name="p0x2" fmla="*/ 44 w 7726"/>
                <a:gd name="p0y2" fmla="*/ 63 h 63"/>
                <a:gd name="p0x3" fmla="*/ 21 w 7726"/>
                <a:gd name="p0y3" fmla="*/ 58 h 63"/>
                <a:gd name="p0x4" fmla="*/ 0 w 7726"/>
                <a:gd name="p0y4" fmla="*/ 49 h 63"/>
                <a:gd name="p0x5" fmla="*/ 17 w 7726"/>
                <a:gd name="p0y5" fmla="*/ 35 h 63"/>
                <a:gd name="p0x6" fmla="*/ 17 w 7726"/>
                <a:gd name="p0y6" fmla="*/ 35 h 63"/>
                <a:gd name="p0x7" fmla="*/ 33 w 7726"/>
                <a:gd name="p0y7" fmla="*/ 43 h 63"/>
                <a:gd name="p0x8" fmla="*/ 50 w 7726"/>
                <a:gd name="p0y8" fmla="*/ 48 h 63"/>
                <a:gd name="p0x9" fmla="*/ 68 w 7726"/>
                <a:gd name="p0y9" fmla="*/ 48 h 63"/>
                <a:gd name="p0x10" fmla="*/ 7598 w 7726"/>
                <a:gd name="p0y10" fmla="*/ 48 h 63"/>
                <a:gd name="p0x11" fmla="*/ 7644 w 7726"/>
                <a:gd name="p0y11" fmla="*/ 48 h 63"/>
                <a:gd name="p0x12" fmla="*/ 7685 w 7726"/>
                <a:gd name="p0y12" fmla="*/ 29 h 63"/>
                <a:gd name="p0x13" fmla="*/ 7715 w 7726"/>
                <a:gd name="p0y13" fmla="*/ 0 h 63"/>
                <a:gd name="p0x14" fmla="*/ 7726 w 7726"/>
                <a:gd name="p0y14" fmla="*/ 10 h 63"/>
                <a:gd name="p0x15" fmla="*/ 7693 w 7726"/>
                <a:gd name="p0y15" fmla="*/ 43 h 63"/>
                <a:gd name="p0x16" fmla="*/ 7648 w 7726"/>
                <a:gd name="p0y16" fmla="*/ 63 h 63"/>
                <a:gd name="p0x17" fmla="*/ 7598 w 7726"/>
                <a:gd name="p0y17" fmla="*/ 63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>
              <p:custDataLst>
                <p:tags r:id="rId18"/>
              </p:custDataLst>
            </p:nvPr>
          </p:nvSpPr>
          <p:spPr>
            <a:xfrm>
              <a:off x="1215" y="6340"/>
              <a:ext cx="128" cy="2013"/>
            </a:xfrm>
            <a:custGeom>
              <a:avLst/>
              <a:gdLst>
                <a:gd name="sw" fmla="*/ 1 w 128"/>
                <a:gd name="sh" fmla="*/ 1 h 2012"/>
                <a:gd name="mins" fmla="min sw sh"/>
                <a:gd name="dsw" fmla="+- 0 sw mins"/>
                <a:gd name="dsh" fmla="+- 0 sh mins"/>
                <a:gd name="p0x0" fmla="*/ 0 w 128"/>
                <a:gd name="p0y0" fmla="*/ 1846 h 2012"/>
                <a:gd name="p0x1" fmla="*/ 0 w 128"/>
                <a:gd name="p0y1" fmla="*/ 166 h 2012"/>
                <a:gd name="p0x2" fmla="*/ 0 w 128"/>
                <a:gd name="p0y2" fmla="*/ 91 h 2012"/>
                <a:gd name="p0x3" fmla="*/ 45 w 128"/>
                <a:gd name="p0y3" fmla="*/ 27 h 2012"/>
                <a:gd name="p0x4" fmla="*/ 111 w 128"/>
                <a:gd name="p0y4" fmla="*/ 0 h 2012"/>
                <a:gd name="p0x5" fmla="*/ 128 w 128"/>
                <a:gd name="p0y5" fmla="*/ 13 h 2012"/>
                <a:gd name="p0x6" fmla="*/ 128 w 128"/>
                <a:gd name="p0y6" fmla="*/ 13 h 2012"/>
                <a:gd name="p0x7" fmla="*/ 79 w 128"/>
                <a:gd name="p0y7" fmla="*/ 38 h 2012"/>
                <a:gd name="p0x8" fmla="*/ 45 w 128"/>
                <a:gd name="p0y8" fmla="*/ 97 h 2012"/>
                <a:gd name="p0x9" fmla="*/ 45 w 128"/>
                <a:gd name="p0y9" fmla="*/ 166 h 2012"/>
                <a:gd name="p0x10" fmla="*/ 45 w 128"/>
                <a:gd name="p0y10" fmla="*/ 1846 h 2012"/>
                <a:gd name="p0x11" fmla="*/ 45 w 128"/>
                <a:gd name="p0y11" fmla="*/ 1915 h 2012"/>
                <a:gd name="p0x12" fmla="*/ 79 w 128"/>
                <a:gd name="p0y12" fmla="*/ 1973 h 2012"/>
                <a:gd name="p0x13" fmla="*/ 128 w 128"/>
                <a:gd name="p0y13" fmla="*/ 1998 h 2012"/>
                <a:gd name="p0x14" fmla="*/ 111 w 128"/>
                <a:gd name="p0y14" fmla="*/ 2012 h 2012"/>
                <a:gd name="p0x15" fmla="*/ 111 w 128"/>
                <a:gd name="p0y15" fmla="*/ 2012 h 2012"/>
                <a:gd name="p0x16" fmla="*/ 45 w 128"/>
                <a:gd name="p0y16" fmla="*/ 1985 h 2012"/>
                <a:gd name="p0x17" fmla="*/ 0 w 128"/>
                <a:gd name="p0y17" fmla="*/ 1921 h 2012"/>
                <a:gd name="p0x18" fmla="*/ 0 w 128"/>
                <a:gd name="p0y18" fmla="*/ 1846 h 201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>
            <p:custDataLst>
              <p:tags r:id="rId19"/>
            </p:custDataLst>
          </p:nvPr>
        </p:nvSpPr>
        <p:spPr>
          <a:xfrm>
            <a:off x="952500" y="4164530"/>
            <a:ext cx="46672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cs typeface="+mn-lt"/>
              </a:rPr>
              <a:t>结果是什么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20"/>
            </p:custDataLst>
          </p:nvPr>
        </p:nvSpPr>
        <p:spPr>
          <a:xfrm>
            <a:off x="952500" y="4527433"/>
            <a:ext cx="46672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E8E"/>
                </a:solidFill>
                <a:cs typeface="+mn-lt"/>
              </a:rPr>
              <a:t>预测能力回答“结果是什么”，给出</a:t>
            </a:r>
            <a:r>
              <a:rPr sz="1500" b="1">
                <a:solidFill>
                  <a:schemeClr val="tx2"/>
                </a:solidFill>
                <a:cs typeface="+mn-lt"/>
              </a:rPr>
              <a:t>确定性的结果判断</a:t>
            </a:r>
            <a:r>
              <a:rPr sz="1500">
                <a:solidFill>
                  <a:srgbClr val="4A6E8E"/>
                </a:solidFill>
                <a:cs typeface="+mn-lt"/>
              </a:rPr>
              <a:t>。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25" name="任意多边形 24"/>
          <p:cNvSpPr/>
          <p:nvPr>
            <p:custDataLst>
              <p:tags r:id="rId21"/>
            </p:custDataLst>
          </p:nvPr>
        </p:nvSpPr>
        <p:spPr>
          <a:xfrm>
            <a:off x="6214745" y="2277745"/>
            <a:ext cx="5400675" cy="4194175"/>
          </a:xfrm>
          <a:custGeom>
            <a:avLst/>
            <a:gdLst>
              <a:gd name="sw" fmla="*/ 1 w 8505"/>
              <a:gd name="sh" fmla="*/ 1 h 6605"/>
              <a:gd name="mins" fmla="min sw sh"/>
              <a:gd name="dsw" fmla="+- 0 sw mins"/>
              <a:gd name="dsh" fmla="+- 0 sh mins"/>
              <a:gd name="p0x0" fmla="*/ 270 w 8505"/>
              <a:gd name="p0y0" fmla="*/ 0 h 6605"/>
              <a:gd name="p0x1" fmla="*/ 8235 w 8505"/>
              <a:gd name="p0y1" fmla="*/ 0 h 6605"/>
              <a:gd name="p0x2" fmla="*/ 8384 w 8505"/>
              <a:gd name="p0y2" fmla="*/ 0 h 6605"/>
              <a:gd name="p0x3" fmla="*/ 8505 w 8505"/>
              <a:gd name="p0y3" fmla="*/ 120 h 6605"/>
              <a:gd name="p0x4" fmla="*/ 8505 w 8505"/>
              <a:gd name="p0y4" fmla="*/ 270 h 6605"/>
              <a:gd name="p0x5" fmla="*/ 8505 w 8505"/>
              <a:gd name="p0y5" fmla="*/ 6335 h 6605"/>
              <a:gd name="p0x6" fmla="*/ 8505 w 8505"/>
              <a:gd name="p0y6" fmla="*/ 6484 h 6605"/>
              <a:gd name="p0x7" fmla="*/ 8384 w 8505"/>
              <a:gd name="p0y7" fmla="*/ 6605 h 6605"/>
              <a:gd name="p0x8" fmla="*/ 8235 w 8505"/>
              <a:gd name="p0y8" fmla="*/ 6605 h 6605"/>
              <a:gd name="p0x9" fmla="*/ 270 w 8505"/>
              <a:gd name="p0y9" fmla="*/ 6605 h 6605"/>
              <a:gd name="p0x10" fmla="*/ 120 w 8505"/>
              <a:gd name="p0y10" fmla="*/ 6605 h 6605"/>
              <a:gd name="p0x11" fmla="*/ 0 w 8505"/>
              <a:gd name="p0y11" fmla="*/ 6484 h 6605"/>
              <a:gd name="p0x12" fmla="*/ 0 w 8505"/>
              <a:gd name="p0y12" fmla="*/ 6335 h 6605"/>
              <a:gd name="p0x13" fmla="*/ 0 w 8505"/>
              <a:gd name="p0y13" fmla="*/ 270 h 6605"/>
              <a:gd name="p0x14" fmla="*/ 0 w 8505"/>
              <a:gd name="p0y14" fmla="*/ 120 h 6605"/>
              <a:gd name="p0x15" fmla="*/ 120 w 8505"/>
              <a:gd name="p0y15" fmla="*/ 0 h 6605"/>
              <a:gd name="p0x16" fmla="*/ 270 w 8505"/>
              <a:gd name="p0y16" fmla="*/ 0 h 6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7" name="组合 46"/>
          <p:cNvGrpSpPr/>
          <p:nvPr/>
        </p:nvGrpSpPr>
        <p:grpSpPr>
          <a:xfrm>
            <a:off x="6410325" y="2472690"/>
            <a:ext cx="5010150" cy="466090"/>
            <a:chOff x="10095" y="3894"/>
            <a:chExt cx="7890" cy="734"/>
          </a:xfrm>
        </p:grpSpPr>
        <p:sp>
          <p:nvSpPr>
            <p:cNvPr id="26" name="任意多边形 25"/>
            <p:cNvSpPr/>
            <p:nvPr>
              <p:custDataLst>
                <p:tags r:id="rId22"/>
              </p:custDataLst>
            </p:nvPr>
          </p:nvSpPr>
          <p:spPr>
            <a:xfrm>
              <a:off x="10095" y="3894"/>
              <a:ext cx="7890" cy="735"/>
            </a:xfrm>
            <a:custGeom>
              <a:avLst/>
              <a:gdLst>
                <a:gd name="sw" fmla="*/ 1 w 7890"/>
                <a:gd name="sh" fmla="*/ 1 h 735"/>
                <a:gd name="mins" fmla="min sw sh"/>
                <a:gd name="dsw" fmla="+- 0 sw mins"/>
                <a:gd name="dsh" fmla="+- 0 sh mins"/>
                <a:gd name="p0x0" fmla="*/ 0 w 7890"/>
                <a:gd name="p0y0" fmla="*/ 0 h 735"/>
                <a:gd name="p0x1" fmla="*/ 7890 w 7890"/>
                <a:gd name="p0y1" fmla="*/ 0 h 735"/>
                <a:gd name="p0x2" fmla="*/ 7890 w 7890"/>
                <a:gd name="p0y2" fmla="*/ 735 h 735"/>
                <a:gd name="p0x3" fmla="*/ 0 w 7890"/>
                <a:gd name="p0y3" fmla="*/ 735 h 735"/>
                <a:gd name="p0x4" fmla="*/ 0 w 789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23"/>
              </p:custDataLst>
            </p:nvPr>
          </p:nvSpPr>
          <p:spPr>
            <a:xfrm>
              <a:off x="10095" y="4614"/>
              <a:ext cx="7890" cy="15"/>
            </a:xfrm>
            <a:custGeom>
              <a:avLst/>
              <a:gdLst>
                <a:gd name="sw" fmla="*/ 1 w 7890"/>
                <a:gd name="sh" fmla="*/ 1 h 15"/>
                <a:gd name="mins" fmla="min sw sh"/>
                <a:gd name="dsw" fmla="+- 0 sw mins"/>
                <a:gd name="dsh" fmla="+- 0 sh mins"/>
                <a:gd name="p0x0" fmla="*/ 7890 w 7890"/>
                <a:gd name="p0y0" fmla="*/ 15 h 15"/>
                <a:gd name="p0x1" fmla="*/ 0 w 7890"/>
                <a:gd name="p0y1" fmla="*/ 15 h 15"/>
                <a:gd name="p0x2" fmla="*/ 0 w 7890"/>
                <a:gd name="p0y2" fmla="*/ 0 h 15"/>
                <a:gd name="p0x3" fmla="*/ 7890 w 7890"/>
                <a:gd name="p0y3" fmla="*/ 0 h 15"/>
                <a:gd name="p0x4" fmla="*/ 7890 w 78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lumMod val="20577"/>
                <a:lumOff val="7942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9" name="任意多边形 28"/>
          <p:cNvSpPr/>
          <p:nvPr>
            <p:custDataLst>
              <p:tags r:id="rId24"/>
            </p:custDataLst>
          </p:nvPr>
        </p:nvSpPr>
        <p:spPr>
          <a:xfrm>
            <a:off x="6414770" y="24777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80 w 525"/>
              <a:gd name="p0y0" fmla="*/ 0 h 525"/>
              <a:gd name="p0x1" fmla="*/ 345 w 525"/>
              <a:gd name="p0y1" fmla="*/ 0 h 525"/>
              <a:gd name="p0x2" fmla="*/ 444 w 525"/>
              <a:gd name="p0y2" fmla="*/ 0 h 525"/>
              <a:gd name="p0x3" fmla="*/ 525 w 525"/>
              <a:gd name="p0y3" fmla="*/ 80 h 525"/>
              <a:gd name="p0x4" fmla="*/ 525 w 525"/>
              <a:gd name="p0y4" fmla="*/ 180 h 525"/>
              <a:gd name="p0x5" fmla="*/ 525 w 525"/>
              <a:gd name="p0y5" fmla="*/ 345 h 525"/>
              <a:gd name="p0x6" fmla="*/ 525 w 525"/>
              <a:gd name="p0y6" fmla="*/ 444 h 525"/>
              <a:gd name="p0x7" fmla="*/ 444 w 525"/>
              <a:gd name="p0y7" fmla="*/ 525 h 525"/>
              <a:gd name="p0x8" fmla="*/ 345 w 525"/>
              <a:gd name="p0y8" fmla="*/ 525 h 525"/>
              <a:gd name="p0x9" fmla="*/ 180 w 525"/>
              <a:gd name="p0y9" fmla="*/ 525 h 525"/>
              <a:gd name="p0x10" fmla="*/ 80 w 525"/>
              <a:gd name="p0y10" fmla="*/ 525 h 525"/>
              <a:gd name="p0x11" fmla="*/ 0 w 525"/>
              <a:gd name="p0y11" fmla="*/ 444 h 525"/>
              <a:gd name="p0x12" fmla="*/ 0 w 525"/>
              <a:gd name="p0y12" fmla="*/ 345 h 525"/>
              <a:gd name="p0x13" fmla="*/ 0 w 525"/>
              <a:gd name="p0y13" fmla="*/ 180 h 525"/>
              <a:gd name="p0x14" fmla="*/ 0 w 525"/>
              <a:gd name="p0y14" fmla="*/ 80 h 525"/>
              <a:gd name="p0x15" fmla="*/ 80 w 525"/>
              <a:gd name="p0y15" fmla="*/ 0 h 525"/>
              <a:gd name="p0x16" fmla="*/ 18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 w="9525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7895" t="-6167" r="-7895" b="-6167"/>
          <a:stretch>
            <a:fillRect/>
          </a:stretch>
        </p:blipFill>
        <p:spPr>
          <a:xfrm>
            <a:off x="6477000" y="2534920"/>
            <a:ext cx="209550" cy="213995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28"/>
            </p:custDataLst>
          </p:nvPr>
        </p:nvSpPr>
        <p:spPr>
          <a:xfrm>
            <a:off x="6867525" y="2461651"/>
            <a:ext cx="327652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D3E5E"/>
                </a:solidFill>
                <a:cs typeface="+mn-lt"/>
              </a:rPr>
              <a:t>理解还要进一步回答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33" name="任意多边形 32"/>
          <p:cNvSpPr/>
          <p:nvPr>
            <p:custDataLst>
              <p:tags r:id="rId29"/>
            </p:custDataLst>
          </p:nvPr>
        </p:nvSpPr>
        <p:spPr>
          <a:xfrm>
            <a:off x="10262870" y="2501265"/>
            <a:ext cx="1152525" cy="285750"/>
          </a:xfrm>
          <a:custGeom>
            <a:avLst/>
            <a:gdLst>
              <a:gd name="sw" fmla="*/ 1 w 1815"/>
              <a:gd name="sh" fmla="*/ 1 h 450"/>
              <a:gd name="mins" fmla="min sw sh"/>
              <a:gd name="dsw" fmla="+- 0 sw mins"/>
              <a:gd name="dsh" fmla="+- 0 sh mins"/>
              <a:gd name="p0x0" fmla="*/ 225 w 1815"/>
              <a:gd name="p0y0" fmla="*/ 0 h 450"/>
              <a:gd name="p0x1" fmla="*/ 1590 w 1815"/>
              <a:gd name="p0y1" fmla="*/ 0 h 450"/>
              <a:gd name="p0x2" fmla="*/ 1714 w 1815"/>
              <a:gd name="p0y2" fmla="*/ 0 h 450"/>
              <a:gd name="p0x3" fmla="*/ 1815 w 1815"/>
              <a:gd name="p0y3" fmla="*/ 100 h 450"/>
              <a:gd name="p0x4" fmla="*/ 1815 w 1815"/>
              <a:gd name="p0y4" fmla="*/ 225 h 450"/>
              <a:gd name="p0x5" fmla="*/ 1815 w 1815"/>
              <a:gd name="p0y5" fmla="*/ 349 h 450"/>
              <a:gd name="p0x6" fmla="*/ 1714 w 1815"/>
              <a:gd name="p0y6" fmla="*/ 450 h 450"/>
              <a:gd name="p0x7" fmla="*/ 1590 w 1815"/>
              <a:gd name="p0y7" fmla="*/ 450 h 450"/>
              <a:gd name="p0x8" fmla="*/ 225 w 1815"/>
              <a:gd name="p0y8" fmla="*/ 450 h 450"/>
              <a:gd name="p0x9" fmla="*/ 100 w 1815"/>
              <a:gd name="p0y9" fmla="*/ 450 h 450"/>
              <a:gd name="p0x10" fmla="*/ 0 w 1815"/>
              <a:gd name="p0y10" fmla="*/ 349 h 450"/>
              <a:gd name="p0x11" fmla="*/ 0 w 1815"/>
              <a:gd name="p0y11" fmla="*/ 225 h 450"/>
              <a:gd name="p0x12" fmla="*/ 0 w 1815"/>
              <a:gd name="p0y12" fmla="*/ 100 h 450"/>
              <a:gd name="p0x13" fmla="*/ 100 w 1815"/>
              <a:gd name="p0y13" fmla="*/ 0 h 450"/>
              <a:gd name="p0x14" fmla="*/ 225 w 1815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 w="9525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0"/>
            </p:custDataLst>
          </p:nvPr>
        </p:nvSpPr>
        <p:spPr>
          <a:xfrm>
            <a:off x="10382174" y="2544518"/>
            <a:ext cx="1066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chemeClr val="accent1">
                    <a:lumMod val="56651"/>
                  </a:schemeClr>
                </a:solidFill>
                <a:cs typeface="+mn-lt"/>
              </a:rPr>
              <a:t>为什么与怎样</a:t>
            </a:r>
            <a:endParaRPr sz="1200" b="1">
              <a:solidFill>
                <a:schemeClr val="accent1">
                  <a:lumMod val="56651"/>
                </a:schemeClr>
              </a:solidFill>
              <a:cs typeface="+mn-lt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6410325" y="3053715"/>
            <a:ext cx="5010150" cy="1504950"/>
            <a:chOff x="10095" y="4809"/>
            <a:chExt cx="7890" cy="2370"/>
          </a:xfrm>
        </p:grpSpPr>
        <p:sp>
          <p:nvSpPr>
            <p:cNvPr id="35" name="任意多边形 34"/>
            <p:cNvSpPr/>
            <p:nvPr>
              <p:custDataLst>
                <p:tags r:id="rId31"/>
              </p:custDataLst>
            </p:nvPr>
          </p:nvSpPr>
          <p:spPr>
            <a:xfrm>
              <a:off x="10095" y="4809"/>
              <a:ext cx="7890" cy="2370"/>
            </a:xfrm>
            <a:custGeom>
              <a:avLst/>
              <a:gdLst>
                <a:gd name="sw" fmla="*/ 1 w 7890"/>
                <a:gd name="sh" fmla="*/ 1 h 2370"/>
                <a:gd name="mins" fmla="min sw sh"/>
                <a:gd name="dsw" fmla="+- 0 sw mins"/>
                <a:gd name="dsh" fmla="+- 0 sh mins"/>
                <a:gd name="p0x0" fmla="*/ 180 w 7890"/>
                <a:gd name="p0y0" fmla="*/ 0 h 2370"/>
                <a:gd name="p0x1" fmla="*/ 7710 w 7890"/>
                <a:gd name="p0y1" fmla="*/ 0 h 2370"/>
                <a:gd name="p0x2" fmla="*/ 7809 w 7890"/>
                <a:gd name="p0y2" fmla="*/ 0 h 2370"/>
                <a:gd name="p0x3" fmla="*/ 7890 w 7890"/>
                <a:gd name="p0y3" fmla="*/ 80 h 2370"/>
                <a:gd name="p0x4" fmla="*/ 7890 w 7890"/>
                <a:gd name="p0y4" fmla="*/ 180 h 2370"/>
                <a:gd name="p0x5" fmla="*/ 7890 w 7890"/>
                <a:gd name="p0y5" fmla="*/ 2190 h 2370"/>
                <a:gd name="p0x6" fmla="*/ 7890 w 7890"/>
                <a:gd name="p0y6" fmla="*/ 2289 h 2370"/>
                <a:gd name="p0x7" fmla="*/ 7809 w 7890"/>
                <a:gd name="p0y7" fmla="*/ 2370 h 2370"/>
                <a:gd name="p0x8" fmla="*/ 7710 w 7890"/>
                <a:gd name="p0y8" fmla="*/ 2370 h 2370"/>
                <a:gd name="p0x9" fmla="*/ 180 w 7890"/>
                <a:gd name="p0y9" fmla="*/ 2370 h 2370"/>
                <a:gd name="p0x10" fmla="*/ 80 w 7890"/>
                <a:gd name="p0y10" fmla="*/ 2370 h 2370"/>
                <a:gd name="p0x11" fmla="*/ 0 w 7890"/>
                <a:gd name="p0y11" fmla="*/ 2289 h 2370"/>
                <a:gd name="p0x12" fmla="*/ 0 w 7890"/>
                <a:gd name="p0y12" fmla="*/ 2190 h 2370"/>
                <a:gd name="p0x13" fmla="*/ 0 w 7890"/>
                <a:gd name="p0y13" fmla="*/ 180 h 2370"/>
                <a:gd name="p0x14" fmla="*/ 0 w 7890"/>
                <a:gd name="p0y14" fmla="*/ 80 h 2370"/>
                <a:gd name="p0x15" fmla="*/ 80 w 7890"/>
                <a:gd name="p0y15" fmla="*/ 0 h 2370"/>
                <a:gd name="p0x16" fmla="*/ 180 w 7890"/>
                <a:gd name="p0y16" fmla="*/ 0 h 237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>
              <p:custDataLst>
                <p:tags r:id="rId32"/>
              </p:custDataLst>
            </p:nvPr>
          </p:nvSpPr>
          <p:spPr>
            <a:xfrm>
              <a:off x="10206" y="4809"/>
              <a:ext cx="7726" cy="63"/>
            </a:xfrm>
            <a:custGeom>
              <a:avLst/>
              <a:gdLst>
                <a:gd name="sw" fmla="*/ 1 w 7726"/>
                <a:gd name="sh" fmla="*/ 1 h 63"/>
                <a:gd name="mins" fmla="min sw sh"/>
                <a:gd name="dsw" fmla="+- 0 sw mins"/>
                <a:gd name="dsh" fmla="+- 0 sh mins"/>
                <a:gd name="p0x0" fmla="*/ 68 w 7726"/>
                <a:gd name="p0y0" fmla="*/ 0 h 63"/>
                <a:gd name="p0x1" fmla="*/ 7598 w 7726"/>
                <a:gd name="p0y1" fmla="*/ 0 h 63"/>
                <a:gd name="p0x2" fmla="*/ 7648 w 7726"/>
                <a:gd name="p0y2" fmla="*/ 0 h 63"/>
                <a:gd name="p0x3" fmla="*/ 7693 w 7726"/>
                <a:gd name="p0y3" fmla="*/ 20 h 63"/>
                <a:gd name="p0x4" fmla="*/ 7726 w 7726"/>
                <a:gd name="p0y4" fmla="*/ 52 h 63"/>
                <a:gd name="p0x5" fmla="*/ 7715 w 7726"/>
                <a:gd name="p0y5" fmla="*/ 63 h 63"/>
                <a:gd name="p0x6" fmla="*/ 7685 w 7726"/>
                <a:gd name="p0y6" fmla="*/ 33 h 63"/>
                <a:gd name="p0x7" fmla="*/ 7644 w 7726"/>
                <a:gd name="p0y7" fmla="*/ 15 h 63"/>
                <a:gd name="p0x8" fmla="*/ 7598 w 7726"/>
                <a:gd name="p0y8" fmla="*/ 15 h 63"/>
                <a:gd name="p0x9" fmla="*/ 68 w 7726"/>
                <a:gd name="p0y9" fmla="*/ 15 h 63"/>
                <a:gd name="p0x10" fmla="*/ 50 w 7726"/>
                <a:gd name="p0y10" fmla="*/ 15 h 63"/>
                <a:gd name="p0x11" fmla="*/ 33 w 7726"/>
                <a:gd name="p0y11" fmla="*/ 19 h 63"/>
                <a:gd name="p0x12" fmla="*/ 17 w 7726"/>
                <a:gd name="p0y12" fmla="*/ 27 h 63"/>
                <a:gd name="p0x13" fmla="*/ 0 w 7726"/>
                <a:gd name="p0y13" fmla="*/ 13 h 63"/>
                <a:gd name="p0x14" fmla="*/ 0 w 7726"/>
                <a:gd name="p0y14" fmla="*/ 13 h 63"/>
                <a:gd name="p0x15" fmla="*/ 21 w 7726"/>
                <a:gd name="p0y15" fmla="*/ 4 h 63"/>
                <a:gd name="p0x16" fmla="*/ 44 w 7726"/>
                <a:gd name="p0y16" fmla="*/ 0 h 63"/>
                <a:gd name="p0x17" fmla="*/ 68 w 7726"/>
                <a:gd name="p0y17" fmla="*/ 0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>
              <p:custDataLst>
                <p:tags r:id="rId33"/>
              </p:custDataLst>
            </p:nvPr>
          </p:nvSpPr>
          <p:spPr>
            <a:xfrm>
              <a:off x="17921" y="4862"/>
              <a:ext cx="64" cy="2264"/>
            </a:xfrm>
            <a:custGeom>
              <a:avLst/>
              <a:gdLst>
                <a:gd name="sw" fmla="*/ 1 w 63"/>
                <a:gd name="sh" fmla="*/ 1 h 2264"/>
                <a:gd name="mins" fmla="min sw sh"/>
                <a:gd name="dsw" fmla="+- 0 sw mins"/>
                <a:gd name="dsh" fmla="+- 0 sh mins"/>
                <a:gd name="p0x0" fmla="*/ 63 w 63"/>
                <a:gd name="p0y0" fmla="*/ 127 h 2264"/>
                <a:gd name="p0x1" fmla="*/ 63 w 63"/>
                <a:gd name="p0y1" fmla="*/ 2137 h 2264"/>
                <a:gd name="p0x2" fmla="*/ 63 w 63"/>
                <a:gd name="p0y2" fmla="*/ 2186 h 2264"/>
                <a:gd name="p0x3" fmla="*/ 43 w 63"/>
                <a:gd name="p0y3" fmla="*/ 2231 h 2264"/>
                <a:gd name="p0x4" fmla="*/ 10 w 63"/>
                <a:gd name="p0y4" fmla="*/ 2264 h 2264"/>
                <a:gd name="p0x5" fmla="*/ 0 w 63"/>
                <a:gd name="p0y5" fmla="*/ 2253 h 2264"/>
                <a:gd name="p0x6" fmla="*/ 29 w 63"/>
                <a:gd name="p0y6" fmla="*/ 2224 h 2264"/>
                <a:gd name="p0x7" fmla="*/ 48 w 63"/>
                <a:gd name="p0y7" fmla="*/ 2182 h 2264"/>
                <a:gd name="p0x8" fmla="*/ 48 w 63"/>
                <a:gd name="p0y8" fmla="*/ 2137 h 2264"/>
                <a:gd name="p0x9" fmla="*/ 48 w 63"/>
                <a:gd name="p0y9" fmla="*/ 127 h 2264"/>
                <a:gd name="p0x10" fmla="*/ 48 w 63"/>
                <a:gd name="p0y10" fmla="*/ 81 h 2264"/>
                <a:gd name="p0x11" fmla="*/ 29 w 63"/>
                <a:gd name="p0y11" fmla="*/ 40 h 2264"/>
                <a:gd name="p0x12" fmla="*/ 0 w 63"/>
                <a:gd name="p0y12" fmla="*/ 10 h 2264"/>
                <a:gd name="p0x13" fmla="*/ 10 w 63"/>
                <a:gd name="p0y13" fmla="*/ 0 h 2264"/>
                <a:gd name="p0x14" fmla="*/ 43 w 63"/>
                <a:gd name="p0y14" fmla="*/ 32 h 2264"/>
                <a:gd name="p0x15" fmla="*/ 63 w 63"/>
                <a:gd name="p0y15" fmla="*/ 77 h 2264"/>
                <a:gd name="p0x16" fmla="*/ 63 w 63"/>
                <a:gd name="p0y16" fmla="*/ 127 h 226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>
              <p:custDataLst>
                <p:tags r:id="rId34"/>
              </p:custDataLst>
            </p:nvPr>
          </p:nvSpPr>
          <p:spPr>
            <a:xfrm>
              <a:off x="10206" y="7116"/>
              <a:ext cx="7726" cy="63"/>
            </a:xfrm>
            <a:custGeom>
              <a:avLst/>
              <a:gdLst>
                <a:gd name="sw" fmla="*/ 1 w 7726"/>
                <a:gd name="sh" fmla="*/ 1 h 63"/>
                <a:gd name="mins" fmla="min sw sh"/>
                <a:gd name="dsw" fmla="+- 0 sw mins"/>
                <a:gd name="dsh" fmla="+- 0 sh mins"/>
                <a:gd name="p0x0" fmla="*/ 7598 w 7726"/>
                <a:gd name="p0y0" fmla="*/ 63 h 63"/>
                <a:gd name="p0x1" fmla="*/ 68 w 7726"/>
                <a:gd name="p0y1" fmla="*/ 63 h 63"/>
                <a:gd name="p0x2" fmla="*/ 44 w 7726"/>
                <a:gd name="p0y2" fmla="*/ 63 h 63"/>
                <a:gd name="p0x3" fmla="*/ 21 w 7726"/>
                <a:gd name="p0y3" fmla="*/ 58 h 63"/>
                <a:gd name="p0x4" fmla="*/ 0 w 7726"/>
                <a:gd name="p0y4" fmla="*/ 49 h 63"/>
                <a:gd name="p0x5" fmla="*/ 17 w 7726"/>
                <a:gd name="p0y5" fmla="*/ 35 h 63"/>
                <a:gd name="p0x6" fmla="*/ 17 w 7726"/>
                <a:gd name="p0y6" fmla="*/ 35 h 63"/>
                <a:gd name="p0x7" fmla="*/ 33 w 7726"/>
                <a:gd name="p0y7" fmla="*/ 43 h 63"/>
                <a:gd name="p0x8" fmla="*/ 50 w 7726"/>
                <a:gd name="p0y8" fmla="*/ 48 h 63"/>
                <a:gd name="p0x9" fmla="*/ 68 w 7726"/>
                <a:gd name="p0y9" fmla="*/ 48 h 63"/>
                <a:gd name="p0x10" fmla="*/ 7598 w 7726"/>
                <a:gd name="p0y10" fmla="*/ 48 h 63"/>
                <a:gd name="p0x11" fmla="*/ 7644 w 7726"/>
                <a:gd name="p0y11" fmla="*/ 48 h 63"/>
                <a:gd name="p0x12" fmla="*/ 7685 w 7726"/>
                <a:gd name="p0y12" fmla="*/ 29 h 63"/>
                <a:gd name="p0x13" fmla="*/ 7715 w 7726"/>
                <a:gd name="p0y13" fmla="*/ 0 h 63"/>
                <a:gd name="p0x14" fmla="*/ 7726 w 7726"/>
                <a:gd name="p0y14" fmla="*/ 10 h 63"/>
                <a:gd name="p0x15" fmla="*/ 7693 w 7726"/>
                <a:gd name="p0y15" fmla="*/ 43 h 63"/>
                <a:gd name="p0x16" fmla="*/ 7648 w 7726"/>
                <a:gd name="p0y16" fmla="*/ 63 h 63"/>
                <a:gd name="p0x17" fmla="*/ 7598 w 7726"/>
                <a:gd name="p0y17" fmla="*/ 63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lumMod val="23465"/>
                <a:lumOff val="76535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>
              <p:custDataLst>
                <p:tags r:id="rId35"/>
              </p:custDataLst>
            </p:nvPr>
          </p:nvSpPr>
          <p:spPr>
            <a:xfrm>
              <a:off x="10095" y="4823"/>
              <a:ext cx="128" cy="2342"/>
            </a:xfrm>
            <a:custGeom>
              <a:avLst/>
              <a:gdLst>
                <a:gd name="sw" fmla="*/ 1 w 128"/>
                <a:gd name="sh" fmla="*/ 1 h 2342"/>
                <a:gd name="mins" fmla="min sw sh"/>
                <a:gd name="dsw" fmla="+- 0 sw mins"/>
                <a:gd name="dsh" fmla="+- 0 sh mins"/>
                <a:gd name="p0x0" fmla="*/ 0 w 128"/>
                <a:gd name="p0y0" fmla="*/ 2176 h 2342"/>
                <a:gd name="p0x1" fmla="*/ 0 w 128"/>
                <a:gd name="p0y1" fmla="*/ 166 h 2342"/>
                <a:gd name="p0x2" fmla="*/ 0 w 128"/>
                <a:gd name="p0y2" fmla="*/ 91 h 2342"/>
                <a:gd name="p0x3" fmla="*/ 45 w 128"/>
                <a:gd name="p0y3" fmla="*/ 27 h 2342"/>
                <a:gd name="p0x4" fmla="*/ 111 w 128"/>
                <a:gd name="p0y4" fmla="*/ 0 h 2342"/>
                <a:gd name="p0x5" fmla="*/ 128 w 128"/>
                <a:gd name="p0y5" fmla="*/ 13 h 2342"/>
                <a:gd name="p0x6" fmla="*/ 128 w 128"/>
                <a:gd name="p0y6" fmla="*/ 13 h 2342"/>
                <a:gd name="p0x7" fmla="*/ 79 w 128"/>
                <a:gd name="p0y7" fmla="*/ 38 h 2342"/>
                <a:gd name="p0x8" fmla="*/ 45 w 128"/>
                <a:gd name="p0y8" fmla="*/ 97 h 2342"/>
                <a:gd name="p0x9" fmla="*/ 45 w 128"/>
                <a:gd name="p0y9" fmla="*/ 166 h 2342"/>
                <a:gd name="p0x10" fmla="*/ 45 w 128"/>
                <a:gd name="p0y10" fmla="*/ 2176 h 2342"/>
                <a:gd name="p0x11" fmla="*/ 45 w 128"/>
                <a:gd name="p0y11" fmla="*/ 2245 h 2342"/>
                <a:gd name="p0x12" fmla="*/ 79 w 128"/>
                <a:gd name="p0y12" fmla="*/ 2303 h 2342"/>
                <a:gd name="p0x13" fmla="*/ 128 w 128"/>
                <a:gd name="p0y13" fmla="*/ 2328 h 2342"/>
                <a:gd name="p0x14" fmla="*/ 111 w 128"/>
                <a:gd name="p0y14" fmla="*/ 2342 h 2342"/>
                <a:gd name="p0x15" fmla="*/ 111 w 128"/>
                <a:gd name="p0y15" fmla="*/ 2342 h 2342"/>
                <a:gd name="p0x16" fmla="*/ 45 w 128"/>
                <a:gd name="p0y16" fmla="*/ 2315 h 2342"/>
                <a:gd name="p0x17" fmla="*/ 0 w 128"/>
                <a:gd name="p0y17" fmla="*/ 2251 h 2342"/>
                <a:gd name="p0x18" fmla="*/ 0 w 128"/>
                <a:gd name="p0y18" fmla="*/ 2176 h 234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1" name="文本框 40"/>
          <p:cNvSpPr txBox="1"/>
          <p:nvPr>
            <p:custDataLst>
              <p:tags r:id="rId36"/>
            </p:custDataLst>
          </p:nvPr>
        </p:nvSpPr>
        <p:spPr>
          <a:xfrm>
            <a:off x="6591300" y="3162690"/>
            <a:ext cx="4667250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cs typeface="+mn-lt"/>
              </a:rPr>
              <a:t>为什么、改变后会怎样，以及换一个环境还能不能成立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42" name="文本框 41"/>
          <p:cNvSpPr txBox="1"/>
          <p:nvPr>
            <p:custDataLst>
              <p:tags r:id="rId37"/>
            </p:custDataLst>
          </p:nvPr>
        </p:nvSpPr>
        <p:spPr>
          <a:xfrm>
            <a:off x="6591300" y="3811343"/>
            <a:ext cx="46672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E8E"/>
                </a:solidFill>
                <a:cs typeface="+mn-lt"/>
              </a:rPr>
              <a:t>真正理解还需回答“为什么”、“改变后会怎样”以及“换一个环境还能不能成立”</a:t>
            </a:r>
            <a:r>
              <a:rPr sz="1500" b="1">
                <a:solidFill>
                  <a:schemeClr val="tx2"/>
                </a:solidFill>
                <a:cs typeface="+mn-lt"/>
              </a:rPr>
              <a:t>三个递进问题</a:t>
            </a:r>
            <a:r>
              <a:rPr sz="1500">
                <a:solidFill>
                  <a:srgbClr val="4A6E8E"/>
                </a:solidFill>
                <a:cs typeface="+mn-lt"/>
              </a:rPr>
              <a:t>。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43" name="矩形 42"/>
          <p:cNvSpPr/>
          <p:nvPr>
            <p:custDataLst>
              <p:tags r:id="rId38"/>
            </p:custDataLst>
          </p:nvPr>
        </p:nvSpPr>
        <p:spPr>
          <a:xfrm>
            <a:off x="6410325" y="4672965"/>
            <a:ext cx="5010150" cy="9525"/>
          </a:xfrm>
          <a:prstGeom prst="rect">
            <a:avLst/>
          </a:prstGeom>
          <a:solidFill>
            <a:schemeClr val="accent1">
              <a:lumMod val="20577"/>
              <a:lumOff val="7942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39"/>
            </p:custDataLst>
          </p:nvPr>
        </p:nvSpPr>
        <p:spPr>
          <a:xfrm>
            <a:off x="6410325" y="4781941"/>
            <a:ext cx="501015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/>
                </a:solidFill>
                <a:cs typeface="+mn-lt"/>
              </a:rPr>
              <a:t>因此，预测准确是理解的重要基础，但预测准确本身，</a:t>
            </a:r>
            <a:r>
              <a:rPr sz="1350" b="1">
                <a:solidFill>
                  <a:schemeClr val="tx2"/>
                </a:solidFill>
                <a:cs typeface="+mn-lt"/>
              </a:rPr>
              <a:t>并不等于真正理解</a:t>
            </a:r>
            <a:r>
              <a:rPr sz="1350">
                <a:solidFill>
                  <a:schemeClr val="tx2"/>
                </a:solidFill>
                <a:cs typeface="+mn-lt"/>
              </a:rPr>
              <a:t>。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09625" y="2817019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1B7FCE"/>
                </a:solidFill>
                <a:cs typeface="+mn-lt"/>
              </a:rPr>
              <a:t>CHAPTER</a:t>
            </a:r>
            <a:endParaRPr sz="1050" b="1" spc="315">
              <a:solidFill>
                <a:srgbClr val="1B7FCE"/>
              </a:solidFill>
              <a:cs typeface="+mn-lt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66750" y="3227546"/>
            <a:ext cx="16002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结论</a:t>
            </a:r>
            <a:endParaRPr sz="42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66750" y="4231005"/>
            <a:ext cx="5705475" cy="9525"/>
          </a:xfrm>
          <a:prstGeom prst="rect">
            <a:avLst/>
          </a:prstGeom>
          <a:solidFill>
            <a:schemeClr val="accent1">
              <a:lumMod val="38990"/>
              <a:lumOff val="6101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666750" y="4531519"/>
            <a:ext cx="252226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6E8E"/>
                </a:solidFill>
                <a:cs typeface="+mn-lt"/>
              </a:rPr>
              <a:t>模型能力的本质与生命密码</a:t>
            </a:r>
            <a:endParaRPr sz="1500" spc="30">
              <a:solidFill>
                <a:srgbClr val="4A6E8E"/>
              </a:solidFill>
              <a:cs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666750" y="5078730"/>
            <a:ext cx="770890" cy="314325"/>
          </a:xfrm>
          <a:custGeom>
            <a:avLst/>
            <a:gdLst>
              <a:gd name="sw" fmla="*/ 1 w 1214"/>
              <a:gd name="sh" fmla="*/ 1 h 495"/>
              <a:gd name="mins" fmla="min sw sh"/>
              <a:gd name="dsw" fmla="+- 0 sw mins"/>
              <a:gd name="dsh" fmla="+- 0 sh mins"/>
              <a:gd name="p0x0" fmla="*/ 247 w 1214"/>
              <a:gd name="p0y0" fmla="*/ 0 h 495"/>
              <a:gd name="p0x1" fmla="*/ 966 w 1214"/>
              <a:gd name="p0y1" fmla="*/ 0 h 495"/>
              <a:gd name="p0x2" fmla="*/ 1103 w 1214"/>
              <a:gd name="p0y2" fmla="*/ 0 h 495"/>
              <a:gd name="p0x3" fmla="*/ 1214 w 1214"/>
              <a:gd name="p0y3" fmla="*/ 110 h 495"/>
              <a:gd name="p0x4" fmla="*/ 1214 w 1214"/>
              <a:gd name="p0y4" fmla="*/ 247 h 495"/>
              <a:gd name="p0x5" fmla="*/ 1214 w 1214"/>
              <a:gd name="p0y5" fmla="*/ 384 h 495"/>
              <a:gd name="p0x6" fmla="*/ 1103 w 1214"/>
              <a:gd name="p0y6" fmla="*/ 495 h 495"/>
              <a:gd name="p0x7" fmla="*/ 966 w 1214"/>
              <a:gd name="p0y7" fmla="*/ 495 h 495"/>
              <a:gd name="p0x8" fmla="*/ 247 w 1214"/>
              <a:gd name="p0y8" fmla="*/ 495 h 495"/>
              <a:gd name="p0x9" fmla="*/ 110 w 1214"/>
              <a:gd name="p0y9" fmla="*/ 495 h 495"/>
              <a:gd name="p0x10" fmla="*/ 0 w 1214"/>
              <a:gd name="p0y10" fmla="*/ 384 h 495"/>
              <a:gd name="p0x11" fmla="*/ 0 w 1214"/>
              <a:gd name="p0y11" fmla="*/ 247 h 495"/>
              <a:gd name="p0x12" fmla="*/ 0 w 1214"/>
              <a:gd name="p0y12" fmla="*/ 110 h 495"/>
              <a:gd name="p0x13" fmla="*/ 110 w 1214"/>
              <a:gd name="p0y13" fmla="*/ 0 h 495"/>
              <a:gd name="p0x14" fmla="*/ 247 w 1214"/>
              <a:gd name="p0y14" fmla="*/ 0 h 4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819150" y="5136356"/>
            <a:ext cx="61875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24">
                <a:solidFill>
                  <a:srgbClr val="4A6E8E"/>
                </a:solidFill>
                <a:cs typeface="+mn-lt"/>
              </a:rPr>
              <a:t>主讲人</a:t>
            </a:r>
            <a:endParaRPr sz="1200" spc="24">
              <a:solidFill>
                <a:srgbClr val="4A6E8E"/>
              </a:solidFill>
              <a:cs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1552204" y="5136356"/>
            <a:ext cx="61875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24">
                <a:solidFill>
                  <a:srgbClr val="4A6E8E"/>
                </a:solidFill>
                <a:cs typeface="+mn-lt"/>
              </a:rPr>
              <a:t>王浏阳</a:t>
            </a:r>
            <a:endParaRPr sz="1200" spc="24">
              <a:solidFill>
                <a:srgbClr val="4A6E8E"/>
              </a:solidFill>
              <a:cs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666750" y="1473994"/>
            <a:ext cx="2355352" cy="11763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8250" b="1">
                <a:solidFill>
                  <a:srgbClr val="1B7FCE">
                    <a:alpha val="90001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05</a:t>
            </a:r>
            <a:endParaRPr sz="8250" b="1">
              <a:solidFill>
                <a:srgbClr val="1B7FCE">
                  <a:alpha val="90001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矩形 3"/>
          <p:cNvSpPr/>
          <p:nvPr>
            <p:custDataLst>
              <p:tags r:id="rId9"/>
            </p:custDataLst>
          </p:nvPr>
        </p:nvSpPr>
        <p:spPr>
          <a:xfrm rot="2700000">
            <a:off x="666750" y="2880995"/>
            <a:ext cx="47625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0"/>
            </p:custDataLst>
          </p:nvPr>
        </p:nvSpPr>
        <p:spPr>
          <a:xfrm>
            <a:off x="1819910" y="290004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模型能力的本质</a:t>
            </a:r>
            <a:endParaRPr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514350"/>
          </a:xfrm>
          <a:custGeom>
            <a:avLst/>
            <a:gdLst>
              <a:gd name="sw" fmla="*/ 1 w 17400"/>
              <a:gd name="sh" fmla="*/ 1 h 810"/>
              <a:gd name="mins" fmla="min sw sh"/>
              <a:gd name="dsw" fmla="+- 0 sw mins"/>
              <a:gd name="dsh" fmla="+- 0 sh mins"/>
              <a:gd name="p0x0" fmla="*/ 180 w 17400"/>
              <a:gd name="p0y0" fmla="*/ 0 h 810"/>
              <a:gd name="p0x1" fmla="*/ 17220 w 17400"/>
              <a:gd name="p0y1" fmla="*/ 0 h 810"/>
              <a:gd name="p0x2" fmla="*/ 17319 w 17400"/>
              <a:gd name="p0y2" fmla="*/ 0 h 810"/>
              <a:gd name="p0x3" fmla="*/ 17400 w 17400"/>
              <a:gd name="p0y3" fmla="*/ 80 h 810"/>
              <a:gd name="p0x4" fmla="*/ 17400 w 17400"/>
              <a:gd name="p0y4" fmla="*/ 180 h 810"/>
              <a:gd name="p0x5" fmla="*/ 17400 w 17400"/>
              <a:gd name="p0y5" fmla="*/ 630 h 810"/>
              <a:gd name="p0x6" fmla="*/ 17400 w 17400"/>
              <a:gd name="p0y6" fmla="*/ 729 h 810"/>
              <a:gd name="p0x7" fmla="*/ 17319 w 17400"/>
              <a:gd name="p0y7" fmla="*/ 810 h 810"/>
              <a:gd name="p0x8" fmla="*/ 17220 w 17400"/>
              <a:gd name="p0y8" fmla="*/ 810 h 810"/>
              <a:gd name="p0x9" fmla="*/ 180 w 17400"/>
              <a:gd name="p0y9" fmla="*/ 810 h 810"/>
              <a:gd name="p0x10" fmla="*/ 80 w 17400"/>
              <a:gd name="p0y10" fmla="*/ 810 h 810"/>
              <a:gd name="p0x11" fmla="*/ 0 w 17400"/>
              <a:gd name="p0y11" fmla="*/ 729 h 810"/>
              <a:gd name="p0x12" fmla="*/ 0 w 17400"/>
              <a:gd name="p0y12" fmla="*/ 630 h 810"/>
              <a:gd name="p0x13" fmla="*/ 0 w 17400"/>
              <a:gd name="p0y13" fmla="*/ 180 h 810"/>
              <a:gd name="p0x14" fmla="*/ 0 w 17400"/>
              <a:gd name="p0y14" fmla="*/ 80 h 810"/>
              <a:gd name="p0x15" fmla="*/ 80 w 17400"/>
              <a:gd name="p0y15" fmla="*/ 0 h 810"/>
              <a:gd name="p0x16" fmla="*/ 180 w 17400"/>
              <a:gd name="p0y16" fmla="*/ 0 h 8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385443" y="1204913"/>
            <a:ext cx="3421037" cy="3095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lang="zh-CN" altLang="en-US" sz="1500" b="1">
                <a:solidFill>
                  <a:schemeClr val="tx2"/>
                </a:solidFill>
                <a:cs typeface="+mn-lt"/>
              </a:rPr>
              <a:t>目前</a:t>
            </a:r>
            <a:r>
              <a:rPr lang="en-US" altLang="zh-CN" sz="1500" b="1">
                <a:solidFill>
                  <a:schemeClr val="tx2"/>
                </a:solidFill>
                <a:cs typeface="+mn-lt"/>
              </a:rPr>
              <a:t>AI</a:t>
            </a:r>
            <a:r>
              <a:rPr lang="zh-CN" altLang="en-US" sz="1500" b="1">
                <a:solidFill>
                  <a:schemeClr val="tx2"/>
                </a:solidFill>
                <a:cs typeface="+mn-lt"/>
              </a:rPr>
              <a:t>的底层逻辑，</a:t>
            </a:r>
            <a:r>
              <a:rPr sz="1500" b="1">
                <a:solidFill>
                  <a:schemeClr val="accent1"/>
                </a:solidFill>
                <a:cs typeface="+mn-lt"/>
              </a:rPr>
              <a:t>绝对称不上理解</a:t>
            </a:r>
            <a:r>
              <a:rPr sz="1500" b="1">
                <a:solidFill>
                  <a:schemeClr val="tx2"/>
                </a:solidFill>
                <a:cs typeface="+mn-lt"/>
              </a:rPr>
              <a:t>。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575945" y="2222500"/>
            <a:ext cx="3546475" cy="3136265"/>
          </a:xfrm>
          <a:custGeom>
            <a:avLst/>
            <a:gdLst>
              <a:gd name="sw" fmla="*/ 1 w 5585"/>
              <a:gd name="sh" fmla="*/ 1 h 4938"/>
              <a:gd name="mins" fmla="min sw sh"/>
              <a:gd name="dsw" fmla="+- 0 sw mins"/>
              <a:gd name="dsh" fmla="+- 0 sh mins"/>
              <a:gd name="p0x0" fmla="*/ 270 w 5585"/>
              <a:gd name="p0y0" fmla="*/ 0 h 4938"/>
              <a:gd name="p0x1" fmla="*/ 5315 w 5585"/>
              <a:gd name="p0y1" fmla="*/ 0 h 4938"/>
              <a:gd name="p0x2" fmla="*/ 5464 w 5585"/>
              <a:gd name="p0y2" fmla="*/ 0 h 4938"/>
              <a:gd name="p0x3" fmla="*/ 5585 w 5585"/>
              <a:gd name="p0y3" fmla="*/ 120 h 4938"/>
              <a:gd name="p0x4" fmla="*/ 5585 w 5585"/>
              <a:gd name="p0y4" fmla="*/ 270 h 4938"/>
              <a:gd name="p0x5" fmla="*/ 5585 w 5585"/>
              <a:gd name="p0y5" fmla="*/ 4668 h 4938"/>
              <a:gd name="p0x6" fmla="*/ 5585 w 5585"/>
              <a:gd name="p0y6" fmla="*/ 4817 h 4938"/>
              <a:gd name="p0x7" fmla="*/ 5464 w 5585"/>
              <a:gd name="p0y7" fmla="*/ 4938 h 4938"/>
              <a:gd name="p0x8" fmla="*/ 5315 w 5585"/>
              <a:gd name="p0y8" fmla="*/ 4938 h 4938"/>
              <a:gd name="p0x9" fmla="*/ 270 w 5585"/>
              <a:gd name="p0y9" fmla="*/ 4938 h 4938"/>
              <a:gd name="p0x10" fmla="*/ 120 w 5585"/>
              <a:gd name="p0y10" fmla="*/ 4938 h 4938"/>
              <a:gd name="p0x11" fmla="*/ 0 w 5585"/>
              <a:gd name="p0y11" fmla="*/ 4817 h 4938"/>
              <a:gd name="p0x12" fmla="*/ 0 w 5585"/>
              <a:gd name="p0y12" fmla="*/ 4668 h 4938"/>
              <a:gd name="p0x13" fmla="*/ 0 w 5585"/>
              <a:gd name="p0y13" fmla="*/ 270 h 4938"/>
              <a:gd name="p0x14" fmla="*/ 0 w 5585"/>
              <a:gd name="p0y14" fmla="*/ 120 h 4938"/>
              <a:gd name="p0x15" fmla="*/ 120 w 5585"/>
              <a:gd name="p0y15" fmla="*/ 0 h 4938"/>
              <a:gd name="p0x16" fmla="*/ 270 w 5585"/>
              <a:gd name="p0y16" fmla="*/ 0 h 49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771525" y="2418080"/>
            <a:ext cx="3155950" cy="580390"/>
            <a:chOff x="1215" y="3808"/>
            <a:chExt cx="4970" cy="914"/>
          </a:xfrm>
        </p:grpSpPr>
        <p:sp>
          <p:nvSpPr>
            <p:cNvPr id="7" name="任意多边形 6"/>
            <p:cNvSpPr/>
            <p:nvPr>
              <p:custDataLst>
                <p:tags r:id="rId5"/>
              </p:custDataLst>
            </p:nvPr>
          </p:nvSpPr>
          <p:spPr>
            <a:xfrm>
              <a:off x="1215" y="3808"/>
              <a:ext cx="4970" cy="915"/>
            </a:xfrm>
            <a:custGeom>
              <a:avLst/>
              <a:gdLst>
                <a:gd name="sw" fmla="*/ 1 w 4970"/>
                <a:gd name="sh" fmla="*/ 1 h 915"/>
                <a:gd name="mins" fmla="min sw sh"/>
                <a:gd name="dsw" fmla="+- 0 sw mins"/>
                <a:gd name="dsh" fmla="+- 0 sh mins"/>
                <a:gd name="p0x0" fmla="*/ 0 w 4970"/>
                <a:gd name="p0y0" fmla="*/ 0 h 915"/>
                <a:gd name="p0x1" fmla="*/ 4970 w 4970"/>
                <a:gd name="p0y1" fmla="*/ 0 h 915"/>
                <a:gd name="p0x2" fmla="*/ 4970 w 4970"/>
                <a:gd name="p0y2" fmla="*/ 915 h 915"/>
                <a:gd name="p0x3" fmla="*/ 0 w 4970"/>
                <a:gd name="p0y3" fmla="*/ 915 h 915"/>
                <a:gd name="p0x4" fmla="*/ 0 w 4970"/>
                <a:gd name="p0y4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6"/>
              </p:custDataLst>
            </p:nvPr>
          </p:nvSpPr>
          <p:spPr>
            <a:xfrm>
              <a:off x="1215" y="4708"/>
              <a:ext cx="4970" cy="15"/>
            </a:xfrm>
            <a:custGeom>
              <a:avLst/>
              <a:gdLst>
                <a:gd name="sw" fmla="*/ 1 w 4970"/>
                <a:gd name="sh" fmla="*/ 1 h 15"/>
                <a:gd name="mins" fmla="min sw sh"/>
                <a:gd name="dsw" fmla="+- 0 sw mins"/>
                <a:gd name="dsh" fmla="+- 0 sh mins"/>
                <a:gd name="p0x0" fmla="*/ 4970 w 4970"/>
                <a:gd name="p0y0" fmla="*/ 15 h 15"/>
                <a:gd name="p0x1" fmla="*/ 0 w 4970"/>
                <a:gd name="p0y1" fmla="*/ 15 h 15"/>
                <a:gd name="p0x2" fmla="*/ 0 w 4970"/>
                <a:gd name="p0y2" fmla="*/ 0 h 15"/>
                <a:gd name="p0x3" fmla="*/ 4970 w 4970"/>
                <a:gd name="p0y3" fmla="*/ 0 h 15"/>
                <a:gd name="p0x4" fmla="*/ 4970 w 49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lumMod val="20577"/>
                <a:lumOff val="7942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任意多边形 9"/>
          <p:cNvSpPr/>
          <p:nvPr>
            <p:custDataLst>
              <p:tags r:id="rId7"/>
            </p:custDataLst>
          </p:nvPr>
        </p:nvSpPr>
        <p:spPr>
          <a:xfrm>
            <a:off x="771525" y="241808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80 w 780"/>
              <a:gd name="p0y0" fmla="*/ 0 h 780"/>
              <a:gd name="p0x1" fmla="*/ 600 w 780"/>
              <a:gd name="p0y1" fmla="*/ 0 h 780"/>
              <a:gd name="p0x2" fmla="*/ 699 w 780"/>
              <a:gd name="p0y2" fmla="*/ 0 h 780"/>
              <a:gd name="p0x3" fmla="*/ 780 w 780"/>
              <a:gd name="p0y3" fmla="*/ 80 h 780"/>
              <a:gd name="p0x4" fmla="*/ 780 w 780"/>
              <a:gd name="p0y4" fmla="*/ 180 h 780"/>
              <a:gd name="p0x5" fmla="*/ 780 w 780"/>
              <a:gd name="p0y5" fmla="*/ 600 h 780"/>
              <a:gd name="p0x6" fmla="*/ 780 w 780"/>
              <a:gd name="p0y6" fmla="*/ 699 h 780"/>
              <a:gd name="p0x7" fmla="*/ 699 w 780"/>
              <a:gd name="p0y7" fmla="*/ 780 h 780"/>
              <a:gd name="p0x8" fmla="*/ 600 w 780"/>
              <a:gd name="p0y8" fmla="*/ 780 h 780"/>
              <a:gd name="p0x9" fmla="*/ 180 w 780"/>
              <a:gd name="p0y9" fmla="*/ 780 h 780"/>
              <a:gd name="p0x10" fmla="*/ 80 w 780"/>
              <a:gd name="p0y10" fmla="*/ 780 h 780"/>
              <a:gd name="p0x11" fmla="*/ 0 w 780"/>
              <a:gd name="p0y11" fmla="*/ 699 h 780"/>
              <a:gd name="p0x12" fmla="*/ 0 w 780"/>
              <a:gd name="p0y12" fmla="*/ 600 h 780"/>
              <a:gd name="p0x13" fmla="*/ 0 w 780"/>
              <a:gd name="p0y13" fmla="*/ 180 h 780"/>
              <a:gd name="p0x14" fmla="*/ 0 w 780"/>
              <a:gd name="p0y14" fmla="*/ 80 h 780"/>
              <a:gd name="p0x15" fmla="*/ 80 w 780"/>
              <a:gd name="p0y15" fmla="*/ 0 h 780"/>
              <a:gd name="p0x16" fmla="*/ 18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828970" y="2491578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1B7FCE"/>
                </a:solidFill>
                <a:cs typeface="+mn-lt"/>
              </a:rPr>
              <a:t>01</a:t>
            </a:r>
            <a:endParaRPr sz="2400" b="1">
              <a:solidFill>
                <a:srgbClr val="1B7FCE"/>
              </a:solidFill>
              <a:cs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1381125" y="2483006"/>
            <a:ext cx="162691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D3E5E"/>
                </a:solidFill>
                <a:cs typeface="+mn-lt"/>
              </a:rPr>
              <a:t>能力与本质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825475" y="3609975"/>
            <a:ext cx="304800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ctr">
              <a:lnSpc>
                <a:spcPct val="133000"/>
              </a:lnSpc>
            </a:pPr>
            <a:r>
              <a:rPr sz="1500">
                <a:solidFill>
                  <a:srgbClr val="4A6E8E"/>
                </a:solidFill>
                <a:cs typeface="+mn-lt"/>
              </a:rPr>
              <a:t>模型的能力，出于对庞大数据的</a:t>
            </a:r>
            <a:r>
              <a:rPr sz="1500" b="1">
                <a:solidFill>
                  <a:schemeClr val="accent1"/>
                </a:solidFill>
                <a:cs typeface="+mn-lt"/>
              </a:rPr>
              <a:t>分析总结</a:t>
            </a:r>
            <a:r>
              <a:rPr sz="1500">
                <a:solidFill>
                  <a:srgbClr val="4A6E8E"/>
                </a:solidFill>
                <a:cs typeface="+mn-lt"/>
              </a:rPr>
              <a:t>；模型的本质，是依照我们给它的</a:t>
            </a:r>
            <a:r>
              <a:rPr sz="1500" b="1">
                <a:solidFill>
                  <a:schemeClr val="accent1"/>
                </a:solidFill>
                <a:cs typeface="+mn-lt"/>
              </a:rPr>
              <a:t>指标完成任务</a:t>
            </a:r>
            <a:r>
              <a:rPr sz="1500">
                <a:solidFill>
                  <a:srgbClr val="4A6E8E"/>
                </a:solidFill>
                <a:cs typeface="+mn-lt"/>
              </a:rPr>
              <a:t>。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14" name="任意多边形 13"/>
          <p:cNvSpPr/>
          <p:nvPr>
            <p:custDataLst>
              <p:tags r:id="rId11"/>
            </p:custDataLst>
          </p:nvPr>
        </p:nvSpPr>
        <p:spPr>
          <a:xfrm>
            <a:off x="4322445" y="2222500"/>
            <a:ext cx="3546475" cy="3136265"/>
          </a:xfrm>
          <a:custGeom>
            <a:avLst/>
            <a:gdLst>
              <a:gd name="sw" fmla="*/ 1 w 5585"/>
              <a:gd name="sh" fmla="*/ 1 h 4938"/>
              <a:gd name="mins" fmla="min sw sh"/>
              <a:gd name="dsw" fmla="+- 0 sw mins"/>
              <a:gd name="dsh" fmla="+- 0 sh mins"/>
              <a:gd name="p0x0" fmla="*/ 270 w 5585"/>
              <a:gd name="p0y0" fmla="*/ 0 h 4938"/>
              <a:gd name="p0x1" fmla="*/ 5315 w 5585"/>
              <a:gd name="p0y1" fmla="*/ 0 h 4938"/>
              <a:gd name="p0x2" fmla="*/ 5464 w 5585"/>
              <a:gd name="p0y2" fmla="*/ 0 h 4938"/>
              <a:gd name="p0x3" fmla="*/ 5585 w 5585"/>
              <a:gd name="p0y3" fmla="*/ 120 h 4938"/>
              <a:gd name="p0x4" fmla="*/ 5585 w 5585"/>
              <a:gd name="p0y4" fmla="*/ 270 h 4938"/>
              <a:gd name="p0x5" fmla="*/ 5585 w 5585"/>
              <a:gd name="p0y5" fmla="*/ 4668 h 4938"/>
              <a:gd name="p0x6" fmla="*/ 5585 w 5585"/>
              <a:gd name="p0y6" fmla="*/ 4817 h 4938"/>
              <a:gd name="p0x7" fmla="*/ 5464 w 5585"/>
              <a:gd name="p0y7" fmla="*/ 4938 h 4938"/>
              <a:gd name="p0x8" fmla="*/ 5315 w 5585"/>
              <a:gd name="p0y8" fmla="*/ 4938 h 4938"/>
              <a:gd name="p0x9" fmla="*/ 270 w 5585"/>
              <a:gd name="p0y9" fmla="*/ 4938 h 4938"/>
              <a:gd name="p0x10" fmla="*/ 120 w 5585"/>
              <a:gd name="p0y10" fmla="*/ 4938 h 4938"/>
              <a:gd name="p0x11" fmla="*/ 0 w 5585"/>
              <a:gd name="p0y11" fmla="*/ 4817 h 4938"/>
              <a:gd name="p0x12" fmla="*/ 0 w 5585"/>
              <a:gd name="p0y12" fmla="*/ 4668 h 4938"/>
              <a:gd name="p0x13" fmla="*/ 0 w 5585"/>
              <a:gd name="p0y13" fmla="*/ 270 h 4938"/>
              <a:gd name="p0x14" fmla="*/ 0 w 5585"/>
              <a:gd name="p0y14" fmla="*/ 120 h 4938"/>
              <a:gd name="p0x15" fmla="*/ 120 w 5585"/>
              <a:gd name="p0y15" fmla="*/ 0 h 4938"/>
              <a:gd name="p0x16" fmla="*/ 270 w 5585"/>
              <a:gd name="p0y16" fmla="*/ 0 h 49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4518025" y="2418080"/>
            <a:ext cx="3155950" cy="580390"/>
            <a:chOff x="7115" y="3808"/>
            <a:chExt cx="4970" cy="914"/>
          </a:xfrm>
        </p:grpSpPr>
        <p:sp>
          <p:nvSpPr>
            <p:cNvPr id="15" name="任意多边形 14"/>
            <p:cNvSpPr/>
            <p:nvPr>
              <p:custDataLst>
                <p:tags r:id="rId12"/>
              </p:custDataLst>
            </p:nvPr>
          </p:nvSpPr>
          <p:spPr>
            <a:xfrm>
              <a:off x="7115" y="3808"/>
              <a:ext cx="4970" cy="915"/>
            </a:xfrm>
            <a:custGeom>
              <a:avLst/>
              <a:gdLst>
                <a:gd name="sw" fmla="*/ 1 w 4970"/>
                <a:gd name="sh" fmla="*/ 1 h 915"/>
                <a:gd name="mins" fmla="min sw sh"/>
                <a:gd name="dsw" fmla="+- 0 sw mins"/>
                <a:gd name="dsh" fmla="+- 0 sh mins"/>
                <a:gd name="p0x0" fmla="*/ 0 w 4970"/>
                <a:gd name="p0y0" fmla="*/ 0 h 915"/>
                <a:gd name="p0x1" fmla="*/ 4970 w 4970"/>
                <a:gd name="p0y1" fmla="*/ 0 h 915"/>
                <a:gd name="p0x2" fmla="*/ 4970 w 4970"/>
                <a:gd name="p0y2" fmla="*/ 915 h 915"/>
                <a:gd name="p0x3" fmla="*/ 0 w 4970"/>
                <a:gd name="p0y3" fmla="*/ 915 h 915"/>
                <a:gd name="p0x4" fmla="*/ 0 w 4970"/>
                <a:gd name="p0y4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>
              <p:custDataLst>
                <p:tags r:id="rId13"/>
              </p:custDataLst>
            </p:nvPr>
          </p:nvSpPr>
          <p:spPr>
            <a:xfrm>
              <a:off x="7115" y="4708"/>
              <a:ext cx="4970" cy="15"/>
            </a:xfrm>
            <a:custGeom>
              <a:avLst/>
              <a:gdLst>
                <a:gd name="sw" fmla="*/ 1 w 4970"/>
                <a:gd name="sh" fmla="*/ 1 h 15"/>
                <a:gd name="mins" fmla="min sw sh"/>
                <a:gd name="dsw" fmla="+- 0 sw mins"/>
                <a:gd name="dsh" fmla="+- 0 sh mins"/>
                <a:gd name="p0x0" fmla="*/ 4970 w 4970"/>
                <a:gd name="p0y0" fmla="*/ 15 h 15"/>
                <a:gd name="p0x1" fmla="*/ 0 w 4970"/>
                <a:gd name="p0y1" fmla="*/ 15 h 15"/>
                <a:gd name="p0x2" fmla="*/ 0 w 4970"/>
                <a:gd name="p0y2" fmla="*/ 0 h 15"/>
                <a:gd name="p0x3" fmla="*/ 4970 w 4970"/>
                <a:gd name="p0y3" fmla="*/ 0 h 15"/>
                <a:gd name="p0x4" fmla="*/ 4970 w 49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lumMod val="20577"/>
                <a:lumOff val="7942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8" name="任意多边形 17"/>
          <p:cNvSpPr/>
          <p:nvPr>
            <p:custDataLst>
              <p:tags r:id="rId14"/>
            </p:custDataLst>
          </p:nvPr>
        </p:nvSpPr>
        <p:spPr>
          <a:xfrm>
            <a:off x="4518025" y="241808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80 w 780"/>
              <a:gd name="p0y0" fmla="*/ 0 h 780"/>
              <a:gd name="p0x1" fmla="*/ 600 w 780"/>
              <a:gd name="p0y1" fmla="*/ 0 h 780"/>
              <a:gd name="p0x2" fmla="*/ 699 w 780"/>
              <a:gd name="p0y2" fmla="*/ 0 h 780"/>
              <a:gd name="p0x3" fmla="*/ 780 w 780"/>
              <a:gd name="p0y3" fmla="*/ 80 h 780"/>
              <a:gd name="p0x4" fmla="*/ 780 w 780"/>
              <a:gd name="p0y4" fmla="*/ 180 h 780"/>
              <a:gd name="p0x5" fmla="*/ 780 w 780"/>
              <a:gd name="p0y5" fmla="*/ 600 h 780"/>
              <a:gd name="p0x6" fmla="*/ 780 w 780"/>
              <a:gd name="p0y6" fmla="*/ 699 h 780"/>
              <a:gd name="p0x7" fmla="*/ 699 w 780"/>
              <a:gd name="p0y7" fmla="*/ 780 h 780"/>
              <a:gd name="p0x8" fmla="*/ 600 w 780"/>
              <a:gd name="p0y8" fmla="*/ 780 h 780"/>
              <a:gd name="p0x9" fmla="*/ 180 w 780"/>
              <a:gd name="p0y9" fmla="*/ 780 h 780"/>
              <a:gd name="p0x10" fmla="*/ 80 w 780"/>
              <a:gd name="p0y10" fmla="*/ 780 h 780"/>
              <a:gd name="p0x11" fmla="*/ 0 w 780"/>
              <a:gd name="p0y11" fmla="*/ 699 h 780"/>
              <a:gd name="p0x12" fmla="*/ 0 w 780"/>
              <a:gd name="p0y12" fmla="*/ 600 h 780"/>
              <a:gd name="p0x13" fmla="*/ 0 w 780"/>
              <a:gd name="p0y13" fmla="*/ 180 h 780"/>
              <a:gd name="p0x14" fmla="*/ 0 w 780"/>
              <a:gd name="p0y14" fmla="*/ 80 h 780"/>
              <a:gd name="p0x15" fmla="*/ 80 w 780"/>
              <a:gd name="p0y15" fmla="*/ 0 h 780"/>
              <a:gd name="p0x16" fmla="*/ 18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4575496" y="2491578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1B7FCE"/>
                </a:solidFill>
                <a:cs typeface="+mn-lt"/>
              </a:rPr>
              <a:t>02</a:t>
            </a:r>
            <a:endParaRPr sz="2400" b="1">
              <a:solidFill>
                <a:srgbClr val="1B7FCE"/>
              </a:solidFill>
              <a:cs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5127651" y="2483006"/>
            <a:ext cx="189897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D3E5E"/>
                </a:solidFill>
                <a:cs typeface="+mn-lt"/>
              </a:rPr>
              <a:t>相关而非因果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4508897" y="3609975"/>
            <a:ext cx="3174206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4A6E8E"/>
                </a:solidFill>
                <a:cs typeface="+mn-lt"/>
              </a:rPr>
              <a:t>下一次，我们能以更</a:t>
            </a:r>
            <a:r>
              <a:rPr sz="1500" b="1">
                <a:solidFill>
                  <a:schemeClr val="accent1"/>
                </a:solidFill>
                <a:cs typeface="+mn-lt"/>
              </a:rPr>
              <a:t>精确严密的指标</a:t>
            </a:r>
            <a:endParaRPr sz="1500" b="1">
              <a:solidFill>
                <a:schemeClr val="accent1"/>
              </a:solidFill>
              <a:cs typeface="+mn-lt"/>
            </a:endParaRPr>
          </a:p>
          <a:p>
            <a:pPr algn="ctr">
              <a:lnSpc>
                <a:spcPct val="133000"/>
              </a:lnSpc>
            </a:pPr>
            <a:r>
              <a:rPr lang="zh-CN" sz="1500">
                <a:solidFill>
                  <a:srgbClr val="4A6E8E"/>
                </a:solidFill>
                <a:cs typeface="+mn-lt"/>
              </a:rPr>
              <a:t>约束训练模型，但它本质上是一种</a:t>
            </a:r>
            <a:r>
              <a:rPr lang="en-US" altLang="zh-CN" sz="1500">
                <a:solidFill>
                  <a:srgbClr val="4A6E8E"/>
                </a:solidFill>
                <a:cs typeface="+mn-lt"/>
              </a:rPr>
              <a:t> </a:t>
            </a:r>
            <a:r>
              <a:rPr sz="1500" b="1">
                <a:solidFill>
                  <a:schemeClr val="accent1"/>
                </a:solidFill>
                <a:cs typeface="+mn-lt"/>
              </a:rPr>
              <a:t>相关，</a:t>
            </a:r>
            <a:r>
              <a:rPr lang="zh-CN" altLang="en-US" sz="1500" b="1">
                <a:solidFill>
                  <a:schemeClr val="accent1"/>
                </a:solidFill>
                <a:cs typeface="+mn-lt"/>
              </a:rPr>
              <a:t>即“两件事常一起出现吗”，</a:t>
            </a:r>
            <a:r>
              <a:rPr sz="1500" b="1">
                <a:solidFill>
                  <a:schemeClr val="accent1"/>
                </a:solidFill>
                <a:cs typeface="+mn-lt"/>
              </a:rPr>
              <a:t>而非因果</a:t>
            </a:r>
            <a:r>
              <a:rPr sz="1500">
                <a:solidFill>
                  <a:srgbClr val="4A6E8E"/>
                </a:solidFill>
                <a:cs typeface="+mn-lt"/>
              </a:rPr>
              <a:t>。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22" name="任意多边形 21"/>
          <p:cNvSpPr/>
          <p:nvPr>
            <p:custDataLst>
              <p:tags r:id="rId18"/>
            </p:custDataLst>
          </p:nvPr>
        </p:nvSpPr>
        <p:spPr>
          <a:xfrm>
            <a:off x="8068945" y="2222500"/>
            <a:ext cx="3546475" cy="3136265"/>
          </a:xfrm>
          <a:custGeom>
            <a:avLst/>
            <a:gdLst>
              <a:gd name="sw" fmla="*/ 1 w 5585"/>
              <a:gd name="sh" fmla="*/ 1 h 4938"/>
              <a:gd name="mins" fmla="min sw sh"/>
              <a:gd name="dsw" fmla="+- 0 sw mins"/>
              <a:gd name="dsh" fmla="+- 0 sh mins"/>
              <a:gd name="p0x0" fmla="*/ 270 w 5585"/>
              <a:gd name="p0y0" fmla="*/ 0 h 4938"/>
              <a:gd name="p0x1" fmla="*/ 5315 w 5585"/>
              <a:gd name="p0y1" fmla="*/ 0 h 4938"/>
              <a:gd name="p0x2" fmla="*/ 5464 w 5585"/>
              <a:gd name="p0y2" fmla="*/ 0 h 4938"/>
              <a:gd name="p0x3" fmla="*/ 5585 w 5585"/>
              <a:gd name="p0y3" fmla="*/ 120 h 4938"/>
              <a:gd name="p0x4" fmla="*/ 5585 w 5585"/>
              <a:gd name="p0y4" fmla="*/ 270 h 4938"/>
              <a:gd name="p0x5" fmla="*/ 5585 w 5585"/>
              <a:gd name="p0y5" fmla="*/ 4668 h 4938"/>
              <a:gd name="p0x6" fmla="*/ 5585 w 5585"/>
              <a:gd name="p0y6" fmla="*/ 4817 h 4938"/>
              <a:gd name="p0x7" fmla="*/ 5464 w 5585"/>
              <a:gd name="p0y7" fmla="*/ 4938 h 4938"/>
              <a:gd name="p0x8" fmla="*/ 5315 w 5585"/>
              <a:gd name="p0y8" fmla="*/ 4938 h 4938"/>
              <a:gd name="p0x9" fmla="*/ 270 w 5585"/>
              <a:gd name="p0y9" fmla="*/ 4938 h 4938"/>
              <a:gd name="p0x10" fmla="*/ 120 w 5585"/>
              <a:gd name="p0y10" fmla="*/ 4938 h 4938"/>
              <a:gd name="p0x11" fmla="*/ 0 w 5585"/>
              <a:gd name="p0y11" fmla="*/ 4817 h 4938"/>
              <a:gd name="p0x12" fmla="*/ 0 w 5585"/>
              <a:gd name="p0y12" fmla="*/ 4668 h 4938"/>
              <a:gd name="p0x13" fmla="*/ 0 w 5585"/>
              <a:gd name="p0y13" fmla="*/ 270 h 4938"/>
              <a:gd name="p0x14" fmla="*/ 0 w 5585"/>
              <a:gd name="p0y14" fmla="*/ 120 h 4938"/>
              <a:gd name="p0x15" fmla="*/ 120 w 5585"/>
              <a:gd name="p0y15" fmla="*/ 0 h 4938"/>
              <a:gd name="p0x16" fmla="*/ 270 w 5585"/>
              <a:gd name="p0y16" fmla="*/ 0 h 49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8264525" y="2418080"/>
            <a:ext cx="3155950" cy="580390"/>
            <a:chOff x="13015" y="3808"/>
            <a:chExt cx="4970" cy="914"/>
          </a:xfrm>
        </p:grpSpPr>
        <p:sp>
          <p:nvSpPr>
            <p:cNvPr id="23" name="任意多边形 22"/>
            <p:cNvSpPr/>
            <p:nvPr>
              <p:custDataLst>
                <p:tags r:id="rId19"/>
              </p:custDataLst>
            </p:nvPr>
          </p:nvSpPr>
          <p:spPr>
            <a:xfrm>
              <a:off x="13015" y="3808"/>
              <a:ext cx="4970" cy="915"/>
            </a:xfrm>
            <a:custGeom>
              <a:avLst/>
              <a:gdLst>
                <a:gd name="sw" fmla="*/ 1 w 4970"/>
                <a:gd name="sh" fmla="*/ 1 h 915"/>
                <a:gd name="mins" fmla="min sw sh"/>
                <a:gd name="dsw" fmla="+- 0 sw mins"/>
                <a:gd name="dsh" fmla="+- 0 sh mins"/>
                <a:gd name="p0x0" fmla="*/ 0 w 4970"/>
                <a:gd name="p0y0" fmla="*/ 0 h 915"/>
                <a:gd name="p0x1" fmla="*/ 4970 w 4970"/>
                <a:gd name="p0y1" fmla="*/ 0 h 915"/>
                <a:gd name="p0x2" fmla="*/ 4970 w 4970"/>
                <a:gd name="p0y2" fmla="*/ 915 h 915"/>
                <a:gd name="p0x3" fmla="*/ 0 w 4970"/>
                <a:gd name="p0y3" fmla="*/ 915 h 915"/>
                <a:gd name="p0x4" fmla="*/ 0 w 4970"/>
                <a:gd name="p0y4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>
              <p:custDataLst>
                <p:tags r:id="rId20"/>
              </p:custDataLst>
            </p:nvPr>
          </p:nvSpPr>
          <p:spPr>
            <a:xfrm>
              <a:off x="13015" y="4708"/>
              <a:ext cx="4970" cy="15"/>
            </a:xfrm>
            <a:custGeom>
              <a:avLst/>
              <a:gdLst>
                <a:gd name="sw" fmla="*/ 1 w 4970"/>
                <a:gd name="sh" fmla="*/ 1 h 15"/>
                <a:gd name="mins" fmla="min sw sh"/>
                <a:gd name="dsw" fmla="+- 0 sw mins"/>
                <a:gd name="dsh" fmla="+- 0 sh mins"/>
                <a:gd name="p0x0" fmla="*/ 4970 w 4970"/>
                <a:gd name="p0y0" fmla="*/ 15 h 15"/>
                <a:gd name="p0x1" fmla="*/ 0 w 4970"/>
                <a:gd name="p0y1" fmla="*/ 15 h 15"/>
                <a:gd name="p0x2" fmla="*/ 0 w 4970"/>
                <a:gd name="p0y2" fmla="*/ 0 h 15"/>
                <a:gd name="p0x3" fmla="*/ 4970 w 4970"/>
                <a:gd name="p0y3" fmla="*/ 0 h 15"/>
                <a:gd name="p0x4" fmla="*/ 4970 w 49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lumMod val="20577"/>
                <a:lumOff val="7942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6" name="任意多边形 25"/>
          <p:cNvSpPr/>
          <p:nvPr>
            <p:custDataLst>
              <p:tags r:id="rId21"/>
            </p:custDataLst>
          </p:nvPr>
        </p:nvSpPr>
        <p:spPr>
          <a:xfrm>
            <a:off x="8264525" y="241808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80 w 780"/>
              <a:gd name="p0y0" fmla="*/ 0 h 780"/>
              <a:gd name="p0x1" fmla="*/ 600 w 780"/>
              <a:gd name="p0y1" fmla="*/ 0 h 780"/>
              <a:gd name="p0x2" fmla="*/ 699 w 780"/>
              <a:gd name="p0y2" fmla="*/ 0 h 780"/>
              <a:gd name="p0x3" fmla="*/ 780 w 780"/>
              <a:gd name="p0y3" fmla="*/ 80 h 780"/>
              <a:gd name="p0x4" fmla="*/ 780 w 780"/>
              <a:gd name="p0y4" fmla="*/ 180 h 780"/>
              <a:gd name="p0x5" fmla="*/ 780 w 780"/>
              <a:gd name="p0y5" fmla="*/ 600 h 780"/>
              <a:gd name="p0x6" fmla="*/ 780 w 780"/>
              <a:gd name="p0y6" fmla="*/ 699 h 780"/>
              <a:gd name="p0x7" fmla="*/ 699 w 780"/>
              <a:gd name="p0y7" fmla="*/ 780 h 780"/>
              <a:gd name="p0x8" fmla="*/ 600 w 780"/>
              <a:gd name="p0y8" fmla="*/ 780 h 780"/>
              <a:gd name="p0x9" fmla="*/ 180 w 780"/>
              <a:gd name="p0y9" fmla="*/ 780 h 780"/>
              <a:gd name="p0x10" fmla="*/ 80 w 780"/>
              <a:gd name="p0y10" fmla="*/ 780 h 780"/>
              <a:gd name="p0x11" fmla="*/ 0 w 780"/>
              <a:gd name="p0y11" fmla="*/ 699 h 780"/>
              <a:gd name="p0x12" fmla="*/ 0 w 780"/>
              <a:gd name="p0y12" fmla="*/ 600 h 780"/>
              <a:gd name="p0x13" fmla="*/ 0 w 780"/>
              <a:gd name="p0y13" fmla="*/ 180 h 780"/>
              <a:gd name="p0x14" fmla="*/ 0 w 780"/>
              <a:gd name="p0y14" fmla="*/ 80 h 780"/>
              <a:gd name="p0x15" fmla="*/ 80 w 780"/>
              <a:gd name="p0y15" fmla="*/ 0 h 780"/>
              <a:gd name="p0x16" fmla="*/ 18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2"/>
            </p:custDataLst>
          </p:nvPr>
        </p:nvSpPr>
        <p:spPr>
          <a:xfrm>
            <a:off x="8322021" y="2491578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1B7FCE"/>
                </a:solidFill>
                <a:cs typeface="+mn-lt"/>
              </a:rPr>
              <a:t>03</a:t>
            </a:r>
            <a:endParaRPr sz="2400" b="1">
              <a:solidFill>
                <a:srgbClr val="1B7FCE"/>
              </a:solidFill>
              <a:cs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23"/>
            </p:custDataLst>
          </p:nvPr>
        </p:nvSpPr>
        <p:spPr>
          <a:xfrm>
            <a:off x="8874176" y="2483006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1D3E5E"/>
                </a:solidFill>
                <a:cs typeface="+mn-lt"/>
              </a:rPr>
              <a:t>得出判断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29" name="文本框 28"/>
          <p:cNvSpPr txBox="1"/>
          <p:nvPr>
            <p:custDataLst>
              <p:tags r:id="rId24"/>
            </p:custDataLst>
          </p:nvPr>
        </p:nvSpPr>
        <p:spPr>
          <a:xfrm>
            <a:off x="8318526" y="3762375"/>
            <a:ext cx="3048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500" b="1">
                <a:solidFill>
                  <a:schemeClr val="accent1"/>
                </a:solidFill>
                <a:cs typeface="+mn-lt"/>
              </a:rPr>
              <a:t>因此，我们具有的</a:t>
            </a:r>
            <a:r>
              <a:rPr sz="1500" b="1">
                <a:solidFill>
                  <a:schemeClr val="accent1"/>
                </a:solidFill>
                <a:cs typeface="+mn-lt"/>
              </a:rPr>
              <a:t>典型案例越多</a:t>
            </a:r>
            <a:r>
              <a:rPr sz="1500">
                <a:solidFill>
                  <a:srgbClr val="4A6E8E"/>
                </a:solidFill>
                <a:cs typeface="+mn-lt"/>
              </a:rPr>
              <a:t>，训练指标越合适，模型的预测距离事实就越</a:t>
            </a:r>
            <a:r>
              <a:rPr sz="1500" b="1">
                <a:solidFill>
                  <a:schemeClr val="accent1"/>
                </a:solidFill>
                <a:cs typeface="+mn-lt"/>
              </a:rPr>
              <a:t>近</a:t>
            </a:r>
            <a:r>
              <a:rPr sz="1500">
                <a:solidFill>
                  <a:srgbClr val="4A6E8E"/>
                </a:solidFill>
                <a:cs typeface="+mn-lt"/>
              </a:rPr>
              <a:t>。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但以目前</a:t>
            </a:r>
            <a:r>
              <a:rPr lang="en-US" altLang="zh-CN" sz="1500">
                <a:solidFill>
                  <a:srgbClr val="4A6E8E"/>
                </a:solidFill>
                <a:cs typeface="+mn-lt"/>
              </a:rPr>
              <a:t>AI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的底层逻辑，绝对称不上理解。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30" name="任意多边形 29"/>
          <p:cNvSpPr/>
          <p:nvPr>
            <p:custDataLst>
              <p:tags r:id="rId25"/>
            </p:custDataLst>
          </p:nvPr>
        </p:nvSpPr>
        <p:spPr>
          <a:xfrm>
            <a:off x="571500" y="5591810"/>
            <a:ext cx="11049000" cy="523875"/>
          </a:xfrm>
          <a:custGeom>
            <a:avLst/>
            <a:gdLst>
              <a:gd name="sw" fmla="*/ 1 w 17400"/>
              <a:gd name="sh" fmla="*/ 1 h 825"/>
              <a:gd name="mins" fmla="min sw sh"/>
              <a:gd name="dsw" fmla="+- 0 sw mins"/>
              <a:gd name="dsh" fmla="+- 0 sh mins"/>
              <a:gd name="p0x0" fmla="*/ 180 w 17400"/>
              <a:gd name="p0y0" fmla="*/ 0 h 825"/>
              <a:gd name="p0x1" fmla="*/ 17220 w 17400"/>
              <a:gd name="p0y1" fmla="*/ 0 h 825"/>
              <a:gd name="p0x2" fmla="*/ 17319 w 17400"/>
              <a:gd name="p0y2" fmla="*/ 0 h 825"/>
              <a:gd name="p0x3" fmla="*/ 17400 w 17400"/>
              <a:gd name="p0y3" fmla="*/ 80 h 825"/>
              <a:gd name="p0x4" fmla="*/ 17400 w 17400"/>
              <a:gd name="p0y4" fmla="*/ 180 h 825"/>
              <a:gd name="p0x5" fmla="*/ 17400 w 17400"/>
              <a:gd name="p0y5" fmla="*/ 645 h 825"/>
              <a:gd name="p0x6" fmla="*/ 17400 w 17400"/>
              <a:gd name="p0y6" fmla="*/ 744 h 825"/>
              <a:gd name="p0x7" fmla="*/ 17319 w 17400"/>
              <a:gd name="p0y7" fmla="*/ 825 h 825"/>
              <a:gd name="p0x8" fmla="*/ 17220 w 17400"/>
              <a:gd name="p0y8" fmla="*/ 825 h 825"/>
              <a:gd name="p0x9" fmla="*/ 180 w 17400"/>
              <a:gd name="p0y9" fmla="*/ 825 h 825"/>
              <a:gd name="p0x10" fmla="*/ 80 w 17400"/>
              <a:gd name="p0y10" fmla="*/ 825 h 825"/>
              <a:gd name="p0x11" fmla="*/ 0 w 17400"/>
              <a:gd name="p0y11" fmla="*/ 744 h 825"/>
              <a:gd name="p0x12" fmla="*/ 0 w 17400"/>
              <a:gd name="p0y12" fmla="*/ 645 h 825"/>
              <a:gd name="p0x13" fmla="*/ 0 w 17400"/>
              <a:gd name="p0y13" fmla="*/ 180 h 825"/>
              <a:gd name="p0x14" fmla="*/ 0 w 17400"/>
              <a:gd name="p0y14" fmla="*/ 80 h 825"/>
              <a:gd name="p0x15" fmla="*/ 80 w 17400"/>
              <a:gd name="p0y15" fmla="*/ 0 h 825"/>
              <a:gd name="p0x16" fmla="*/ 180 w 17400"/>
              <a:gd name="p0y16" fmla="*/ 0 h 8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6"/>
            </p:custDataLst>
          </p:nvPr>
        </p:nvSpPr>
        <p:spPr>
          <a:xfrm>
            <a:off x="4445794" y="5692378"/>
            <a:ext cx="3300413" cy="3190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9000"/>
              </a:lnSpc>
            </a:pPr>
            <a:r>
              <a:rPr lang="zh-CN" altLang="en-US" sz="1500" i="1">
                <a:solidFill>
                  <a:srgbClr val="4A6E8E"/>
                </a:solidFill>
                <a:cs typeface="+mn-lt"/>
              </a:rPr>
              <a:t>“模型的本质是</a:t>
            </a:r>
            <a:r>
              <a:rPr lang="en-US" altLang="zh-CN" sz="1500" i="1">
                <a:solidFill>
                  <a:srgbClr val="4A6E8E"/>
                </a:solidFill>
                <a:cs typeface="+mn-lt"/>
              </a:rPr>
              <a:t> </a:t>
            </a:r>
            <a:r>
              <a:rPr sz="1500" b="1">
                <a:solidFill>
                  <a:schemeClr val="accent1"/>
                </a:solidFill>
                <a:cs typeface="+mn-lt"/>
              </a:rPr>
              <a:t>相关，而非因果</a:t>
            </a:r>
            <a:r>
              <a:rPr sz="1500" i="1">
                <a:solidFill>
                  <a:srgbClr val="4A6E8E"/>
                </a:solidFill>
                <a:cs typeface="+mn-lt"/>
              </a:rPr>
              <a:t>。”</a:t>
            </a:r>
            <a:endParaRPr sz="1500" i="1">
              <a:solidFill>
                <a:srgbClr val="4A6E8E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AI</a:t>
            </a:r>
            <a:r>
              <a:rPr lang="zh-CN" sz="30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与生命密码</a:t>
            </a:r>
            <a:endParaRPr lang="zh-CN" sz="30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1790700"/>
          </a:xfrm>
          <a:custGeom>
            <a:avLst/>
            <a:gdLst>
              <a:gd name="sw" fmla="*/ 1 w 17385"/>
              <a:gd name="sh" fmla="*/ 1 h 2820"/>
              <a:gd name="mins" fmla="min sw sh"/>
              <a:gd name="dsw" fmla="+- 0 sw mins"/>
              <a:gd name="dsh" fmla="+- 0 sh mins"/>
              <a:gd name="p0x0" fmla="*/ 180 w 17385"/>
              <a:gd name="p0y0" fmla="*/ 0 h 2820"/>
              <a:gd name="p0x1" fmla="*/ 17205 w 17385"/>
              <a:gd name="p0y1" fmla="*/ 0 h 2820"/>
              <a:gd name="p0x2" fmla="*/ 17304 w 17385"/>
              <a:gd name="p0y2" fmla="*/ 0 h 2820"/>
              <a:gd name="p0x3" fmla="*/ 17385 w 17385"/>
              <a:gd name="p0y3" fmla="*/ 80 h 2820"/>
              <a:gd name="p0x4" fmla="*/ 17385 w 17385"/>
              <a:gd name="p0y4" fmla="*/ 180 h 2820"/>
              <a:gd name="p0x5" fmla="*/ 17385 w 17385"/>
              <a:gd name="p0y5" fmla="*/ 2640 h 2820"/>
              <a:gd name="p0x6" fmla="*/ 17385 w 17385"/>
              <a:gd name="p0y6" fmla="*/ 2739 h 2820"/>
              <a:gd name="p0x7" fmla="*/ 17304 w 17385"/>
              <a:gd name="p0y7" fmla="*/ 2820 h 2820"/>
              <a:gd name="p0x8" fmla="*/ 17205 w 17385"/>
              <a:gd name="p0y8" fmla="*/ 2820 h 2820"/>
              <a:gd name="p0x9" fmla="*/ 180 w 17385"/>
              <a:gd name="p0y9" fmla="*/ 2820 h 2820"/>
              <a:gd name="p0x10" fmla="*/ 80 w 17385"/>
              <a:gd name="p0y10" fmla="*/ 2820 h 2820"/>
              <a:gd name="p0x11" fmla="*/ 0 w 17385"/>
              <a:gd name="p0y11" fmla="*/ 2739 h 2820"/>
              <a:gd name="p0x12" fmla="*/ 0 w 17385"/>
              <a:gd name="p0y12" fmla="*/ 2640 h 2820"/>
              <a:gd name="p0x13" fmla="*/ 0 w 17385"/>
              <a:gd name="p0y13" fmla="*/ 180 h 2820"/>
              <a:gd name="p0x14" fmla="*/ 0 w 17385"/>
              <a:gd name="p0y14" fmla="*/ 80 h 2820"/>
              <a:gd name="p0x15" fmla="*/ 80 w 17385"/>
              <a:gd name="p0y15" fmla="*/ 0 h 2820"/>
              <a:gd name="p0x16" fmla="*/ 180 w 17385"/>
              <a:gd name="p0y16" fmla="*/ 0 h 28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53347"/>
              <a:lumOff val="46653"/>
            </a:schemeClr>
          </a:solidFill>
          <a:ln w="9525" cmpd="sng">
            <a:solidFill>
              <a:schemeClr val="accent1">
                <a:lumMod val="38990"/>
                <a:lumOff val="6101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50939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90 w 480"/>
              <a:gd name="p0y0" fmla="*/ 0 h 480"/>
              <a:gd name="p0x1" fmla="*/ 390 w 480"/>
              <a:gd name="p0y1" fmla="*/ 0 h 480"/>
              <a:gd name="p0x2" fmla="*/ 439 w 480"/>
              <a:gd name="p0y2" fmla="*/ 0 h 480"/>
              <a:gd name="p0x3" fmla="*/ 480 w 480"/>
              <a:gd name="p0y3" fmla="*/ 40 h 480"/>
              <a:gd name="p0x4" fmla="*/ 480 w 480"/>
              <a:gd name="p0y4" fmla="*/ 90 h 480"/>
              <a:gd name="p0x5" fmla="*/ 480 w 480"/>
              <a:gd name="p0y5" fmla="*/ 390 h 480"/>
              <a:gd name="p0x6" fmla="*/ 480 w 480"/>
              <a:gd name="p0y6" fmla="*/ 439 h 480"/>
              <a:gd name="p0x7" fmla="*/ 439 w 480"/>
              <a:gd name="p0y7" fmla="*/ 480 h 480"/>
              <a:gd name="p0x8" fmla="*/ 390 w 480"/>
              <a:gd name="p0y8" fmla="*/ 480 h 480"/>
              <a:gd name="p0x9" fmla="*/ 90 w 480"/>
              <a:gd name="p0y9" fmla="*/ 480 h 480"/>
              <a:gd name="p0x10" fmla="*/ 40 w 480"/>
              <a:gd name="p0y10" fmla="*/ 480 h 480"/>
              <a:gd name="p0x11" fmla="*/ 0 w 480"/>
              <a:gd name="p0y11" fmla="*/ 439 h 480"/>
              <a:gd name="p0x12" fmla="*/ 0 w 480"/>
              <a:gd name="p0y12" fmla="*/ 390 h 480"/>
              <a:gd name="p0x13" fmla="*/ 0 w 480"/>
              <a:gd name="p0y13" fmla="*/ 90 h 480"/>
              <a:gd name="p0x14" fmla="*/ 0 w 480"/>
              <a:gd name="p0y14" fmla="*/ 40 h 480"/>
              <a:gd name="p0x15" fmla="*/ 40 w 480"/>
              <a:gd name="p0y15" fmla="*/ 0 h 480"/>
              <a:gd name="p0x16" fmla="*/ 90 w 480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bb7961c0-c317-11f1-abd7-da9661abbce5"/>
          <p:cNvPicPr/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-151" b="151"/>
          <a:stretch>
            <a:fillRect/>
          </a:stretch>
        </p:blipFill>
        <p:spPr>
          <a:xfrm>
            <a:off x="819150" y="1557020"/>
            <a:ext cx="209550" cy="20955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1152525" y="1562100"/>
            <a:ext cx="69882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chemeClr val="tx2"/>
                </a:solidFill>
                <a:cs typeface="+mn-lt"/>
              </a:rPr>
              <a:t>实用价值</a:t>
            </a:r>
            <a:endParaRPr sz="1050" b="1" spc="63">
              <a:solidFill>
                <a:schemeClr val="tx2"/>
              </a:solidFill>
              <a:cs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771525" y="1876425"/>
            <a:ext cx="512921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4A6E8E"/>
                </a:solidFill>
                <a:cs typeface="+mn-lt"/>
              </a:rPr>
              <a:t>AI 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帮助我们理解</a:t>
            </a:r>
            <a:r>
              <a:rPr lang="en-US" altLang="zh-CN" sz="1500">
                <a:solidFill>
                  <a:srgbClr val="4A6E8E"/>
                </a:solidFill>
                <a:cs typeface="+mn-lt"/>
              </a:rPr>
              <a:t>"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生命密码</a:t>
            </a:r>
            <a:r>
              <a:rPr lang="en-US" altLang="zh-CN" sz="1500">
                <a:solidFill>
                  <a:srgbClr val="4A6E8E"/>
                </a:solidFill>
                <a:cs typeface="+mn-lt"/>
              </a:rPr>
              <a:t>"</a:t>
            </a:r>
            <a:r>
              <a:rPr lang="zh-CN" altLang="en-US" sz="1500">
                <a:solidFill>
                  <a:srgbClr val="4A6E8E"/>
                </a:solidFill>
                <a:cs typeface="+mn-lt"/>
              </a:rPr>
              <a:t>，在</a:t>
            </a:r>
            <a:r>
              <a:rPr sz="1500" b="1">
                <a:solidFill>
                  <a:schemeClr val="tx2"/>
                </a:solidFill>
                <a:cs typeface="+mn-lt"/>
              </a:rPr>
              <a:t>现实世界无数变量</a:t>
            </a:r>
            <a:r>
              <a:rPr sz="1500">
                <a:solidFill>
                  <a:srgbClr val="4A6E8E"/>
                </a:solidFill>
                <a:cs typeface="+mn-lt"/>
              </a:rPr>
              <a:t>中发掘规律与联系。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6090920" y="1304925"/>
            <a:ext cx="9525" cy="1400175"/>
          </a:xfrm>
          <a:prstGeom prst="rect">
            <a:avLst/>
          </a:prstGeom>
          <a:solidFill>
            <a:schemeClr val="bg2">
              <a:lumMod val="53347"/>
              <a:lumOff val="4665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6290945" y="150939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90 w 480"/>
              <a:gd name="p0y0" fmla="*/ 0 h 480"/>
              <a:gd name="p0x1" fmla="*/ 390 w 480"/>
              <a:gd name="p0y1" fmla="*/ 0 h 480"/>
              <a:gd name="p0x2" fmla="*/ 439 w 480"/>
              <a:gd name="p0y2" fmla="*/ 0 h 480"/>
              <a:gd name="p0x3" fmla="*/ 480 w 480"/>
              <a:gd name="p0y3" fmla="*/ 40 h 480"/>
              <a:gd name="p0x4" fmla="*/ 480 w 480"/>
              <a:gd name="p0y4" fmla="*/ 90 h 480"/>
              <a:gd name="p0x5" fmla="*/ 480 w 480"/>
              <a:gd name="p0y5" fmla="*/ 390 h 480"/>
              <a:gd name="p0x6" fmla="*/ 480 w 480"/>
              <a:gd name="p0y6" fmla="*/ 439 h 480"/>
              <a:gd name="p0x7" fmla="*/ 439 w 480"/>
              <a:gd name="p0y7" fmla="*/ 480 h 480"/>
              <a:gd name="p0x8" fmla="*/ 390 w 480"/>
              <a:gd name="p0y8" fmla="*/ 480 h 480"/>
              <a:gd name="p0x9" fmla="*/ 90 w 480"/>
              <a:gd name="p0y9" fmla="*/ 480 h 480"/>
              <a:gd name="p0x10" fmla="*/ 40 w 480"/>
              <a:gd name="p0y10" fmla="*/ 480 h 480"/>
              <a:gd name="p0x11" fmla="*/ 0 w 480"/>
              <a:gd name="p0y11" fmla="*/ 439 h 480"/>
              <a:gd name="p0x12" fmla="*/ 0 w 480"/>
              <a:gd name="p0y12" fmla="*/ 390 h 480"/>
              <a:gd name="p0x13" fmla="*/ 0 w 480"/>
              <a:gd name="p0y13" fmla="*/ 90 h 480"/>
              <a:gd name="p0x14" fmla="*/ 0 w 480"/>
              <a:gd name="p0y14" fmla="*/ 40 h 480"/>
              <a:gd name="p0x15" fmla="*/ 40 w 480"/>
              <a:gd name="p0y15" fmla="*/ 0 h 480"/>
              <a:gd name="p0x16" fmla="*/ 90 w 480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B8F0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 descr="bb7962eb-c317-11f1-abd7-da9661abbce5"/>
          <p:cNvPicPr/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151" t="-151" r="151" b="151"/>
          <a:stretch>
            <a:fillRect/>
          </a:stretch>
        </p:blipFill>
        <p:spPr>
          <a:xfrm>
            <a:off x="6338570" y="1557020"/>
            <a:ext cx="209550" cy="20955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6672263" y="1562100"/>
            <a:ext cx="69882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chemeClr val="tx2"/>
                </a:solidFill>
                <a:cs typeface="+mn-lt"/>
              </a:rPr>
              <a:t>不可穷尽</a:t>
            </a:r>
            <a:endParaRPr sz="1050" b="1" spc="63">
              <a:solidFill>
                <a:schemeClr val="tx2"/>
              </a:solidFill>
              <a:cs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6291263" y="1876425"/>
            <a:ext cx="512921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E8E"/>
                </a:solidFill>
                <a:cs typeface="+mn-lt"/>
              </a:rPr>
              <a:t>生命密码是一套</a:t>
            </a:r>
            <a:r>
              <a:rPr sz="1500" b="1">
                <a:solidFill>
                  <a:schemeClr val="tx2"/>
                </a:solidFill>
                <a:cs typeface="+mn-lt"/>
              </a:rPr>
              <a:t>永远无法被彻底解开</a:t>
            </a:r>
            <a:r>
              <a:rPr sz="1500">
                <a:solidFill>
                  <a:srgbClr val="4A6E8E"/>
                </a:solidFill>
                <a:cs typeface="+mn-lt"/>
              </a:rPr>
              <a:t>的谜语，但其中的规律会被逐渐理清。</a:t>
            </a:r>
            <a:endParaRPr sz="1500">
              <a:solidFill>
                <a:srgbClr val="4A6E8E"/>
              </a:solidFill>
              <a:cs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16"/>
            </p:custDataLst>
          </p:nvPr>
        </p:nvSpPr>
        <p:spPr>
          <a:xfrm>
            <a:off x="575945" y="3138170"/>
            <a:ext cx="11039475" cy="3333750"/>
          </a:xfrm>
          <a:custGeom>
            <a:avLst/>
            <a:gdLst>
              <a:gd name="sw" fmla="*/ 1 w 17385"/>
              <a:gd name="sh" fmla="*/ 1 h 5249"/>
              <a:gd name="mins" fmla="min sw sh"/>
              <a:gd name="dsw" fmla="+- 0 sw mins"/>
              <a:gd name="dsh" fmla="+- 0 sh mins"/>
              <a:gd name="p0x0" fmla="*/ 180 w 17385"/>
              <a:gd name="p0y0" fmla="*/ 0 h 5249"/>
              <a:gd name="p0x1" fmla="*/ 17205 w 17385"/>
              <a:gd name="p0y1" fmla="*/ 0 h 5249"/>
              <a:gd name="p0x2" fmla="*/ 17304 w 17385"/>
              <a:gd name="p0y2" fmla="*/ 0 h 5249"/>
              <a:gd name="p0x3" fmla="*/ 17385 w 17385"/>
              <a:gd name="p0y3" fmla="*/ 80 h 5249"/>
              <a:gd name="p0x4" fmla="*/ 17385 w 17385"/>
              <a:gd name="p0y4" fmla="*/ 180 h 5249"/>
              <a:gd name="p0x5" fmla="*/ 17385 w 17385"/>
              <a:gd name="p0y5" fmla="*/ 5069 h 5249"/>
              <a:gd name="p0x6" fmla="*/ 17385 w 17385"/>
              <a:gd name="p0y6" fmla="*/ 5169 h 5249"/>
              <a:gd name="p0x7" fmla="*/ 17304 w 17385"/>
              <a:gd name="p0y7" fmla="*/ 5249 h 5249"/>
              <a:gd name="p0x8" fmla="*/ 17205 w 17385"/>
              <a:gd name="p0y8" fmla="*/ 5249 h 5249"/>
              <a:gd name="p0x9" fmla="*/ 180 w 17385"/>
              <a:gd name="p0y9" fmla="*/ 5249 h 5249"/>
              <a:gd name="p0x10" fmla="*/ 80 w 17385"/>
              <a:gd name="p0y10" fmla="*/ 5249 h 5249"/>
              <a:gd name="p0x11" fmla="*/ 0 w 17385"/>
              <a:gd name="p0y11" fmla="*/ 5169 h 5249"/>
              <a:gd name="p0x12" fmla="*/ 0 w 17385"/>
              <a:gd name="p0y12" fmla="*/ 5069 h 5249"/>
              <a:gd name="p0x13" fmla="*/ 0 w 17385"/>
              <a:gd name="p0y13" fmla="*/ 180 h 5249"/>
              <a:gd name="p0x14" fmla="*/ 0 w 17385"/>
              <a:gd name="p0y14" fmla="*/ 80 h 5249"/>
              <a:gd name="p0x15" fmla="*/ 80 w 17385"/>
              <a:gd name="p0y15" fmla="*/ 0 h 5249"/>
              <a:gd name="p0x16" fmla="*/ 180 w 17385"/>
              <a:gd name="p0y16" fmla="*/ 0 h 524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>
              <a:lumMod val="3306"/>
              <a:lumOff val="96694"/>
            </a:schemeClr>
          </a:solidFill>
          <a:ln w="9525" cmpd="sng">
            <a:solidFill>
              <a:schemeClr val="accent1">
                <a:lumMod val="23465"/>
                <a:lumOff val="76535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lumMod val="81544"/>
                <a:alpha val="588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7"/>
            </p:custDataLst>
          </p:nvPr>
        </p:nvSpPr>
        <p:spPr>
          <a:xfrm>
            <a:off x="771525" y="34480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90 w 660"/>
              <a:gd name="p0y0" fmla="*/ 0 h 660"/>
              <a:gd name="p0x1" fmla="*/ 570 w 660"/>
              <a:gd name="p0y1" fmla="*/ 0 h 660"/>
              <a:gd name="p0x2" fmla="*/ 619 w 660"/>
              <a:gd name="p0y2" fmla="*/ 0 h 660"/>
              <a:gd name="p0x3" fmla="*/ 660 w 660"/>
              <a:gd name="p0y3" fmla="*/ 40 h 660"/>
              <a:gd name="p0x4" fmla="*/ 660 w 660"/>
              <a:gd name="p0y4" fmla="*/ 90 h 660"/>
              <a:gd name="p0x5" fmla="*/ 660 w 660"/>
              <a:gd name="p0y5" fmla="*/ 570 h 660"/>
              <a:gd name="p0x6" fmla="*/ 660 w 660"/>
              <a:gd name="p0y6" fmla="*/ 619 h 660"/>
              <a:gd name="p0x7" fmla="*/ 619 w 660"/>
              <a:gd name="p0y7" fmla="*/ 660 h 660"/>
              <a:gd name="p0x8" fmla="*/ 570 w 660"/>
              <a:gd name="p0y8" fmla="*/ 660 h 660"/>
              <a:gd name="p0x9" fmla="*/ 90 w 660"/>
              <a:gd name="p0y9" fmla="*/ 660 h 660"/>
              <a:gd name="p0x10" fmla="*/ 40 w 660"/>
              <a:gd name="p0y10" fmla="*/ 660 h 660"/>
              <a:gd name="p0x11" fmla="*/ 0 w 660"/>
              <a:gd name="p0y11" fmla="*/ 619 h 660"/>
              <a:gd name="p0x12" fmla="*/ 0 w 660"/>
              <a:gd name="p0y12" fmla="*/ 570 h 660"/>
              <a:gd name="p0x13" fmla="*/ 0 w 660"/>
              <a:gd name="p0y13" fmla="*/ 90 h 660"/>
              <a:gd name="p0x14" fmla="*/ 0 w 660"/>
              <a:gd name="p0y14" fmla="*/ 40 h 660"/>
              <a:gd name="p0x15" fmla="*/ 40 w 660"/>
              <a:gd name="p0y15" fmla="*/ 0 h 660"/>
              <a:gd name="p0x16" fmla="*/ 9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8051"/>
              <a:lumOff val="8194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bb796442-c317-11f1-abd7-da9661abbce5"/>
          <p:cNvPicPr/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857250" y="3533775"/>
            <a:ext cx="247650" cy="24765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1"/>
            </p:custDataLst>
          </p:nvPr>
        </p:nvSpPr>
        <p:spPr>
          <a:xfrm>
            <a:off x="1343025" y="3355658"/>
            <a:ext cx="100774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D3E5E"/>
                </a:solidFill>
                <a:cs typeface="+mn-lt"/>
              </a:rPr>
              <a:t>生命密码不可穷尽</a:t>
            </a:r>
            <a:endParaRPr sz="2100" b="1" spc="42">
              <a:solidFill>
                <a:srgbClr val="1D3E5E"/>
              </a:solidFill>
              <a:cs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1343025" y="3743325"/>
            <a:ext cx="100774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spc="72">
                <a:solidFill>
                  <a:schemeClr val="tx2"/>
                </a:solidFill>
                <a:cs typeface="+mn-lt"/>
              </a:rPr>
              <a:t>多重未知</a:t>
            </a:r>
            <a:r>
              <a:rPr lang="en-US" altLang="zh-CN" sz="1200" spc="72">
                <a:solidFill>
                  <a:schemeClr val="tx2"/>
                </a:solidFill>
                <a:cs typeface="+mn-lt"/>
              </a:rPr>
              <a:t> · </a:t>
            </a:r>
            <a:r>
              <a:rPr lang="zh-CN" altLang="en-US" sz="1200" spc="72">
                <a:solidFill>
                  <a:schemeClr val="tx2"/>
                </a:solidFill>
                <a:cs typeface="+mn-lt"/>
              </a:rPr>
              <a:t>可能性的边界</a:t>
            </a:r>
            <a:endParaRPr lang="zh-CN" altLang="en-US" sz="1200" spc="72">
              <a:solidFill>
                <a:schemeClr val="tx2"/>
              </a:solidFill>
              <a:cs typeface="+mn-lt"/>
            </a:endParaRPr>
          </a:p>
        </p:txBody>
      </p:sp>
      <p:sp>
        <p:nvSpPr>
          <p:cNvPr id="26" name="矩形 25"/>
          <p:cNvSpPr/>
          <p:nvPr>
            <p:custDataLst>
              <p:tags r:id="rId23"/>
            </p:custDataLst>
          </p:nvPr>
        </p:nvSpPr>
        <p:spPr>
          <a:xfrm>
            <a:off x="771525" y="4095750"/>
            <a:ext cx="10648950" cy="9525"/>
          </a:xfrm>
          <a:prstGeom prst="rect">
            <a:avLst/>
          </a:prstGeom>
          <a:solidFill>
            <a:srgbClr val="9FBE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4"/>
            </p:custDataLst>
          </p:nvPr>
        </p:nvSpPr>
        <p:spPr>
          <a:xfrm>
            <a:off x="771525" y="483806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5"/>
            </p:custDataLst>
          </p:nvPr>
        </p:nvSpPr>
        <p:spPr>
          <a:xfrm>
            <a:off x="923925" y="4738611"/>
            <a:ext cx="497681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/>
                </a:solidFill>
                <a:cs typeface="+mn-lt"/>
              </a:rPr>
              <a:t>基于生命基本结构</a:t>
            </a:r>
            <a:r>
              <a:rPr lang="zh-CN" altLang="en-US" sz="1500">
                <a:solidFill>
                  <a:schemeClr val="tx2"/>
                </a:solidFill>
                <a:cs typeface="+mn-lt"/>
              </a:rPr>
              <a:t>的组合在</a:t>
            </a:r>
            <a:r>
              <a:rPr sz="1500">
                <a:solidFill>
                  <a:schemeClr val="tx2"/>
                </a:solidFill>
                <a:cs typeface="+mn-lt"/>
              </a:rPr>
              <a:t>微观层面</a:t>
            </a:r>
            <a:r>
              <a:rPr lang="zh-CN" altLang="en-US" sz="1500">
                <a:solidFill>
                  <a:schemeClr val="tx2"/>
                </a:solidFill>
                <a:cs typeface="+mn-lt"/>
              </a:rPr>
              <a:t>庞大的</a:t>
            </a:r>
            <a:r>
              <a:rPr sz="1500">
                <a:solidFill>
                  <a:schemeClr val="tx2"/>
                </a:solidFill>
                <a:cs typeface="+mn-lt"/>
              </a:rPr>
              <a:t>基数</a:t>
            </a:r>
            <a:endParaRPr sz="1500">
              <a:solidFill>
                <a:schemeClr val="tx2"/>
              </a:solidFill>
              <a:cs typeface="+mn-lt"/>
            </a:endParaRPr>
          </a:p>
        </p:txBody>
      </p:sp>
      <p:sp>
        <p:nvSpPr>
          <p:cNvPr id="29" name="任意多边形 28"/>
          <p:cNvSpPr/>
          <p:nvPr>
            <p:custDataLst>
              <p:tags r:id="rId26"/>
            </p:custDataLst>
          </p:nvPr>
        </p:nvSpPr>
        <p:spPr>
          <a:xfrm>
            <a:off x="771525" y="525716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7"/>
            </p:custDataLst>
          </p:nvPr>
        </p:nvSpPr>
        <p:spPr>
          <a:xfrm>
            <a:off x="923925" y="5157711"/>
            <a:ext cx="497681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chemeClr val="tx2"/>
                </a:solidFill>
                <a:cs typeface="+mn-lt"/>
              </a:rPr>
              <a:t>以及其</a:t>
            </a:r>
            <a:r>
              <a:rPr sz="1500">
                <a:solidFill>
                  <a:schemeClr val="tx2"/>
                </a:solidFill>
                <a:cs typeface="+mn-lt"/>
              </a:rPr>
              <a:t>复杂组织形式与作用关系中，任意一点</a:t>
            </a:r>
            <a:r>
              <a:rPr sz="1500" b="1">
                <a:solidFill>
                  <a:schemeClr val="tx2"/>
                </a:solidFill>
                <a:cs typeface="+mn-lt"/>
              </a:rPr>
              <a:t>微小变化</a:t>
            </a:r>
            <a:r>
              <a:rPr sz="1500">
                <a:solidFill>
                  <a:schemeClr val="tx2"/>
                </a:solidFill>
                <a:cs typeface="+mn-lt"/>
              </a:rPr>
              <a:t>都可能带来很大不同和不确定性。</a:t>
            </a:r>
            <a:endParaRPr sz="1500">
              <a:solidFill>
                <a:schemeClr val="tx2"/>
              </a:solidFill>
              <a:cs typeface="+mn-lt"/>
            </a:endParaRPr>
          </a:p>
        </p:txBody>
      </p:sp>
      <p:sp>
        <p:nvSpPr>
          <p:cNvPr id="31" name="矩形 30"/>
          <p:cNvSpPr/>
          <p:nvPr>
            <p:custDataLst>
              <p:tags r:id="rId28"/>
            </p:custDataLst>
          </p:nvPr>
        </p:nvSpPr>
        <p:spPr>
          <a:xfrm>
            <a:off x="6090920" y="4257675"/>
            <a:ext cx="9525" cy="2018665"/>
          </a:xfrm>
          <a:prstGeom prst="rect">
            <a:avLst/>
          </a:prstGeom>
          <a:solidFill>
            <a:schemeClr val="bg2">
              <a:lumMod val="53347"/>
              <a:lumOff val="4665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29"/>
            </p:custDataLst>
          </p:nvPr>
        </p:nvSpPr>
        <p:spPr>
          <a:xfrm>
            <a:off x="6290945" y="468566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0"/>
            </p:custDataLst>
          </p:nvPr>
        </p:nvSpPr>
        <p:spPr>
          <a:xfrm>
            <a:off x="6443663" y="4586211"/>
            <a:ext cx="497681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chemeClr val="tx2"/>
                </a:solidFill>
                <a:cs typeface="+mn-lt"/>
              </a:rPr>
              <a:t>甚至于过去、未来、本该出现的、可能出现的，各种未发生的可能性以及</a:t>
            </a:r>
            <a:r>
              <a:rPr sz="1500">
                <a:solidFill>
                  <a:schemeClr val="tx2"/>
                </a:solidFill>
                <a:cs typeface="+mn-lt"/>
              </a:rPr>
              <a:t>未能收录到数据库</a:t>
            </a:r>
            <a:r>
              <a:rPr lang="zh-CN" altLang="en-US" sz="1500">
                <a:solidFill>
                  <a:schemeClr val="tx2"/>
                </a:solidFill>
                <a:cs typeface="+mn-lt"/>
              </a:rPr>
              <a:t>中</a:t>
            </a:r>
            <a:r>
              <a:rPr lang="zh-CN" sz="1500">
                <a:solidFill>
                  <a:schemeClr val="tx2"/>
                </a:solidFill>
                <a:cs typeface="+mn-lt"/>
              </a:rPr>
              <a:t>供</a:t>
            </a:r>
            <a:r>
              <a:rPr lang="en-US" altLang="zh-CN" sz="1500">
                <a:solidFill>
                  <a:schemeClr val="tx2"/>
                </a:solidFill>
                <a:cs typeface="+mn-lt"/>
              </a:rPr>
              <a:t> AI </a:t>
            </a:r>
            <a:r>
              <a:rPr lang="zh-CN" altLang="en-US" sz="1500">
                <a:solidFill>
                  <a:schemeClr val="tx2"/>
                </a:solidFill>
                <a:cs typeface="+mn-lt"/>
              </a:rPr>
              <a:t>理解的生命视角。</a:t>
            </a:r>
            <a:endParaRPr lang="zh-CN" altLang="en-US" sz="1500">
              <a:solidFill>
                <a:schemeClr val="tx2"/>
              </a:solidFill>
              <a:cs typeface="+mn-lt"/>
            </a:endParaRPr>
          </a:p>
        </p:txBody>
      </p:sp>
      <p:sp>
        <p:nvSpPr>
          <p:cNvPr id="34" name="任意多边形 33"/>
          <p:cNvSpPr/>
          <p:nvPr>
            <p:custDataLst>
              <p:tags r:id="rId31"/>
            </p:custDataLst>
          </p:nvPr>
        </p:nvSpPr>
        <p:spPr>
          <a:xfrm>
            <a:off x="6290945" y="540956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2"/>
            </p:custDataLst>
          </p:nvPr>
        </p:nvSpPr>
        <p:spPr>
          <a:xfrm>
            <a:off x="6443663" y="5310111"/>
            <a:ext cx="497681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chemeClr val="tx2"/>
                </a:solidFill>
                <a:cs typeface="+mn-lt"/>
              </a:rPr>
              <a:t>生命一直在与环境的作用中变化，我们现在虽</a:t>
            </a:r>
            <a:r>
              <a:rPr sz="1500">
                <a:solidFill>
                  <a:schemeClr val="tx2"/>
                </a:solidFill>
                <a:cs typeface="+mn-lt"/>
              </a:rPr>
              <a:t>不能像生产精密机械一样逐零件搭建生命，但已有各种有效手段</a:t>
            </a:r>
            <a:r>
              <a:rPr sz="1500" b="1">
                <a:solidFill>
                  <a:schemeClr val="tx2"/>
                </a:solidFill>
                <a:cs typeface="+mn-lt"/>
              </a:rPr>
              <a:t>改写生命剧本</a:t>
            </a:r>
            <a:r>
              <a:rPr sz="1500">
                <a:solidFill>
                  <a:schemeClr val="tx2"/>
                </a:solidFill>
                <a:cs typeface="+mn-lt"/>
              </a:rPr>
              <a:t>，构建我们的生命蓝图。</a:t>
            </a:r>
            <a:endParaRPr sz="1500">
              <a:solidFill>
                <a:schemeClr val="tx2"/>
              </a:solidFill>
              <a:cs typeface="+mn-lt"/>
            </a:endParaRPr>
          </a:p>
        </p:txBody>
      </p:sp>
      <p:sp>
        <p:nvSpPr>
          <p:cNvPr id="19" name="任意多边形 18"/>
          <p:cNvSpPr/>
          <p:nvPr>
            <p:custDataLst>
              <p:tags r:id="rId33"/>
            </p:custDataLst>
          </p:nvPr>
        </p:nvSpPr>
        <p:spPr>
          <a:xfrm>
            <a:off x="610138" y="3143250"/>
            <a:ext cx="10971724" cy="381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278" h="60">
                <a:moveTo>
                  <a:pt x="134" y="0"/>
                </a:moveTo>
                <a:lnTo>
                  <a:pt x="17144" y="0"/>
                </a:lnTo>
                <a:cubicBezTo>
                  <a:pt x="17197" y="0"/>
                  <a:pt x="17245" y="23"/>
                  <a:pt x="17278" y="60"/>
                </a:cubicBezTo>
                <a:lnTo>
                  <a:pt x="0" y="60"/>
                </a:lnTo>
                <a:cubicBezTo>
                  <a:pt x="33" y="23"/>
                  <a:pt x="81" y="0"/>
                  <a:pt x="13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1621631"/>
            <a:ext cx="480117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1B7FCE"/>
                </a:solidFill>
                <a:latin typeface="MiSans Demibold" panose="00000700000000000000" charset="-122"/>
                <a:ea typeface="MiSans Demibold" panose="00000700000000000000" charset="-122"/>
              </a:rPr>
              <a:t>结语</a:t>
            </a:r>
            <a:endParaRPr sz="1050" b="1" spc="315">
              <a:solidFill>
                <a:srgbClr val="1B7FCE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2108359"/>
            <a:ext cx="5705475" cy="13982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预测准确</a:t>
            </a:r>
            <a:r>
              <a:rPr sz="4200" b="1">
                <a:solidFill>
                  <a:srgbClr val="1B7FCE"/>
                </a:solidFill>
                <a:latin typeface="MiSans Demibold" panose="00000700000000000000" charset="-122"/>
                <a:ea typeface="MiSans Demibold" panose="00000700000000000000" charset="-122"/>
              </a:rPr>
              <a:t>不等</a:t>
            </a:r>
            <a:endParaRPr sz="4200" b="1">
              <a:solidFill>
                <a:srgbClr val="1B7FCE"/>
              </a:solidFill>
              <a:latin typeface="MiSans Demibold" panose="00000700000000000000" charset="-122"/>
              <a:ea typeface="MiSans Demibold" panose="00000700000000000000" charset="-122"/>
            </a:endParaRPr>
          </a:p>
          <a:p>
            <a:pPr algn="l">
              <a:lnSpc>
                <a:spcPct val="104000"/>
              </a:lnSpc>
            </a:pPr>
            <a:r>
              <a:rPr sz="4200" b="1">
                <a:solidFill>
                  <a:srgbClr val="1B7FCE"/>
                </a:solidFill>
                <a:latin typeface="MiSans Demibold" panose="00000700000000000000" charset="-122"/>
                <a:ea typeface="MiSans Demibold" panose="00000700000000000000" charset="-122"/>
              </a:rPr>
              <a:t>于</a:t>
            </a:r>
            <a:r>
              <a:rPr sz="4200" b="1">
                <a:solidFill>
                  <a:srgbClr val="1D3E5E"/>
                </a:solidFill>
                <a:latin typeface="+mj-lt"/>
                <a:ea typeface="+mj-ea"/>
                <a:cs typeface="+mj-lt"/>
              </a:rPr>
              <a:t>真正理解</a:t>
            </a:r>
            <a:endParaRPr sz="4200" b="1">
              <a:solidFill>
                <a:srgbClr val="1D3E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666750" y="3740785"/>
            <a:ext cx="1143000" cy="9525"/>
          </a:xfrm>
          <a:prstGeom prst="rect">
            <a:avLst/>
          </a:prstGeom>
          <a:solidFill>
            <a:schemeClr val="accent1">
              <a:lumMod val="38990"/>
              <a:lumOff val="6101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66750" y="4002881"/>
            <a:ext cx="5705475" cy="1243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6E8E"/>
                </a:solidFill>
                <a:cs typeface="+mn-lt"/>
              </a:rPr>
              <a:t>预测回答“结果是什么”，理解还要回答“为什么、</a:t>
            </a:r>
            <a:endParaRPr sz="1500" spc="30">
              <a:solidFill>
                <a:srgbClr val="4A6E8E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6E8E"/>
                </a:solidFill>
                <a:cs typeface="+mn-lt"/>
              </a:rPr>
              <a:t>改变后会怎样、换个环境还成立吗”。</a:t>
            </a:r>
            <a:endParaRPr sz="1500" spc="30">
              <a:solidFill>
                <a:srgbClr val="4A6E8E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6E8E"/>
                </a:solidFill>
                <a:cs typeface="+mn-lt"/>
              </a:rPr>
              <a:t>生命密码是一套永远无法被彻底解开的谜语，</a:t>
            </a:r>
            <a:endParaRPr sz="1500" spc="30">
              <a:solidFill>
                <a:srgbClr val="4A6E8E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6E8E"/>
                </a:solidFill>
                <a:cs typeface="+mn-lt"/>
              </a:rPr>
              <a:t>但其中的规律与重要部分，会被我们逐渐理清</a:t>
            </a:r>
            <a:r>
              <a:rPr lang="zh-CN" altLang="en-US" sz="1500" spc="30">
                <a:solidFill>
                  <a:srgbClr val="4A6E8E"/>
                </a:solidFill>
                <a:cs typeface="+mn-lt"/>
              </a:rPr>
              <a:t>，我们无法理解和预见全部，但我们亦有自己的蓝图。</a:t>
            </a:r>
            <a:endParaRPr sz="1500" spc="30">
              <a:solidFill>
                <a:srgbClr val="4A6E8E"/>
              </a:solidFill>
              <a:cs typeface="+mn-lt"/>
            </a:endParaRPr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 rot="2700000">
            <a:off x="666115" y="1685925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251585" y="170497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 descr="7b0a2020202022776f7264617274223a2022220a7d0a"/>
          <p:cNvSpPr/>
          <p:nvPr>
            <p:custDataLst>
              <p:tags r:id="rId1"/>
            </p:custDataLst>
          </p:nvPr>
        </p:nvSpPr>
        <p:spPr>
          <a:xfrm>
            <a:off x="367030" y="864235"/>
            <a:ext cx="3947795" cy="5645785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  <a:scene3d>
              <a:camera prst="obliqueBottomRight">
                <a:rot lat="0" lon="0" rev="0"/>
              </a:camera>
              <a:lightRig rig="threePt" dir="t"/>
            </a:scene3d>
          </a:bodyPr>
          <a:p>
            <a:pPr algn="ctr"/>
            <a:r>
              <a:rPr lang="zh-CN" altLang="en-US" sz="16000" b="1">
                <a:ln w="53975">
                  <a:solidFill>
                    <a:schemeClr val="bg1"/>
                  </a:solidFill>
                </a:ln>
                <a:gradFill>
                  <a:gsLst>
                    <a:gs pos="0">
                      <a:srgbClr val="599CFF"/>
                    </a:gs>
                    <a:gs pos="69000">
                      <a:srgbClr val="235CFF"/>
                    </a:gs>
                  </a:gsLst>
                </a:gradFill>
                <a:effectLst>
                  <a:outerShdw dist="76200" dir="5400000" algn="t" rotWithShape="0">
                    <a:srgbClr val="C3CFFF"/>
                  </a:outerShdw>
                </a:effectLst>
                <a:latin typeface="汉仪锐智简" panose="00020600040101010101" charset="-122"/>
                <a:ea typeface="汉仪锐智简" panose="00020600040101010101" charset="-122"/>
              </a:rPr>
              <a:t>讨</a:t>
            </a:r>
            <a:endParaRPr lang="zh-CN" altLang="en-US" sz="16000" b="1">
              <a:ln w="53975">
                <a:solidFill>
                  <a:schemeClr val="bg1"/>
                </a:solidFill>
              </a:ln>
              <a:gradFill>
                <a:gsLst>
                  <a:gs pos="0">
                    <a:srgbClr val="599CFF"/>
                  </a:gs>
                  <a:gs pos="69000">
                    <a:srgbClr val="235CFF"/>
                  </a:gs>
                </a:gsLst>
              </a:gradFill>
              <a:effectLst>
                <a:outerShdw dist="76200" dir="5400000" algn="t" rotWithShape="0">
                  <a:srgbClr val="C3CFFF"/>
                </a:outerShdw>
              </a:effectLst>
              <a:latin typeface="汉仪锐智简" panose="00020600040101010101" charset="-122"/>
              <a:ea typeface="汉仪锐智简" panose="00020600040101010101" charset="-122"/>
            </a:endParaRPr>
          </a:p>
          <a:p>
            <a:pPr algn="ctr"/>
            <a:r>
              <a:rPr lang="zh-CN" altLang="en-US" sz="16000" b="1">
                <a:ln w="53975">
                  <a:solidFill>
                    <a:schemeClr val="bg1"/>
                  </a:solidFill>
                </a:ln>
                <a:gradFill>
                  <a:gsLst>
                    <a:gs pos="0">
                      <a:srgbClr val="599CFF"/>
                    </a:gs>
                    <a:gs pos="69000">
                      <a:srgbClr val="235CFF"/>
                    </a:gs>
                  </a:gsLst>
                </a:gradFill>
                <a:effectLst>
                  <a:outerShdw dist="76200" dir="5400000" algn="t" rotWithShape="0">
                    <a:srgbClr val="C3CFFF"/>
                  </a:outerShdw>
                </a:effectLst>
                <a:latin typeface="汉仪锐智简" panose="00020600040101010101" charset="-122"/>
                <a:ea typeface="汉仪锐智简" panose="00020600040101010101" charset="-122"/>
              </a:rPr>
              <a:t>论</a:t>
            </a:r>
            <a:endParaRPr lang="zh-CN" altLang="en-US" sz="16000" b="1">
              <a:ln w="53975">
                <a:solidFill>
                  <a:schemeClr val="bg1"/>
                </a:solidFill>
              </a:ln>
              <a:gradFill>
                <a:gsLst>
                  <a:gs pos="0">
                    <a:srgbClr val="599CFF"/>
                  </a:gs>
                  <a:gs pos="69000">
                    <a:srgbClr val="235CFF"/>
                  </a:gs>
                </a:gsLst>
              </a:gradFill>
              <a:effectLst>
                <a:outerShdw dist="76200" dir="5400000" algn="t" rotWithShape="0">
                  <a:srgbClr val="C3CFFF"/>
                </a:outerShdw>
              </a:effectLst>
              <a:latin typeface="汉仪锐智简" panose="00020600040101010101" charset="-122"/>
              <a:ea typeface="汉仪锐智简" panose="00020600040101010101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 descr="7b0a2020202022776f7264617274223a2022220a7d0a"/>
          <p:cNvSpPr/>
          <p:nvPr>
            <p:custDataLst>
              <p:tags r:id="rId1"/>
            </p:custDataLst>
          </p:nvPr>
        </p:nvSpPr>
        <p:spPr>
          <a:xfrm>
            <a:off x="2265680" y="2317433"/>
            <a:ext cx="7660640" cy="2223135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prstTxWarp prst="textDeflate">
              <a:avLst>
                <a:gd name="adj" fmla="val 17209"/>
              </a:avLst>
            </a:prstTxWarp>
            <a:normAutofit/>
            <a:scene3d>
              <a:camera prst="perspectiveAbove"/>
              <a:lightRig rig="flat" dir="t"/>
            </a:scene3d>
            <a:sp3d extrusionH="381000" prstMaterial="plastic">
              <a:extrusionClr>
                <a:srgbClr val="2D41D7"/>
              </a:extrusionClr>
              <a:contourClr>
                <a:schemeClr val="bg1"/>
              </a:contourClr>
            </a:sp3d>
          </a:bodyPr>
          <a:p>
            <a:pPr algn="ctr"/>
            <a:r>
              <a:rPr lang="zh-CN" altLang="en-US" sz="10200" b="1">
                <a:ln w="38100" cap="rnd">
                  <a:solidFill>
                    <a:srgbClr val="4B5CDD"/>
                  </a:solidFill>
                  <a:round/>
                </a:ln>
                <a:solidFill>
                  <a:schemeClr val="bg1"/>
                </a:solidFill>
                <a:effectLst>
                  <a:glow rad="50800">
                    <a:srgbClr val="4B5CDD"/>
                  </a:glow>
                  <a:outerShdw dist="76200" dir="5400000" algn="t" rotWithShape="0">
                    <a:srgbClr val="293ED7"/>
                  </a:outerShdw>
                </a:effectLst>
                <a:latin typeface="汉仪铸字美心体简" panose="00020600040101010101" charset="-122"/>
                <a:ea typeface="汉仪铸字美心体简" panose="00020600040101010101" charset="-122"/>
              </a:rPr>
              <a:t>谢谢</a:t>
            </a:r>
            <a:endParaRPr lang="zh-CN" altLang="en-US" sz="10200" b="1">
              <a:ln w="38100" cap="rnd">
                <a:solidFill>
                  <a:srgbClr val="4B5CDD"/>
                </a:solidFill>
                <a:round/>
              </a:ln>
              <a:solidFill>
                <a:schemeClr val="bg1"/>
              </a:solidFill>
              <a:effectLst>
                <a:glow rad="50800">
                  <a:srgbClr val="4B5CDD"/>
                </a:glow>
                <a:outerShdw dist="76200" dir="5400000" algn="t" rotWithShape="0">
                  <a:srgbClr val="293ED7"/>
                </a:outerShdw>
              </a:effectLst>
              <a:latin typeface="汉仪铸字美心体简" panose="00020600040101010101" charset="-122"/>
              <a:ea typeface="汉仪铸字美心体简" panose="0002060004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EMPLATE_SUBCATEGORY" val="31"/>
  <p:tag name="KSO_WM_BEAUTIFY_FLAG" val="#wm#"/>
  <p:tag name="KSO_WM_TAG_VERSION" val="3.0"/>
</p:tagLst>
</file>

<file path=ppt/tags/tag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8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4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7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7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8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83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8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DOCER_RESOURCE_TRACE_INFO" val="{&quot;id&quot;:&quot;25001426&quot;,&quot;origin&quot;:0,&quot;type&quot;:&quot;wordart&quot;,&quot;user&quot;:&quot;1720647757&quot;}"/>
</p:tagLst>
</file>

<file path=ppt/tags/tag509.xml><?xml version="1.0" encoding="utf-8"?>
<p:tagLst xmlns:p="http://schemas.openxmlformats.org/presentationml/2006/main">
  <p:tag name="KSO_DOCER_RESOURCE_TRACE_INFO" val="{&quot;id&quot;:&quot;20228065&quot;,&quot;origin&quot;:0,&quot;type&quot;:&quot;wordart&quot;,&quot;user&quot;:&quot;1720647757&quot;}"/>
</p:tagLst>
</file>

<file path=ppt/tags/tag510.xml><?xml version="1.0" encoding="utf-8"?>
<p:tagLst xmlns:p="http://schemas.openxmlformats.org/presentationml/2006/main">
  <p:tag name="resource_record_key" val="{&quot;12&quot;:[25125218,20228065,25001426]}"/>
</p:tagLst>
</file>

<file path=ppt/theme/theme1.xml><?xml version="1.0" encoding="utf-8"?>
<a:theme xmlns:a="http://schemas.openxmlformats.org/drawingml/2006/main" name="1_WPS">
  <a:themeElements>
    <a:clrScheme name="">
      <a:dk1>
        <a:srgbClr val="FFFFFF"/>
      </a:dk1>
      <a:lt1>
        <a:srgbClr val="FFFFFF"/>
      </a:lt1>
      <a:dk2>
        <a:srgbClr val="1D3E5E"/>
      </a:dk2>
      <a:lt2>
        <a:srgbClr val="F0F7FF"/>
      </a:lt2>
      <a:accent1>
        <a:srgbClr val="1B7FCE"/>
      </a:accent1>
      <a:accent2>
        <a:srgbClr val="00B8B0"/>
      </a:accent2>
      <a:accent3>
        <a:srgbClr val="4A6FA5"/>
      </a:accent3>
      <a:accent4>
        <a:srgbClr val="00A3A0"/>
      </a:accent4>
      <a:accent5>
        <a:srgbClr val="2E86DE"/>
      </a:accent5>
      <a:accent6>
        <a:srgbClr val="5BC8C2"/>
      </a:accent6>
      <a:hlink>
        <a:srgbClr val="FFFFFF"/>
      </a:hlink>
      <a:folHlink>
        <a:srgbClr val="FFFFFF"/>
      </a:folHlink>
    </a:clrScheme>
    <a:fontScheme name="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5212</Words>
  <Application>WPS 演示</Application>
  <PresentationFormat>宽屏</PresentationFormat>
  <Paragraphs>504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Arial</vt:lpstr>
      <vt:lpstr>宋体</vt:lpstr>
      <vt:lpstr>Wingdings</vt:lpstr>
      <vt:lpstr>MiSans Demibold</vt:lpstr>
      <vt:lpstr>MiSans Normal</vt:lpstr>
      <vt:lpstr>MiSans</vt:lpstr>
      <vt:lpstr>微软雅黑</vt:lpstr>
      <vt:lpstr>Arial Unicode MS</vt:lpstr>
      <vt:lpstr>汉仪锐智简</vt:lpstr>
      <vt:lpstr>汉仪铸字美心体简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Victor</cp:lastModifiedBy>
  <cp:revision>5</cp:revision>
  <dcterms:created xsi:type="dcterms:W3CDTF">2026-10-08T13:53:00Z</dcterms:created>
  <dcterms:modified xsi:type="dcterms:W3CDTF">2026-10-08T15:23:43Z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D731936018C7E96C4D93C76A55B41F07_41</vt:lpwstr>
  </property>
  <property fmtid="{D5CDD505-2E9C-101B-9397-08002B2CF9AE}" pid="4" name="intentionCode">
    <vt:lpwstr>wps_wpp_generate_html_ppt_outline</vt:lpwstr>
  </property>
  <property fmtid="{D5CDD505-2E9C-101B-9397-08002B2CF9AE}" pid="5" name="KSOAIPPTCode">
    <vt:lpwstr>DPhfGA1s5j24Zku99MjX+KKEmG9dpzcwojKBBju9QutdlSAuh9DRlU3wIjqvZxFERNqaQCms1vE/vTcitA8n74+Wm8FOz5Xco26DAO9icrpmhbRsswicbGElnKxJwxPLrfKLC/G6itB/mkQ8GyovVkIQsJ1gRcpGbuubGxHzMobPSGQf0AgMVIuRzhRsCPnIdMsAyum1KjPV1e11LTG/WuCuw4IUw7g6zi7Ix/MPAPO4zDWlaNaahKQY7lTbQAAUTrBi9McW2DLv51HkUj7Hr2moZu+fDG95hrjaiCZFV5bTEoyIvFUg1GRufqEnY6hmWwxX7FILzeeGkhQtFL0o0Q==</vt:lpwstr>
  </property>
  <property fmtid="{D5CDD505-2E9C-101B-9397-08002B2CF9AE}" pid="6" name="KSOTemplateUUID">
    <vt:lpwstr>v1.0_ai_6252132904043725969</vt:lpwstr>
  </property>
</Properties>
</file>